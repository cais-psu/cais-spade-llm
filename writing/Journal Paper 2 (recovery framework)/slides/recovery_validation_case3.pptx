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explains every validation stage the product agent (PA) applies while synthesizing a recovery outline with an LLM, states each stage in DES terms, and then walks one real Case 3 run (2026-07-14) through the pipeline. All stage names, constraint codes, events, and states are quoted exactly as they appear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framing for the paper: LLM generation is necessary because the recovery alphabet is incomplete (the nominal FSA has no continuation from a failure state), but authority is split. Validation and selection authority stay with the symbolic components. The checked-in Case 3 configuration runs recovery_selection_mode=neurosymbolic with action_horizon=1 and candidate_proposal_budget=5; pure_llm remains available as the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Notation matches specification/safety/online_supervisor_design.md and docs/architecture.md. The plan FSA JSON stores A under key 'A' with fields X, E, Tr, x0, Xm. During recovery the same formal machinery is reused: RA descriptors supply G_r, the CCA supplies the safety DFAs, and the PA composes them for selection. Continuous pose/workspace evidence is deliberately kept outside the finite DES state and handled by the RA physical validator (slide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authority table from docs/architecture.md, section 'Recovery validation authority'. Steps 3-6 are the four canonical validation stages, named by the constants in recovery_validation_service.py. Steps run in order per candidate and fail closed; a candidate that fails an earlier stage records the later stages as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precheck keeps LLM formatting failures and repeats out of the expensive staged validation. Durable pruning matters for convergence of the multi-turn loop: physically refuted actions (e.g. the unreachable xarm6 pickup in Case 3) stay refuted across turns as long as the state fingerprint still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constant: syntax_and_grounding_validation (recovery_validation_service.py). This stage is purely symbolic: no reachability or physics yet. It guarantees that later stages reason over well-formed events. The full code set is _SYNTAX_AND_GROUNDING_CODES (19 codes).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constant: transition_feasibility. Internal stage tokens event_enabledness, plant_enabledness, and supervisor_admissibility all map into this bucket via validation_category_for_finding(). The projected state is the PA's composition of task statuses, the part tracker, and prior accepted recovery events — this is what makes the multi-turn outline consistent: each accepted event advances the projection the next candidate is checked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constant: physical_feasibility; internal token resource_realizability maps here. The separation is deliberate: the finite DES model stays small and analyzable while continuous kinematics are checked by the owner of the hardware model. The RA reply carries snapshot + snapshot fingerprint + G_r descriptor + descriptor fingerprint, which the PA later uses for model-based selection (slide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constant: safety; failure code safety_rule_violation. The LTLf strings and APs are quoted from cais_spade_llm/safety/cca_safety_logic.json. ap003/ap004 are the LG/MCP place_approach events at assembly_board-v1; SAFE_2's six APs are the ur5e and xarm6 entry-event and positioned/placed state APs at the board. Images: SAFE_1_dfa.png and the archived SAFE_2_dfa.png from cais_spade_llm/safety/.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neurosymbolic core: dominance over open obligations and admissible enabled events, evaluated on the supervised plant S/G. In the Case 3 run the selection evidence records open_recovery_obligation_ids_before/after and admissible_recovery_enabled_event_ids_before per candidate (slide 13). Selection statuses observed in the run: excluded_invalid, excluded_no_progress, nondominated.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authorities (PA, RA, CCA) each own one model and one veto. No stage result is transferable: physical validity comes only from the exact resource_jid named in the candidate, safety only from the live CCA. This is the architectural argument that an LLM hallucination cannot reach the plant: it would need to pass four validations plus runtime gating, each of which fails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from test/fixtures/case3_recovery/runtime_context.json: task REQ_2_T4 failed; LG state misplaced with no known location; MCP in_gripper on ur5e; xarm6 failed with occupancy assembly_board-v1. The drop pose injected by initialization/failure_scenarios/lg_slippage.json is (x=0.0, y=0.2, z=1.035), which is outside xarm6's reachable workspace — that fact drives the whole recovery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source: monitor/debug/recovery_outline/multi_turn_turn04_outline_result_20260714T231936.json (recovery_selection_mode=neurosymbolic, action_horizon=1, decision=need_next_task). Candidate 0 shows the RA's authority: xarm6's physical validator rejected its own pickup because the dropped pose y=0.20 exceeds its workspace bound y_max_m=0.10. Candidate 1 is formally valid but dominated: it neither clears an obligation nor enables new admissible recovery events. Candidate 2 (stage MCP at prusa-mk3) frees the ur5e gripper, so it is the unique nondominated candidate and gets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source: monitor/debug/recovery_outline/multi_turn_turn08_final_output_response_20260714T232035.txt (decision=final_output_ready, accepted_trace_length=4). After the recovery outline completes, the nominal plan resumes: ur5e re-picks MCP from prusa-mk3 and finishes the original REQ_1 insertion — consistent with SAFE_1, since LG is now 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recap. Emphasize the division of authority and the fail-closed default: the four validation buckets are exactly the constants in recovery_validation_service.py, and Case 3 showed each authority exercising a real veto (RA: workspace_unreachable; PA selection: excluded_no_progress; CCA: SAFE_2-aware ordering).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D4ED8"/>
                </a:solidFill>
                <a:latin typeface="Calibri"/>
              </a:rPr>
              <a:t>Recovery-Outline Synthesis Validation in the Product Agent</a:t>
            </a:r>
          </a:p>
          <a:p>
            <a:r>
              <a:rPr sz="2200" b="0">
                <a:solidFill>
                  <a:srgbClr val="1F2937"/>
                </a:solidFill>
                <a:latin typeface="Calibri"/>
              </a:rPr>
              <a:t>A discrete-event-system (DES) formal view, with a Case 3 walk-through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CAIS-SPADE-LLM — multi-agent manufacturing automation</a:t>
            </a:r>
          </a:p>
          <a:p>
            <a:r>
              <a:rPr sz="1600" b="0">
                <a:solidFill>
                  <a:srgbClr val="6B7280"/>
                </a:solidFill>
                <a:latin typeface="Calibri"/>
              </a:rPr>
              <a:t>PA = product agent · RA = resource agent · CCA = central controller agent</a:t>
            </a:r>
          </a:p>
          <a:p>
            <a:r>
              <a:rPr sz="1600" b="0">
                <a:solidFill>
                  <a:srgbClr val="6B7280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Why LLM generation plus formal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runtime failure leaves the plant in a state outside the nominal plan FSA — the recovery event alphabet is *incomplete*, so candidate recovery events must be generated.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The LLM therefore has </a:t>
            </a:r>
            <a:r>
              <a:rPr sz="1700" b="0">
                <a:solidFill>
                  <a:srgbClr val="0F766E"/>
                </a:solidFill>
                <a:latin typeface="Consolas"/>
              </a:rPr>
              <a:t>generation</a:t>
            </a:r>
            <a:r>
              <a:rPr sz="1700" b="0">
                <a:solidFill>
                  <a:srgbClr val="1F2937"/>
                </a:solidFill>
                <a:latin typeface="Calibri"/>
              </a:rPr>
              <a:t> authority only — it never validates and, in </a:t>
            </a:r>
            <a:r>
              <a:rPr sz="1700" b="0">
                <a:solidFill>
                  <a:srgbClr val="0F766E"/>
                </a:solidFill>
                <a:latin typeface="Consolas"/>
              </a:rPr>
              <a:t>neurosymbolic</a:t>
            </a:r>
            <a:r>
              <a:rPr sz="1700" b="0">
                <a:solidFill>
                  <a:srgbClr val="1F2937"/>
                </a:solidFill>
                <a:latin typeface="Calibri"/>
              </a:rPr>
              <a:t> mode, never selects.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Every candidate is validated by the agent that owns the relevant model: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PA — product/plan model and projected symbolic state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responsible live RA — private resource model </a:t>
            </a:r>
            <a:r>
              <a:rPr sz="1500" b="0">
                <a:solidFill>
                  <a:srgbClr val="0F766E"/>
                </a:solidFill>
                <a:latin typeface="Consolas"/>
              </a:rPr>
              <a:t>G_r</a:t>
            </a:r>
            <a:r>
              <a:rPr sz="1500" b="0">
                <a:solidFill>
                  <a:srgbClr val="1F2937"/>
                </a:solidFill>
                <a:latin typeface="Calibri"/>
              </a:rPr>
              <a:t> + fresh physical snapshot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live CCA — safety rules compiled to DFAs + current monitor state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</a:t>
            </a:r>
            <a:r>
              <a:rPr sz="1700" b="0">
                <a:solidFill>
                  <a:srgbClr val="0F766E"/>
                </a:solidFill>
                <a:latin typeface="Consolas"/>
              </a:rPr>
              <a:t>pure_llm</a:t>
            </a:r>
            <a:r>
              <a:rPr sz="1700" b="0">
                <a:solidFill>
                  <a:srgbClr val="1F2937"/>
                </a:solidFill>
                <a:latin typeface="Calibri"/>
              </a:rPr>
              <a:t> is the controlled baseline: the LLM authors exactly three one-action candidates and picks </a:t>
            </a:r>
            <a:r>
              <a:rPr sz="1700" b="0">
                <a:solidFill>
                  <a:srgbClr val="0F766E"/>
                </a:solidFill>
                <a:latin typeface="Consolas"/>
              </a:rPr>
              <a:t>selected_candidate_index</a:t>
            </a:r>
            <a:r>
              <a:rPr sz="1700" b="0">
                <a:solidFill>
                  <a:srgbClr val="1F2937"/>
                </a:solidFill>
                <a:latin typeface="Calibri"/>
              </a:rPr>
              <a:t>; all three are still fully validated.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An invalid selected candidate causes revision — the pipeline never substitutes an invalid candidate.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Formal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DES preliminaries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Manufacturing plant, written conventionally: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424160" cy="621792"/>
          </a:xfrm>
          <a:prstGeom prst="rect">
            <a:avLst/>
          </a:prstGeom>
          <a:solidFill>
            <a:srgbClr val="F3F4F6"/>
          </a:solidFill>
        </p:spPr>
        <p:txBody>
          <a:bodyPr wrap="square" lIns="137160" tIns="73152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onsolas"/>
              </a:rPr>
              <a:t>G = G_P || ( ||_{r in R} G_r )        supervised plant: S/G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</a:t>
            </a:r>
            <a:r>
              <a:rPr sz="1600" b="0">
                <a:solidFill>
                  <a:srgbClr val="0F766E"/>
                </a:solidFill>
                <a:latin typeface="Consolas"/>
              </a:rPr>
              <a:t>G_P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product model; each responsible RA owns a private extended finite automaton </a:t>
            </a:r>
            <a:r>
              <a:rPr sz="1600" b="0">
                <a:solidFill>
                  <a:srgbClr val="0F766E"/>
                </a:solidFill>
                <a:latin typeface="Consolas"/>
              </a:rPr>
              <a:t>G_r</a:t>
            </a:r>
            <a:r>
              <a:rPr sz="1600" b="0">
                <a:solidFill>
                  <a:srgbClr val="1F2937"/>
                </a:solidFill>
                <a:latin typeface="Calibri"/>
              </a:rPr>
              <a:t> (state variables, finite domains, valuation, guards, updates, controllable/observable classification, marked conditions).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Nominal plan FSA compiled by the PA:  </a:t>
            </a:r>
            <a:r>
              <a:rPr sz="1600" b="0">
                <a:solidFill>
                  <a:srgbClr val="0F766E"/>
                </a:solidFill>
                <a:latin typeface="Consolas"/>
              </a:rPr>
              <a:t>A = (X, E, Tr, x0, Xm)</a:t>
            </a:r>
            <a:r>
              <a:rPr sz="1600" b="0">
                <a:solidFill>
                  <a:srgbClr val="1F2937"/>
                </a:solidFill>
                <a:latin typeface="Calibri"/>
              </a:rPr>
              <a:t>  with events </a:t>
            </a:r>
            <a:r>
              <a:rPr sz="1600" b="0">
                <a:solidFill>
                  <a:srgbClr val="0F766E"/>
                </a:solidFill>
                <a:latin typeface="Consolas"/>
              </a:rPr>
              <a:t>&lt;task_id&gt;.start</a:t>
            </a:r>
            <a:r>
              <a:rPr sz="1600" b="0">
                <a:solidFill>
                  <a:srgbClr val="1F2937"/>
                </a:solidFill>
                <a:latin typeface="Calibri"/>
              </a:rPr>
              <a:t> / </a:t>
            </a:r>
            <a:r>
              <a:rPr sz="1600" b="0">
                <a:solidFill>
                  <a:srgbClr val="0F766E"/>
                </a:solidFill>
                <a:latin typeface="Consolas"/>
              </a:rPr>
              <a:t>&lt;task_id&gt;.done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Each natural-language safety rule is compiled to LTLf — operators </a:t>
            </a:r>
            <a:r>
              <a:rPr sz="1600" b="0">
                <a:solidFill>
                  <a:srgbClr val="0F766E"/>
                </a:solidFill>
                <a:latin typeface="Consolas"/>
              </a:rPr>
              <a:t>G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F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U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!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&amp;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|</a:t>
            </a:r>
            <a:r>
              <a:rPr sz="1600" b="0">
                <a:solidFill>
                  <a:srgbClr val="1F2937"/>
                </a:solidFill>
                <a:latin typeface="Calibri"/>
              </a:rPr>
              <a:t>, </a:t>
            </a:r>
            <a:r>
              <a:rPr sz="1600" b="0">
                <a:solidFill>
                  <a:srgbClr val="0F766E"/>
                </a:solidFill>
                <a:latin typeface="Consolas"/>
              </a:rPr>
              <a:t>-&gt;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then to a DFA (ltlf2dfa / MONA), one DFA per rule.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Verification runs on the product state </a:t>
            </a:r>
            <a:r>
              <a:rPr sz="1600" b="0">
                <a:solidFill>
                  <a:srgbClr val="0F766E"/>
                </a:solidFill>
                <a:latin typeface="Consolas"/>
              </a:rPr>
              <a:t>(x, q_vec, sig)</a:t>
            </a:r>
            <a:r>
              <a:rPr sz="1600" b="0">
                <a:solidFill>
                  <a:srgbClr val="1F2937"/>
                </a:solidFill>
                <a:latin typeface="Calibri"/>
              </a:rPr>
              <a:t>: plan state × vector of DFA states × AP-relevant resource-state signature; the nonblocking winning set </a:t>
            </a:r>
            <a:r>
              <a:rPr sz="1600" b="0">
                <a:solidFill>
                  <a:srgbClr val="0F766E"/>
                </a:solidFill>
                <a:latin typeface="Consolas"/>
              </a:rPr>
              <a:t>W</a:t>
            </a:r>
            <a:r>
              <a:rPr sz="1600" b="0">
                <a:solidFill>
                  <a:srgbClr val="1F2937"/>
                </a:solidFill>
                <a:latin typeface="Calibri"/>
              </a:rPr>
              <a:t> backs the online supervisor.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Atomic propositions follow a fixed grammar: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ap_event/&lt;process&gt;/&lt;product&gt;/&lt;resource&gt;/&lt;function&gt;/&lt;context&gt;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ap_state/&lt;process&gt;/&lt;product&gt;/&lt;resource&gt;/&lt;state&gt;/&lt;context&gt;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The recovery-outline validation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91840"/>
                <a:gridCol w="2011680"/>
                <a:gridCol w="53949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decides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LLM proposal generation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LLM (called by PA)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Authors 1..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candidate_proposal_budget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distinct next-event candidates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neurosymbolic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Schema / horizon precheck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Candidate shape and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action_horizon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bound; durable pruned-action guard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syntax_and_grounding_validation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Bindings and state fields are grounded symbols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transition_feasibility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Transition is defined and enabled from the PA projected state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physical_feasibility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responsible live 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Physically realizable against a fresh snapshot; supplies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G_r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safety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live CCA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DFA step avoids violation states under loaded rules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Model-based selection + commit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One unique nondominated candidate on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S/G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Post-outline safety generation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CCA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Safety bundle for the complete accepted outline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Runtime safety gating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CCA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Execution-time supervision — passing ≠ execution authorization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Multi-turn loop: findings from any failed stage are returned to the LLM as the next turn's constraints; accepted events extend the outline until the recovery goal state is reachable.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PA (before agent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Stage 0 — schema / horizon precheck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Cheap structural gate run before any agent-level validation (</a:t>
            </a:r>
            <a:r>
              <a:rPr sz="1700" b="0">
                <a:solidFill>
                  <a:srgbClr val="0F766E"/>
                </a:solidFill>
                <a:latin typeface="Consolas"/>
              </a:rPr>
              <a:t>_candidate_schema_finding</a:t>
            </a:r>
            <a:r>
              <a:rPr sz="1700" b="0">
                <a:solidFill>
                  <a:srgbClr val="1F2937"/>
                </a:solidFill>
                <a:latin typeface="Calibri"/>
              </a:rPr>
              <a:t>):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“candidate trace must include at least one event”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“action_horizon=1 candidate must include exactly one event”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horizon-k candidates must not exceed </a:t>
            </a:r>
            <a:r>
              <a:rPr sz="1500" b="0">
                <a:solidFill>
                  <a:srgbClr val="0F766E"/>
                </a:solidFill>
                <a:latin typeface="Consolas"/>
              </a:rPr>
              <a:t>action_horizon_k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Durable rejection guard: a candidate matching an active pruned action (</a:t>
            </a:r>
            <a:r>
              <a:rPr sz="1700" b="0">
                <a:solidFill>
                  <a:srgbClr val="0F766E"/>
                </a:solidFill>
                <a:latin typeface="Consolas"/>
              </a:rPr>
              <a:t>_matching_active_pruned_action</a:t>
            </a:r>
            <a:r>
              <a:rPr sz="1700" b="0">
                <a:solidFill>
                  <a:srgbClr val="1F2937"/>
                </a:solidFill>
                <a:latin typeface="Calibri"/>
              </a:rPr>
              <a:t>) is rejected without re-validation — the LLM cannot re-propose an already-refuted action.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Failure calls </a:t>
            </a:r>
            <a:r>
              <a:rPr sz="1700" b="0">
                <a:solidFill>
                  <a:srgbClr val="0F766E"/>
                </a:solidFill>
                <a:latin typeface="Consolas"/>
              </a:rPr>
              <a:t>reject_before_agent_validation(...)</a:t>
            </a:r>
            <a:r>
              <a:rPr sz="1700" b="0">
                <a:solidFill>
                  <a:srgbClr val="1F2937"/>
                </a:solidFill>
                <a:latin typeface="Calibri"/>
              </a:rPr>
              <a:t>; the four validation stages are recorded as skipped for that candidate.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DES reading: enforces the interface contract of the candidate event string before it is even considered as a symbol σ of the recovery alphabet.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Stage 1 — </a:t>
            </a:r>
            <a:r>
              <a:rPr sz="2800" b="1">
                <a:solidFill>
                  <a:srgbClr val="0F766E"/>
                </a:solidFill>
                <a:latin typeface="Consolas"/>
              </a:rPr>
              <a:t>syntax_and_grounding_validation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Checks the response shape and that every binding is an exact, known symbol: resource, part, location, named pose, predicate.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Only these candidate state fields are allowed: </a:t>
            </a:r>
            <a:r>
              <a:rPr sz="1700" b="0">
                <a:solidFill>
                  <a:srgbClr val="0F766E"/>
                </a:solidFill>
                <a:latin typeface="Consolas"/>
              </a:rPr>
              <a:t>resource_state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resource_location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held_part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part_state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part_location</a:t>
            </a:r>
            <a:r>
              <a:rPr sz="1700" b="0">
                <a:solidFill>
                  <a:srgbClr val="1F2937"/>
                </a:solidFill>
                <a:latin typeface="Calibri"/>
              </a:rPr>
              <a:t> (unknown fields are rejected).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Grounding is compiled strictly via </a:t>
            </a:r>
            <a:r>
              <a:rPr sz="1700" b="0">
                <a:solidFill>
                  <a:srgbClr val="0F766E"/>
                </a:solidFill>
                <a:latin typeface="Consolas"/>
              </a:rPr>
              <a:t>compile_grounded_recovery_outline_task</a:t>
            </a:r>
            <a:r>
              <a:rPr sz="1700" b="0">
                <a:solidFill>
                  <a:srgbClr val="1F2937"/>
                </a:solidFill>
                <a:latin typeface="Calibri"/>
              </a:rPr>
              <a:t> against the outline validation contract.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DES reading: the candidate event must be a *grounded symbol* — σ is only admitted into the recovery alphabet if all of its object bindings resolve in the product ontology and its state tokens lie in declared finite domains.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Representative constraint codes: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part_unbound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part_ambiguous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resource_unbound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unknown_location_binding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unknown_named_pose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unknown_state_token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missing_object_bindings</a:t>
            </a:r>
            <a:r>
              <a:rPr sz="1400" b="0">
                <a:solidFill>
                  <a:srgbClr val="1F2937"/>
                </a:solidFill>
                <a:latin typeface="Calibri"/>
              </a:rPr>
              <a:t> · </a:t>
            </a:r>
            <a:r>
              <a:rPr sz="1400" b="0">
                <a:solidFill>
                  <a:srgbClr val="0F766E"/>
                </a:solidFill>
                <a:latin typeface="Consolas"/>
              </a:rPr>
              <a:t>candidate_schema_violation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Stage 2 — </a:t>
            </a:r>
            <a:r>
              <a:rPr sz="2800" b="1">
                <a:solidFill>
                  <a:srgbClr val="0F766E"/>
                </a:solidFill>
                <a:latin typeface="Consolas"/>
              </a:rPr>
              <a:t>transition_feasibility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Checks the candidate's </a:t>
            </a:r>
            <a:r>
              <a:rPr sz="1700" b="0">
                <a:solidFill>
                  <a:srgbClr val="0F766E"/>
                </a:solidFill>
                <a:latin typeface="Consolas"/>
              </a:rPr>
              <a:t>expected_start_state</a:t>
            </a:r>
            <a:r>
              <a:rPr sz="1700" b="0">
                <a:solidFill>
                  <a:srgbClr val="1F2937"/>
                </a:solidFill>
                <a:latin typeface="Calibri"/>
              </a:rPr>
              <a:t> against the PA *projected* symbolic state (mismatch → </a:t>
            </a:r>
            <a:r>
              <a:rPr sz="1700" b="0">
                <a:solidFill>
                  <a:srgbClr val="0F766E"/>
                </a:solidFill>
                <a:latin typeface="Consolas"/>
              </a:rPr>
              <a:t>expected_start_state_mismatch</a:t>
            </a:r>
            <a:r>
              <a:rPr sz="1700" b="0">
                <a:solidFill>
                  <a:srgbClr val="1F2937"/>
                </a:solidFill>
                <a:latin typeface="Calibri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Requires a real state effect — a holder, location, occupancy, gripper, or active-blocker change (</a:t>
            </a:r>
            <a:r>
              <a:rPr sz="1700" b="0">
                <a:solidFill>
                  <a:srgbClr val="0F766E"/>
                </a:solidFill>
                <a:latin typeface="Consolas"/>
              </a:rPr>
              <a:t>no_state_change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label_only_state_change</a:t>
            </a:r>
            <a:r>
              <a:rPr sz="1700" b="0">
                <a:solidFill>
                  <a:srgbClr val="1F2937"/>
                </a:solidFill>
                <a:latin typeface="Calibri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Checks ordering and dependencies: </a:t>
            </a:r>
            <a:r>
              <a:rPr sz="1700" b="0">
                <a:solidFill>
                  <a:srgbClr val="0F766E"/>
                </a:solidFill>
                <a:latin typeface="Consolas"/>
              </a:rPr>
              <a:t>order_violation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dependency_unsatisfied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invalid_dependency_reference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Checks guards and domains: </a:t>
            </a:r>
            <a:r>
              <a:rPr sz="1700" b="0">
                <a:solidFill>
                  <a:srgbClr val="0F766E"/>
                </a:solidFill>
                <a:latin typeface="Consolas"/>
              </a:rPr>
              <a:t>unsatisfied_guard_predicate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state_value_outside_ra_domain</a:t>
            </a:r>
            <a:r>
              <a:rPr sz="1700" b="0">
                <a:solidFill>
                  <a:srgbClr val="1F2937"/>
                </a:solidFill>
                <a:latin typeface="Calibri"/>
              </a:rPr>
              <a:t>, </a:t>
            </a:r>
            <a:r>
              <a:rPr sz="1700" b="0">
                <a:solidFill>
                  <a:srgbClr val="0F766E"/>
                </a:solidFill>
                <a:latin typeface="Consolas"/>
              </a:rPr>
              <a:t>supervisor_blocked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DES reading: the transition δ(x, σ) must be *defined and enabled* in the composed model — event enabledness in </a:t>
            </a:r>
            <a:r>
              <a:rPr sz="1700" b="0">
                <a:solidFill>
                  <a:srgbClr val="0F766E"/>
                </a:solidFill>
                <a:latin typeface="Consolas"/>
              </a:rPr>
              <a:t>G_P</a:t>
            </a:r>
            <a:r>
              <a:rPr sz="1700" b="0">
                <a:solidFill>
                  <a:srgbClr val="1F2937"/>
                </a:solidFill>
                <a:latin typeface="Calibri"/>
              </a:rPr>
              <a:t>, plant enabledness against declared RA domains, and supervisor admissibility.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responsible live 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Stage 3 — </a:t>
            </a:r>
            <a:r>
              <a:rPr sz="2800" b="1">
                <a:solidFill>
                  <a:srgbClr val="0F766E"/>
                </a:solidFill>
                <a:latin typeface="Consolas"/>
              </a:rPr>
              <a:t>physical_feasibility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PA sends </a:t>
            </a:r>
            <a:r>
              <a:rPr sz="1700" b="0">
                <a:solidFill>
                  <a:srgbClr val="0F766E"/>
                </a:solidFill>
                <a:latin typeface="Consolas"/>
              </a:rPr>
              <a:t>recovery_outline_physical_validate</a:t>
            </a:r>
            <a:r>
              <a:rPr sz="1700" b="0">
                <a:solidFill>
                  <a:srgbClr val="1F2937"/>
                </a:solidFill>
                <a:latin typeface="Calibri"/>
              </a:rPr>
              <a:t> to the candidate's exact </a:t>
            </a:r>
            <a:r>
              <a:rPr sz="1700" b="0">
                <a:solidFill>
                  <a:srgbClr val="0F766E"/>
                </a:solidFill>
                <a:latin typeface="Consolas"/>
              </a:rPr>
              <a:t>resource_jid</a:t>
            </a:r>
            <a:r>
              <a:rPr sz="1700" b="0">
                <a:solidFill>
                  <a:srgbClr val="1F2937"/>
                </a:solidFill>
                <a:latin typeface="Calibri"/>
              </a:rPr>
              <a:t>; only that RA may answer (</a:t>
            </a:r>
            <a:r>
              <a:rPr sz="1700" b="0">
                <a:solidFill>
                  <a:srgbClr val="0F766E"/>
                </a:solidFill>
                <a:latin typeface="Consolas"/>
              </a:rPr>
              <a:t>wrong_resource_validator</a:t>
            </a:r>
            <a:r>
              <a:rPr sz="1700" b="0">
                <a:solidFill>
                  <a:srgbClr val="1F2937"/>
                </a:solidFill>
                <a:latin typeface="Calibri"/>
              </a:rPr>
              <a:t> otherwise).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The RA refreshes </a:t>
            </a:r>
            <a:r>
              <a:rPr sz="1700" b="0">
                <a:solidFill>
                  <a:srgbClr val="0F766E"/>
                </a:solidFill>
                <a:latin typeface="Consolas"/>
              </a:rPr>
              <a:t>get_recovery_snapshot()</a:t>
            </a:r>
            <a:r>
              <a:rPr sz="1700" b="0">
                <a:solidFill>
                  <a:srgbClr val="1F2937"/>
                </a:solidFill>
                <a:latin typeface="Calibri"/>
              </a:rPr>
              <a:t> and applies its own </a:t>
            </a:r>
            <a:r>
              <a:rPr sz="1700" b="0">
                <a:solidFill>
                  <a:srgbClr val="0F766E"/>
                </a:solidFill>
                <a:latin typeface="Consolas"/>
              </a:rPr>
              <a:t>check_recovery_physical_feasibility()</a:t>
            </a:r>
            <a:r>
              <a:rPr sz="1700" b="0">
                <a:solidFill>
                  <a:srgbClr val="1F2937"/>
                </a:solidFill>
                <a:latin typeface="Calibri"/>
              </a:rPr>
              <a:t> — fresh state, not cached state.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The RA also privately supplies its local plant model: the extended finite automaton </a:t>
            </a:r>
            <a:r>
              <a:rPr sz="1700" b="0">
                <a:solidFill>
                  <a:srgbClr val="0F766E"/>
                </a:solidFill>
                <a:latin typeface="Consolas"/>
              </a:rPr>
              <a:t>G_r</a:t>
            </a:r>
            <a:r>
              <a:rPr sz="1700" b="0">
                <a:solidFill>
                  <a:srgbClr val="1F2937"/>
                </a:solidFill>
                <a:latin typeface="Calibri"/>
              </a:rPr>
              <a:t> descriptor (variables, domains, valuation, guards, updates, controllability, observability, marked conditions) + descriptor fingerprint — never shown to the LLM.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DES reading: continuous pose and workspace evidence stay *outside* the finite DES state; this stage is the bridge that certifies σ is realizable in continuous space.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Missing validation capability *fails closed* (</a:t>
            </a:r>
            <a:r>
              <a:rPr sz="1700" b="0">
                <a:solidFill>
                  <a:srgbClr val="0F766E"/>
                </a:solidFill>
                <a:latin typeface="Consolas"/>
              </a:rPr>
              <a:t>resource_validation_unavailable</a:t>
            </a:r>
            <a:r>
              <a:rPr sz="1700" b="0">
                <a:solidFill>
                  <a:srgbClr val="1F2937"/>
                </a:solidFill>
                <a:latin typeface="Calibri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Representative codes: </a:t>
            </a:r>
            <a:r>
              <a:rPr sz="1700" b="0">
                <a:solidFill>
                  <a:srgbClr val="0F766E"/>
                </a:solidFill>
                <a:latin typeface="Consolas"/>
              </a:rPr>
              <a:t>workspace_unreachable</a:t>
            </a:r>
            <a:r>
              <a:rPr sz="1700" b="0">
                <a:solidFill>
                  <a:srgbClr val="1F2937"/>
                </a:solidFill>
                <a:latin typeface="Calibri"/>
              </a:rPr>
              <a:t> · </a:t>
            </a:r>
            <a:r>
              <a:rPr sz="1700" b="0">
                <a:solidFill>
                  <a:srgbClr val="0F766E"/>
                </a:solidFill>
                <a:latin typeface="Consolas"/>
              </a:rPr>
              <a:t>gripper_occupancy_conflict</a:t>
            </a:r>
            <a:r>
              <a:rPr sz="1700" b="0">
                <a:solidFill>
                  <a:srgbClr val="1F2937"/>
                </a:solidFill>
                <a:latin typeface="Calibri"/>
              </a:rPr>
              <a:t> · </a:t>
            </a:r>
            <a:r>
              <a:rPr sz="1700" b="0">
                <a:solidFill>
                  <a:srgbClr val="0F766E"/>
                </a:solidFill>
                <a:latin typeface="Consolas"/>
              </a:rPr>
              <a:t>holder_conflict</a:t>
            </a:r>
            <a:r>
              <a:rPr sz="1700" b="0">
                <a:solidFill>
                  <a:srgbClr val="1F2937"/>
                </a:solidFill>
                <a:latin typeface="Calibri"/>
              </a:rPr>
              <a:t> · </a:t>
            </a:r>
            <a:r>
              <a:rPr sz="1700" b="0">
                <a:solidFill>
                  <a:srgbClr val="0F766E"/>
                </a:solidFill>
                <a:latin typeface="Consolas"/>
              </a:rPr>
              <a:t>required_part_not_held</a:t>
            </a:r>
            <a:r>
              <a:rPr sz="1700" b="0">
                <a:solidFill>
                  <a:srgbClr val="1F2937"/>
                </a:solidFill>
                <a:latin typeface="Calibri"/>
              </a:rPr>
              <a:t> · </a:t>
            </a:r>
            <a:r>
              <a:rPr sz="1700" b="0">
                <a:solidFill>
                  <a:srgbClr val="0F766E"/>
                </a:solidFill>
                <a:latin typeface="Consolas"/>
              </a:rPr>
              <a:t>motion_target_invalid</a:t>
            </a:r>
            <a:r>
              <a:rPr sz="1700" b="0">
                <a:solidFill>
                  <a:srgbClr val="1F2937"/>
                </a:solidFill>
                <a:latin typeface="Calibri"/>
              </a:rPr>
              <a:t> · </a:t>
            </a:r>
            <a:r>
              <a:rPr sz="1700" b="0">
                <a:solidFill>
                  <a:srgbClr val="0F766E"/>
                </a:solidFill>
                <a:latin typeface="Consolas"/>
              </a:rPr>
              <a:t>named_pose_unavailable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live CCA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Stage 4 — </a:t>
            </a:r>
            <a:r>
              <a:rPr sz="2800" b="1">
                <a:solidFill>
                  <a:srgbClr val="0F766E"/>
                </a:solidFill>
                <a:latin typeface="Consolas"/>
              </a:rPr>
              <a:t>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PA sends </a:t>
            </a:r>
            <a:r>
              <a:rPr sz="1600" b="0">
                <a:solidFill>
                  <a:srgbClr val="0F766E"/>
                </a:solidFill>
                <a:latin typeface="Consolas"/>
              </a:rPr>
              <a:t>recovery_outline_safety_validate</a:t>
            </a:r>
            <a:r>
              <a:rPr sz="1600" b="0">
                <a:solidFill>
                  <a:srgbClr val="1F2937"/>
                </a:solidFill>
                <a:latin typeface="Calibri"/>
              </a:rPr>
              <a:t>; the CCA applies </a:t>
            </a:r>
            <a:r>
              <a:rPr sz="1600" b="0">
                <a:solidFill>
                  <a:srgbClr val="0F766E"/>
                </a:solidFill>
                <a:latin typeface="Consolas"/>
              </a:rPr>
              <a:t>validate_outline_macro_recovery_safety()</a:t>
            </a:r>
            <a:r>
              <a:rPr sz="1600" b="0">
                <a:solidFill>
                  <a:srgbClr val="1F2937"/>
                </a:solidFill>
                <a:latin typeface="Calibri"/>
              </a:rPr>
              <a:t> with its loaded rules and *current monitor state*.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DES reading: for each rule DFA, step the automaton with the candidate's AP set — </a:t>
            </a:r>
            <a:r>
              <a:rPr sz="1600" b="0">
                <a:solidFill>
                  <a:srgbClr val="0F766E"/>
                </a:solidFill>
                <a:latin typeface="Consolas"/>
              </a:rPr>
              <a:t>safety_dfa_states_before</a:t>
            </a:r>
            <a:r>
              <a:rPr sz="1600" b="0">
                <a:solidFill>
                  <a:srgbClr val="1F2937"/>
                </a:solidFill>
                <a:latin typeface="Calibri"/>
              </a:rPr>
              <a:t> → δ(q, σ_AP) → </a:t>
            </a:r>
            <a:r>
              <a:rPr sz="1600" b="0">
                <a:solidFill>
                  <a:srgbClr val="0F766E"/>
                </a:solidFill>
                <a:latin typeface="Consolas"/>
              </a:rPr>
              <a:t>safety_dfa_states_after</a:t>
            </a:r>
            <a:r>
              <a:rPr sz="1600" b="0">
                <a:solidFill>
                  <a:srgbClr val="1F2937"/>
                </a:solidFill>
                <a:latin typeface="Calibri"/>
              </a:rPr>
              <a:t>; reaching a violation state yields the finding </a:t>
            </a:r>
            <a:r>
              <a:rPr sz="1600" b="0">
                <a:solidFill>
                  <a:srgbClr val="0F766E"/>
                </a:solidFill>
                <a:latin typeface="Consolas"/>
              </a:rPr>
              <a:t>safety_rule_violation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Reply carries findings, rule ids, condition identifiers, and a safety-rule fingerprint.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1155680" cy="1389888"/>
          </a:xfrm>
          <a:prstGeom prst="rect">
            <a:avLst/>
          </a:prstGeom>
          <a:solidFill>
            <a:srgbClr val="F3F4F6"/>
          </a:solidFill>
        </p:spPr>
        <p:txBody>
          <a:bodyPr wrap="square" lIns="137160" tIns="73152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Consolas"/>
              </a:rPr>
              <a:t>SAFE_1 (precedence):        (!(ap004) U ap003)</a:t>
            </a:r>
          </a:p>
          <a:p>
            <a:r>
              <a:rPr sz="1200">
                <a:solidFill>
                  <a:srgbClr val="1F2937"/>
                </a:solidFill>
                <a:latin typeface="Consolas"/>
              </a:rPr>
              <a:t>  "LG by xarm6 must place_approach first before MCP by ur5e ..."</a:t>
            </a:r>
          </a:p>
          <a:p>
            <a:r>
              <a:rPr sz="1200">
                <a:solidFill>
                  <a:srgbClr val="1F2937"/>
                </a:solidFill>
                <a:latin typeface="Consolas"/>
              </a:rPr>
              <a:t>SAFE_2 (mutual exclusion):  G (!(((ap001 | ap006 | ap005) &amp; (ap002 | ap008 | ap007))))</a:t>
            </a:r>
          </a:p>
          <a:p>
            <a:r>
              <a:rPr sz="1200">
                <a:solidFill>
                  <a:srgbClr val="1F2937"/>
                </a:solidFill>
                <a:latin typeface="Consolas"/>
              </a:rPr>
              <a:t>  "ur5e and xarm6 must not both be in the assembly board destination area ..."</a:t>
            </a:r>
          </a:p>
        </p:txBody>
      </p:sp>
      <p:pic>
        <p:nvPicPr>
          <p:cNvPr id="7" name="Picture 6" descr="SAFE_1_d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892040"/>
            <a:ext cx="2926080" cy="1606888"/>
          </a:xfrm>
          <a:prstGeom prst="rect">
            <a:avLst/>
          </a:prstGeom>
        </p:spPr>
      </p:pic>
      <p:pic>
        <p:nvPicPr>
          <p:cNvPr id="8" name="Picture 7" descr="SAFE_2_d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892040"/>
            <a:ext cx="2926080" cy="160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65105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SAFE_1 DFA                                                                          SAFE_2 DFA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Authority: 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Model-based selection (</a:t>
            </a:r>
            <a:r>
              <a:rPr sz="2800" b="1">
                <a:solidFill>
                  <a:srgbClr val="0F766E"/>
                </a:solidFill>
                <a:latin typeface="Consolas"/>
              </a:rPr>
              <a:t>neurosymbolic</a:t>
            </a:r>
            <a:r>
              <a:rPr sz="2800" b="1">
                <a:solidFill>
                  <a:srgbClr val="1D4ED8"/>
                </a:solidFill>
                <a:latin typeface="Calibri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The PA composes the RA-declared local models </a:t>
            </a:r>
            <a:r>
              <a:rPr sz="1600" b="0">
                <a:solidFill>
                  <a:srgbClr val="0F766E"/>
                </a:solidFill>
                <a:latin typeface="Consolas"/>
              </a:rPr>
              <a:t>G_r</a:t>
            </a:r>
            <a:r>
              <a:rPr sz="1600" b="0">
                <a:solidFill>
                  <a:srgbClr val="1F2937"/>
                </a:solidFill>
                <a:latin typeface="Calibri"/>
              </a:rPr>
              <a:t> with the product state and compares *only* PA/RA/CCA-valid projected states </a:t>
            </a:r>
            <a:r>
              <a:rPr sz="1600" b="0">
                <a:solidFill>
                  <a:srgbClr val="0F766E"/>
                </a:solidFill>
                <a:latin typeface="Consolas"/>
              </a:rPr>
              <a:t>q'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For each valid candidate's post-state </a:t>
            </a:r>
            <a:r>
              <a:rPr sz="1600" b="0">
                <a:solidFill>
                  <a:srgbClr val="0F766E"/>
                </a:solidFill>
                <a:latin typeface="Consolas"/>
              </a:rPr>
              <a:t>q'</a:t>
            </a:r>
            <a:r>
              <a:rPr sz="1600" b="0">
                <a:solidFill>
                  <a:srgbClr val="1F2937"/>
                </a:solidFill>
                <a:latin typeface="Calibri"/>
              </a:rPr>
              <a:t> it computes: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O(q)</a:t>
            </a:r>
            <a:r>
              <a:rPr sz="1400" b="0">
                <a:solidFill>
                  <a:srgbClr val="1F2937"/>
                </a:solidFill>
                <a:latin typeface="Calibri"/>
              </a:rPr>
              <a:t> — open recovery obligations still unmet at </a:t>
            </a:r>
            <a:r>
              <a:rPr sz="1400" b="0">
                <a:solidFill>
                  <a:srgbClr val="0F766E"/>
                </a:solidFill>
                <a:latin typeface="Consolas"/>
              </a:rPr>
              <a:t>q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Q_m^R</a:t>
            </a:r>
            <a:r>
              <a:rPr sz="1400" b="0">
                <a:solidFill>
                  <a:srgbClr val="1F2937"/>
                </a:solidFill>
                <a:latin typeface="Calibri"/>
              </a:rPr>
              <a:t> — recovery-compatible marked states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–  </a:t>
            </a:r>
            <a:r>
              <a:rPr sz="1400" b="0">
                <a:solidFill>
                  <a:srgbClr val="0F766E"/>
                </a:solidFill>
                <a:latin typeface="Consolas"/>
              </a:rPr>
              <a:t>Gamma^R_{S/G}(q)</a:t>
            </a:r>
            <a:r>
              <a:rPr sz="1400" b="0">
                <a:solidFill>
                  <a:srgbClr val="1F2937"/>
                </a:solidFill>
                <a:latin typeface="Calibri"/>
              </a:rPr>
              <a:t> — admissible enabled controllable events of the supervised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11155680" cy="621792"/>
          </a:xfrm>
          <a:prstGeom prst="rect">
            <a:avLst/>
          </a:prstGeom>
          <a:solidFill>
            <a:srgbClr val="F3F4F6"/>
          </a:solidFill>
        </p:spPr>
        <p:txBody>
          <a:bodyPr wrap="square" lIns="137160" tIns="73152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onsolas"/>
              </a:rPr>
              <a:t>q'_i dominates q'_j   iff   O(q'_i) ⊆ O(q'_j)   and   Gamma^R_{S/G}(q'_i) ⊇ Gamma^R_{S/G}(q'_j)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Commit rule: exactly one unique nondominated candidate is committed; the pipeline never substitutes an invalid candidate.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Non-progress outcomes trigger another LLM turn instead of a forced choice: </a:t>
            </a:r>
            <a:r>
              <a:rPr sz="1600" b="0">
                <a:solidFill>
                  <a:srgbClr val="0F766E"/>
                </a:solidFill>
                <a:latin typeface="Consolas"/>
              </a:rPr>
              <a:t>need_revision</a:t>
            </a:r>
            <a:r>
              <a:rPr sz="1600" b="0">
                <a:solidFill>
                  <a:srgbClr val="1F2937"/>
                </a:solidFill>
                <a:latin typeface="Calibri"/>
              </a:rPr>
              <a:t> · </a:t>
            </a:r>
            <a:r>
              <a:rPr sz="1600" b="0">
                <a:solidFill>
                  <a:srgbClr val="0F766E"/>
                </a:solidFill>
                <a:latin typeface="Consolas"/>
              </a:rPr>
              <a:t>selection_ambiguous</a:t>
            </a:r>
            <a:r>
              <a:rPr sz="1600" b="0">
                <a:solidFill>
                  <a:srgbClr val="1F2937"/>
                </a:solidFill>
                <a:latin typeface="Calibri"/>
              </a:rPr>
              <a:t> · </a:t>
            </a:r>
            <a:r>
              <a:rPr sz="1600" b="0">
                <a:solidFill>
                  <a:srgbClr val="0F766E"/>
                </a:solidFill>
                <a:latin typeface="Consolas"/>
              </a:rPr>
              <a:t>selection_unresolved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Contrast — </a:t>
            </a:r>
            <a:r>
              <a:rPr sz="1600" b="0">
                <a:solidFill>
                  <a:srgbClr val="0F766E"/>
                </a:solidFill>
                <a:latin typeface="Consolas"/>
              </a:rPr>
              <a:t>pure_llm</a:t>
            </a:r>
            <a:r>
              <a:rPr sz="1600" b="0">
                <a:solidFill>
                  <a:srgbClr val="1F2937"/>
                </a:solidFill>
                <a:latin typeface="Calibri"/>
              </a:rPr>
              <a:t>: the LLM picks </a:t>
            </a:r>
            <a:r>
              <a:rPr sz="1600" b="0">
                <a:solidFill>
                  <a:srgbClr val="0F766E"/>
                </a:solidFill>
                <a:latin typeface="Consolas"/>
              </a:rPr>
              <a:t>selected_candidate_index</a:t>
            </a:r>
            <a:r>
              <a:rPr sz="1600" b="0">
                <a:solidFill>
                  <a:srgbClr val="1F2937"/>
                </a:solidFill>
                <a:latin typeface="Calibri"/>
              </a:rPr>
              <a:t> itself; selection authority, not validation authority, is what </a:t>
            </a:r>
            <a:r>
              <a:rPr sz="1600" b="0">
                <a:solidFill>
                  <a:srgbClr val="0F766E"/>
                </a:solidFill>
                <a:latin typeface="Consolas"/>
              </a:rPr>
              <a:t>neurosymbolic</a:t>
            </a:r>
            <a:r>
              <a:rPr sz="1600" b="0">
                <a:solidFill>
                  <a:srgbClr val="1F2937"/>
                </a:solidFill>
                <a:latin typeface="Calibri"/>
              </a:rPr>
              <a:t> removes.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Fail-closed authority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Every request/reply pair is correlated by *five* values: request id, recovery session id, turn index, PA state fingerprint, and sender JID.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timeout, malformed reply, wrong sender, stale reply, or unavailable agent *fails closed* — the candidate is rejected, never assumed valid.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The commit step rechecks the PA state fingerprint: if the world moved during validation, the result is discarded.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passed outline candidate is **not** an execution authorization: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the CCA still generates the post-outline safety bundle for the complete accepted outline,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the CCA still gates dispatch and execution-time events at runtime,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–  the responsible RA still generates and validates its own primitive program.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Worked example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Case 3 — the two-arm LLM-bridge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1133856"/>
          </a:xfrm>
          <a:prstGeom prst="rect">
            <a:avLst/>
          </a:prstGeom>
          <a:solidFill>
            <a:srgbClr val="F3F4F6"/>
          </a:solidFill>
        </p:spPr>
        <p:txBody>
          <a:bodyPr wrap="square" lIns="137160" tIns="73152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Consolas"/>
              </a:rPr>
              <a:t>[Product Requirements]                       (case3_two_arm_llm_bridge.txt)</a:t>
            </a:r>
          </a:p>
          <a:p>
            <a:r>
              <a:rPr sz="1200">
                <a:solidFill>
                  <a:srgbClr val="1F2937"/>
                </a:solidFill>
                <a:latin typeface="Consolas"/>
              </a:rPr>
              <a:t>- ur5e assemble MCP from prusa-mk4-2 to the Assembly Station.</a:t>
            </a:r>
          </a:p>
          <a:p>
            <a:r>
              <a:rPr sz="1200">
                <a:solidFill>
                  <a:srgbClr val="1F2937"/>
                </a:solidFill>
                <a:latin typeface="Consolas"/>
              </a:rPr>
              <a:t>- xarm6 Assemble LG from prusa-mk4-1 to the Assembly Station.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Failure injection </a:t>
            </a:r>
            <a:r>
              <a:rPr sz="1600" b="0">
                <a:solidFill>
                  <a:srgbClr val="0F766E"/>
                </a:solidFill>
                <a:latin typeface="Consolas"/>
              </a:rPr>
              <a:t>lg_slippage</a:t>
            </a:r>
            <a:r>
              <a:rPr sz="1600" b="0">
                <a:solidFill>
                  <a:srgbClr val="1F2937"/>
                </a:solidFill>
                <a:latin typeface="Calibri"/>
              </a:rPr>
              <a:t>: during </a:t>
            </a:r>
            <a:r>
              <a:rPr sz="1600" b="0">
                <a:solidFill>
                  <a:srgbClr val="0F766E"/>
                </a:solidFill>
                <a:latin typeface="Consolas"/>
              </a:rPr>
              <a:t>place_insert</a:t>
            </a:r>
            <a:r>
              <a:rPr sz="1600" b="0">
                <a:solidFill>
                  <a:srgbClr val="1F2937"/>
                </a:solidFill>
                <a:latin typeface="Calibri"/>
              </a:rPr>
              <a:t> of </a:t>
            </a:r>
            <a:r>
              <a:rPr sz="1600" b="0">
                <a:solidFill>
                  <a:srgbClr val="0F766E"/>
                </a:solidFill>
                <a:latin typeface="Consolas"/>
              </a:rPr>
              <a:t>LG</a:t>
            </a:r>
            <a:r>
              <a:rPr sz="1600" b="0">
                <a:solidFill>
                  <a:srgbClr val="1F2937"/>
                </a:solidFill>
                <a:latin typeface="Calibri"/>
              </a:rPr>
              <a:t> (task </a:t>
            </a:r>
            <a:r>
              <a:rPr sz="1600" b="0">
                <a:solidFill>
                  <a:srgbClr val="0F766E"/>
                </a:solidFill>
                <a:latin typeface="Consolas"/>
              </a:rPr>
              <a:t>REQ_2_T4</a:t>
            </a:r>
            <a:r>
              <a:rPr sz="1600" b="0">
                <a:solidFill>
                  <a:srgbClr val="1F2937"/>
                </a:solidFill>
                <a:latin typeface="Calibri"/>
              </a:rPr>
              <a:t>), at checkpoint </a:t>
            </a:r>
            <a:r>
              <a:rPr sz="1600" b="0">
                <a:solidFill>
                  <a:srgbClr val="0F766E"/>
                </a:solidFill>
                <a:latin typeface="Consolas"/>
              </a:rPr>
              <a:t>after_execute_before_commit</a:t>
            </a:r>
            <a:r>
              <a:rPr sz="1600" b="0">
                <a:solidFill>
                  <a:srgbClr val="1F2937"/>
                </a:solidFill>
                <a:latin typeface="Calibri"/>
              </a:rPr>
              <a:t>, the part drops — gripper opens, xarm6 state becomes </a:t>
            </a:r>
            <a:r>
              <a:rPr sz="1600" b="0">
                <a:solidFill>
                  <a:srgbClr val="0F766E"/>
                </a:solidFill>
                <a:latin typeface="Consolas"/>
              </a:rPr>
              <a:t>failed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566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State after failure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part </a:t>
                      </a:r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misplaced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unknown (dropped on the board area)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part </a:t>
                      </a:r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in_gripper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ur5e@localhost_gripper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ur5e@localhost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picked</a:t>
                      </a:r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 (holding </a:t>
                      </a:r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mid-plan, near the 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xarm6@localhost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failed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occupying </a:t>
                      </a:r>
                      <a:r>
                        <a:rPr sz="1300" b="0">
                          <a:solidFill>
                            <a:srgbClr val="0F766E"/>
                          </a:solidFill>
                          <a:latin typeface="Consolas"/>
                        </a:rPr>
                        <a:t>assembly_board-v1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Why an “LLM bridge”: the nominal plan FSA has no continuation from this state — cross-arm events like “ur5e recovers xarm6's part” are not in the nominal alphabet.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Worked example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Case 3, one turn through the pipeline (real run, turn 04)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3108960"/>
                <a:gridCol w="1645920"/>
              </a:tblGrid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LLM candidate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Stages 1–4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pick_misplaced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
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xarm6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fails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physical_feasibility</a:t>
                      </a:r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: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workspace_unreachable</a:t>
                      </a:r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 — “pose outside workspace: y=0.2000 &gt; y_max_m=0.1000”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excluded_invalid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rejected (durably pruned)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move_home_with_part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
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ur5e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all four stages pass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excluded_no_progress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— clears nothing in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O(q)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consumes no admissible recovery event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not committed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place_to_prusa-mk3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
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ur5e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all four stages 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nondominated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— unique member of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nondominated_candidate_ids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committed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selected_by: neurosymbolic</a:t>
                      </a:r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663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The LLM proposed three candidates in this turn; validation and selection — not the LLM — decided which one enters the outline.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Selection evidence recorded per candidate: </a:t>
            </a:r>
            <a:r>
              <a:rPr sz="1400" b="0">
                <a:solidFill>
                  <a:srgbClr val="0F766E"/>
                </a:solidFill>
                <a:latin typeface="Consolas"/>
              </a:rPr>
              <a:t>open_recovery_obligation_ids_before/after</a:t>
            </a:r>
            <a:r>
              <a:rPr sz="1400" b="0">
                <a:solidFill>
                  <a:srgbClr val="1F2937"/>
                </a:solidFill>
                <a:latin typeface="Calibri"/>
              </a:rPr>
              <a:t> (= </a:t>
            </a:r>
            <a:r>
              <a:rPr sz="1400" b="0">
                <a:solidFill>
                  <a:srgbClr val="0F766E"/>
                </a:solidFill>
                <a:latin typeface="Consolas"/>
              </a:rPr>
              <a:t>O(q)</a:t>
            </a:r>
            <a:r>
              <a:rPr sz="1400" b="0">
                <a:solidFill>
                  <a:srgbClr val="1F2937"/>
                </a:solidFill>
                <a:latin typeface="Calibri"/>
              </a:rPr>
              <a:t>) and </a:t>
            </a:r>
            <a:r>
              <a:rPr sz="1400" b="0">
                <a:solidFill>
                  <a:srgbClr val="0F766E"/>
                </a:solidFill>
                <a:latin typeface="Consolas"/>
              </a:rPr>
              <a:t>admissible_recovery_enabled_event_ids_before</a:t>
            </a:r>
            <a:r>
              <a:rPr sz="1400" b="0">
                <a:solidFill>
                  <a:srgbClr val="1F2937"/>
                </a:solidFill>
                <a:latin typeface="Calibri"/>
              </a:rPr>
              <a:t> (= </a:t>
            </a:r>
            <a:r>
              <a:rPr sz="1400" b="0">
                <a:solidFill>
                  <a:srgbClr val="0F766E"/>
                </a:solidFill>
                <a:latin typeface="Consolas"/>
              </a:rPr>
              <a:t>Gamma^R_{S/G}(q)</a:t>
            </a:r>
            <a:r>
              <a:rPr sz="1400" b="0">
                <a:solidFill>
                  <a:srgbClr val="1F2937"/>
                </a:solidFill>
                <a:latin typeface="Calibri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The LLM had already excluded MCP→board actions itself, citing SAFE_1 — but the DFA check would have caught them regardless.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Worked example · result (turn 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Case 3 — the accepted recovery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377440"/>
                <a:gridCol w="6035040"/>
              </a:tblGrid>
              <a:tr h="6583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Resource · part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Symbolic transition (start → end)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retreat_to_home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xarm6@localhost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failed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assembly_board-v1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→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idle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home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— clears the board; rationale cites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SAFE_2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place_to_prusa-mk3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ur5e@localhost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picked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held_part=MCP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→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idle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MCP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placed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at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prusa-mk3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— stages MCP, frees the gripper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recover_pick_misplaced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ur5e@localhost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idle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at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prusa-mk3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misplaced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→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holding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held_part=LG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— the cross-arm bridge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place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ur5e@localhost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·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holding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→ (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idle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,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LG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placed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at </a:t>
                      </a:r>
                      <a:r>
                        <a:rPr sz="1200" b="0">
                          <a:solidFill>
                            <a:srgbClr val="0F766E"/>
                          </a:solidFill>
                          <a:latin typeface="Consolas"/>
                        </a:rPr>
                        <a:t>assembly_board-v1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) — recovery goal met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920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Final output status: </a:t>
            </a:r>
            <a:r>
              <a:rPr sz="1500" b="0">
                <a:solidFill>
                  <a:srgbClr val="0F766E"/>
                </a:solidFill>
                <a:latin typeface="Consolas"/>
              </a:rPr>
              <a:t>outline_ready</a:t>
            </a:r>
            <a:r>
              <a:rPr sz="1500" b="0">
                <a:solidFill>
                  <a:srgbClr val="1F2937"/>
                </a:solidFill>
                <a:latin typeface="Calibri"/>
              </a:rPr>
              <a:t> → </a:t>
            </a:r>
            <a:r>
              <a:rPr sz="1500" b="0">
                <a:solidFill>
                  <a:srgbClr val="0F766E"/>
                </a:solidFill>
                <a:latin typeface="Consolas"/>
              </a:rPr>
              <a:t>ready_for_primitive_generation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the outline is accepted, but primitive generation (RA) and runtime safety gating (CCA) still lie ahead.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Step 3 exists *because* stage 3 rejected the xarm6 pickup in turn 04: the validated </a:t>
            </a:r>
            <a:r>
              <a:rPr sz="1500" b="0">
                <a:solidFill>
                  <a:srgbClr val="0F766E"/>
                </a:solidFill>
                <a:latin typeface="Consolas"/>
              </a:rPr>
              <a:t>workspace_unreachable</a:t>
            </a:r>
            <a:r>
              <a:rPr sz="1500" b="0">
                <a:solidFill>
                  <a:srgbClr val="1F2937"/>
                </a:solidFill>
                <a:latin typeface="Calibri"/>
              </a:rPr>
              <a:t> finding redirected recovery to </a:t>
            </a:r>
            <a:r>
              <a:rPr sz="1500" b="0">
                <a:solidFill>
                  <a:srgbClr val="0F766E"/>
                </a:solidFill>
                <a:latin typeface="Consolas"/>
              </a:rPr>
              <a:t>ur5e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formal validation shaped the plan, not the LLM's preference.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</a:t>
            </a:r>
            <a:r>
              <a:rPr sz="1500" b="0">
                <a:solidFill>
                  <a:srgbClr val="0F766E"/>
                </a:solidFill>
                <a:latin typeface="Consolas"/>
              </a:rPr>
              <a:t>SAFE_1</a:t>
            </a:r>
            <a:r>
              <a:rPr sz="1500" b="0">
                <a:solidFill>
                  <a:srgbClr val="1F2937"/>
                </a:solidFill>
                <a:latin typeface="Calibri"/>
              </a:rPr>
              <a:t> order is preserved throughout: </a:t>
            </a:r>
            <a:r>
              <a:rPr sz="1500" b="0">
                <a:solidFill>
                  <a:srgbClr val="0F766E"/>
                </a:solidFill>
                <a:latin typeface="Consolas"/>
              </a:rPr>
              <a:t>MCP</a:t>
            </a:r>
            <a:r>
              <a:rPr sz="1500" b="0">
                <a:solidFill>
                  <a:srgbClr val="1F2937"/>
                </a:solidFill>
                <a:latin typeface="Calibri"/>
              </a:rPr>
              <a:t> never approaches the board before </a:t>
            </a:r>
            <a:r>
              <a:rPr sz="1500" b="0">
                <a:solidFill>
                  <a:srgbClr val="0F766E"/>
                </a:solidFill>
                <a:latin typeface="Consolas"/>
              </a:rPr>
              <a:t>LG</a:t>
            </a:r>
            <a:r>
              <a:rPr sz="1500" b="0">
                <a:solidFill>
                  <a:srgbClr val="1F2937"/>
                </a:solidFill>
                <a:latin typeface="Calibri"/>
              </a:rPr>
              <a:t> is placed.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  <a:latin typeface="Calibri"/>
              </a:rPr>
              <a:t>Summary — stage × authority × formal object × failure semantics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37360"/>
                <a:gridCol w="4572000"/>
                <a:gridCol w="2011680"/>
              </a:tblGrid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Formal object checked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On failure</a:t>
                      </a:r>
                    </a:p>
                  </a:txBody>
                  <a:tcPr marL="54864" marR="54864" marT="18288" marB="18288">
                    <a:solidFill>
                      <a:srgbClr val="1D4E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schema / horizon precheck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candidate well-formedness,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action_horizon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bound, durable pruned actions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reject_before_agent_validation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syntax_and_grounding_validation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σ is a grounded symbol; bindings + state tokens in declared domains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finding → LLM revision turn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transition_feasibility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δ(x, σ) defined &amp; enabled in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G_P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; guards; supervisor admissibility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finding → LLM revision turn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physical_feasibility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responsible live RA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continuous-space realizability vs fresh snapshot;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G_r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descriptor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fails closed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safety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live CCA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DFA step q → q' avoids violation states for every loaded rule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safety_rule_violation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model-based selection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dominance over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O(q)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and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Gamma^R_{S/G}(q)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on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S/G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need_revision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/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selection_ambiguous</a:t>
                      </a:r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 / </a:t>
                      </a:r>
                      <a:r>
                        <a:rPr sz="1150" b="0">
                          <a:solidFill>
                            <a:srgbClr val="0F766E"/>
                          </a:solidFill>
                          <a:latin typeface="Consolas"/>
                        </a:rPr>
                        <a:t>selection_unresolved</a:t>
                      </a:r>
                    </a:p>
                  </a:txBody>
                  <a:tcPr marL="54864" marR="54864" marT="18288" marB="18288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commit · bundle · gating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 / CCA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state-fingerprint recheck; post-outline safety bundle; runtime supervision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fail closed — passing ≠ execution authorization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264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One sentence: the LLM proposes symbols; the PA, the responsible RA, and the CCA each verify their own model, and only a formally nondominated, fully validated event ever enters the recovery outline.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