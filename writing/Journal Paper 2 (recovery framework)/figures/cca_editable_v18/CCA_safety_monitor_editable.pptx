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</p:sldIdLst>
  <p:sldSz cx="9363456" cy="14045184" type="custom"/>
  <p:notesSz cx="6858000" cy="9144000"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 name="Central Controller Agent — editable safety monitor figure">
    <p:spTree>
      <p:nvGrpSpPr>
        <p:cNvPr id="1" name=""/>
        <p:cNvGrpSpPr/>
        <p:nvPr/>
      </p:nvGrpSpPr>
      <p:grpSpPr/>
      <p:grpSp>
        <p:nvGrpSpPr>
          <p:cNvPr id="2" name="Page border"/>
          <p:cNvGrpSpPr/>
          <p:nvPr/>
        </p:nvGrpSpPr>
        <p:grpSpPr>
          <a:xfrm>
            <a:off x="-4572" y="-4572"/>
            <a:ext cx="9372600" cy="14054328"/>
            <a:chOff x="-4572" y="-4572"/>
            <a:chExt cx="9372600" cy="14054328"/>
          </a:xfrm>
        </p:grpSpPr>
        <p:sp>
          <p:nvSpPr>
            <p:cNvPr id="3" name="roundRect 3"/>
            <p:cNvSpPr/>
            <p:nvPr/>
          </p:nvSpPr>
          <p:spPr>
            <a:xfrm>
              <a:off x="27432" y="27432"/>
              <a:ext cx="9308592" cy="13990320"/>
            </a:xfrm>
            <a:prstGeom prst="roundRect">
              <a:avLst>
                <a:gd name="adj" fmla="val 2161"/>
              </a:avLst>
            </a:prstGeom>
            <a:solidFill>
              <a:srgbClr val="FFFFFF"/>
            </a:solidFill>
            <a:ln w="45720">
              <a:solidFill>
                <a:srgbClr val="6522B8"/>
              </a:solidFill>
              <a:round/>
            </a:ln>
          </p:spPr>
        </p:sp>
      </p:grpSp>
      <p:grpSp>
        <p:nvGrpSpPr>
          <p:cNvPr id="4" name="Heading and editable icons"/>
          <p:cNvGrpSpPr/>
          <p:nvPr/>
        </p:nvGrpSpPr>
        <p:grpSpPr>
          <a:xfrm>
            <a:off x="2281428" y="68580"/>
            <a:ext cx="5074920" cy="694944"/>
            <a:chOff x="2281428" y="68580"/>
            <a:chExt cx="5074920" cy="694944"/>
          </a:xfrm>
        </p:grpSpPr>
        <p:sp>
          <p:nvSpPr>
            <p:cNvPr id="5" name="text 5"/>
            <p:cNvSpPr txBox="1"/>
            <p:nvPr/>
          </p:nvSpPr>
          <p:spPr>
            <a:xfrm>
              <a:off x="2734056" y="91440"/>
              <a:ext cx="4087368" cy="393192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2232" b="1" i="0">
                  <a:solidFill>
                    <a:srgbClr val="15191D"/>
                  </a:solidFill>
                  <a:latin typeface="Arial"/>
                  <a:ea typeface="Arial"/>
                  <a:cs typeface="Arial"/>
                </a:rPr>
                <a:t>Central Controller Agent</a:t>
              </a:r>
              <a:endParaRPr lang="en-US" sz="2232"/>
            </a:p>
          </p:txBody>
        </p:sp>
        <p:sp>
          <p:nvSpPr>
            <p:cNvPr id="6" name="roundRect 6"/>
            <p:cNvSpPr/>
            <p:nvPr/>
          </p:nvSpPr>
          <p:spPr>
            <a:xfrm>
              <a:off x="3337560" y="484632"/>
              <a:ext cx="2761488" cy="256032"/>
            </a:xfrm>
            <a:prstGeom prst="roundRect">
              <a:avLst>
                <a:gd name="adj" fmla="val 28571"/>
              </a:avLst>
            </a:prstGeom>
            <a:solidFill>
              <a:srgbClr val="F8F3FD"/>
            </a:solidFill>
            <a:ln w="9144">
              <a:solidFill>
                <a:srgbClr val="6522B8"/>
              </a:solidFill>
              <a:round/>
            </a:ln>
          </p:spPr>
        </p:sp>
        <p:sp>
          <p:nvSpPr>
            <p:cNvPr id="7" name="text 7"/>
            <p:cNvSpPr txBox="1"/>
            <p:nvPr/>
          </p:nvSpPr>
          <p:spPr>
            <a:xfrm>
              <a:off x="3355848" y="493776"/>
              <a:ext cx="2724912" cy="228600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188" b="0" i="0">
                  <a:solidFill>
                    <a:srgbClr val="183EC6"/>
                  </a:solidFill>
                  <a:latin typeface="Arial"/>
                  <a:ea typeface="Arial"/>
                  <a:cs typeface="Arial"/>
                </a:rPr>
                <a:t>Mutual-exclusion example (SAFE_2)</a:t>
              </a:r>
              <a:endParaRPr lang="en-US" sz="1188"/>
            </a:p>
          </p:txBody>
        </p:sp>
        <p:sp>
          <p:nvSpPr>
            <p:cNvPr id="8" name="roundRect 8"/>
            <p:cNvSpPr/>
            <p:nvPr/>
          </p:nvSpPr>
          <p:spPr>
            <a:xfrm>
              <a:off x="2350008" y="246888"/>
              <a:ext cx="320040" cy="246888"/>
            </a:xfrm>
            <a:prstGeom prst="roundRect">
              <a:avLst>
                <a:gd name="adj" fmla="val 29630"/>
              </a:avLst>
            </a:prstGeom>
            <a:solidFill>
              <a:srgbClr val="15191D"/>
            </a:solidFill>
            <a:ln w="9144">
              <a:solidFill>
                <a:srgbClr val="15191D"/>
              </a:solidFill>
              <a:round/>
            </a:ln>
          </p:spPr>
        </p:sp>
        <p:sp>
          <p:nvSpPr>
            <p:cNvPr id="9" name="ellipse 9"/>
            <p:cNvSpPr/>
            <p:nvPr/>
          </p:nvSpPr>
          <p:spPr>
            <a:xfrm>
              <a:off x="2414016" y="310896"/>
              <a:ext cx="64008" cy="64008"/>
            </a:xfrm>
            <a:prstGeom prst="ellipse">
              <a:avLst/>
            </a:prstGeom>
            <a:solidFill>
              <a:srgbClr val="FFFFFF"/>
            </a:solidFill>
            <a:ln w="0">
              <a:noFill/>
              <a:round/>
            </a:ln>
          </p:spPr>
        </p:sp>
        <p:sp>
          <p:nvSpPr>
            <p:cNvPr id="10" name="ellipse 10"/>
            <p:cNvSpPr/>
            <p:nvPr/>
          </p:nvSpPr>
          <p:spPr>
            <a:xfrm>
              <a:off x="2542032" y="310896"/>
              <a:ext cx="64008" cy="64008"/>
            </a:xfrm>
            <a:prstGeom prst="ellipse">
              <a:avLst/>
            </a:prstGeom>
            <a:solidFill>
              <a:srgbClr val="FFFFFF"/>
            </a:solidFill>
            <a:ln w="0">
              <a:noFill/>
              <a:round/>
            </a:ln>
          </p:spPr>
        </p:sp>
        <p:cxnSp>
          <p:nvCxnSpPr>
            <p:cNvPr id="11" name="line 11"/>
            <p:cNvCxnSpPr/>
            <p:nvPr/>
          </p:nvCxnSpPr>
          <p:spPr>
            <a:xfrm>
              <a:off x="2441448" y="420624"/>
              <a:ext cx="137160" cy="1"/>
            </a:xfrm>
            <a:prstGeom prst="line">
              <a:avLst/>
            </a:prstGeom>
            <a:noFill/>
            <a:ln w="13716">
              <a:solidFill>
                <a:srgbClr val="FFFFFF"/>
              </a:solidFill>
              <a:round/>
            </a:ln>
          </p:spPr>
        </p:cxnSp>
        <p:cxnSp>
          <p:nvCxnSpPr>
            <p:cNvPr id="12" name="line 12"/>
            <p:cNvCxnSpPr/>
            <p:nvPr/>
          </p:nvCxnSpPr>
          <p:spPr>
            <a:xfrm flipV="1">
              <a:off x="2505456" y="192024"/>
              <a:ext cx="1" cy="54864"/>
            </a:xfrm>
            <a:prstGeom prst="line">
              <a:avLst/>
            </a:prstGeom>
            <a:noFill/>
            <a:ln w="18288">
              <a:solidFill>
                <a:srgbClr val="15191D"/>
              </a:solidFill>
              <a:round/>
            </a:ln>
          </p:spPr>
        </p:cxnSp>
        <p:sp>
          <p:nvSpPr>
            <p:cNvPr id="13" name="ellipse 13"/>
            <p:cNvSpPr/>
            <p:nvPr/>
          </p:nvSpPr>
          <p:spPr>
            <a:xfrm>
              <a:off x="2468880" y="137160"/>
              <a:ext cx="73152" cy="73152"/>
            </a:xfrm>
            <a:prstGeom prst="ellipse">
              <a:avLst/>
            </a:prstGeom>
            <a:solidFill>
              <a:srgbClr val="15191D"/>
            </a:solidFill>
            <a:ln w="0">
              <a:noFill/>
              <a:round/>
            </a:ln>
          </p:spPr>
        </p:sp>
        <p:sp>
          <p:nvSpPr>
            <p:cNvPr id="14" name="roundRect 14"/>
            <p:cNvSpPr/>
            <p:nvPr/>
          </p:nvSpPr>
          <p:spPr>
            <a:xfrm>
              <a:off x="2304288" y="292608"/>
              <a:ext cx="36576" cy="146304"/>
            </a:xfrm>
            <a:prstGeom prst="roundRect">
              <a:avLst>
                <a:gd name="adj" fmla="val 50000"/>
              </a:avLst>
            </a:prstGeom>
            <a:solidFill>
              <a:srgbClr val="15191D"/>
            </a:solidFill>
            <a:ln w="0">
              <a:noFill/>
              <a:round/>
            </a:ln>
          </p:spPr>
        </p:sp>
        <p:sp>
          <p:nvSpPr>
            <p:cNvPr id="15" name="roundRect 15"/>
            <p:cNvSpPr/>
            <p:nvPr/>
          </p:nvSpPr>
          <p:spPr>
            <a:xfrm>
              <a:off x="2679192" y="292608"/>
              <a:ext cx="36576" cy="146304"/>
            </a:xfrm>
            <a:prstGeom prst="roundRect">
              <a:avLst>
                <a:gd name="adj" fmla="val 50000"/>
              </a:avLst>
            </a:prstGeom>
            <a:solidFill>
              <a:srgbClr val="15191D"/>
            </a:solidFill>
            <a:ln w="0">
              <a:noFill/>
              <a:round/>
            </a:ln>
          </p:spPr>
        </p:sp>
        <p:sp>
          <p:nvSpPr>
            <p:cNvPr id="16" name="path 16"/>
            <p:cNvSpPr/>
            <p:nvPr/>
          </p:nvSpPr>
          <p:spPr>
            <a:xfrm>
              <a:off x="2395728" y="502920"/>
              <a:ext cx="228600" cy="82296"/>
            </a:xfrm>
            <a:custGeom>
              <a:avLst/>
              <a:gdLst/>
              <a:ahLst/>
              <a:cxnLst/>
              <a:rect l="0" t="0" r="r" b="b"/>
              <a:pathLst>
                <a:path w="228600" h="82296">
                  <a:moveTo>
                    <a:pt x="36576" y="0"/>
                  </a:moveTo>
                  <a:lnTo>
                    <a:pt x="192024" y="0"/>
                  </a:lnTo>
                  <a:lnTo>
                    <a:pt x="228600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15191D"/>
            </a:solidFill>
            <a:ln w="0">
              <a:noFill/>
              <a:round/>
            </a:ln>
          </p:spPr>
        </p:sp>
        <p:sp>
          <p:nvSpPr>
            <p:cNvPr id="17" name="path 17"/>
            <p:cNvSpPr/>
            <p:nvPr/>
          </p:nvSpPr>
          <p:spPr>
            <a:xfrm>
              <a:off x="6931152" y="128016"/>
              <a:ext cx="402336" cy="493776"/>
            </a:xfrm>
            <a:custGeom>
              <a:avLst/>
              <a:gdLst/>
              <a:ahLst/>
              <a:cxnLst/>
              <a:rect l="0" t="0" r="r" b="b"/>
              <a:pathLst>
                <a:path w="402336" h="493776">
                  <a:moveTo>
                    <a:pt x="0" y="73152"/>
                  </a:moveTo>
                  <a:lnTo>
                    <a:pt x="201168" y="0"/>
                  </a:lnTo>
                  <a:lnTo>
                    <a:pt x="402336" y="73152"/>
                  </a:lnTo>
                  <a:lnTo>
                    <a:pt x="402336" y="237744"/>
                  </a:lnTo>
                  <a:cubicBezTo>
                    <a:pt x="402336" y="365760"/>
                    <a:pt x="274320" y="448056"/>
                    <a:pt x="201168" y="493776"/>
                  </a:cubicBezTo>
                  <a:cubicBezTo>
                    <a:pt x="128016" y="448056"/>
                    <a:pt x="0" y="365760"/>
                    <a:pt x="0" y="237744"/>
                  </a:cubicBezTo>
                  <a:close/>
                </a:path>
              </a:pathLst>
            </a:custGeom>
            <a:solidFill>
              <a:srgbClr val="15191D"/>
            </a:solidFill>
            <a:ln w="0">
              <a:noFill/>
              <a:round/>
            </a:ln>
          </p:spPr>
        </p:sp>
        <p:sp>
          <p:nvSpPr>
            <p:cNvPr id="18" name="path 18"/>
            <p:cNvSpPr/>
            <p:nvPr/>
          </p:nvSpPr>
          <p:spPr>
            <a:xfrm>
              <a:off x="7031736" y="283464"/>
              <a:ext cx="201168" cy="146304"/>
            </a:xfrm>
            <a:custGeom>
              <a:avLst/>
              <a:gdLst/>
              <a:ahLst/>
              <a:cxnLst/>
              <a:rect l="0" t="0" r="r" b="b"/>
              <a:pathLst>
                <a:path w="201168" h="146304">
                  <a:moveTo>
                    <a:pt x="0" y="73152"/>
                  </a:moveTo>
                  <a:lnTo>
                    <a:pt x="73152" y="146304"/>
                  </a:lnTo>
                  <a:lnTo>
                    <a:pt x="201168" y="0"/>
                  </a:lnTo>
                </a:path>
              </a:pathLst>
            </a:custGeom>
            <a:noFill/>
            <a:ln w="27432">
              <a:solidFill>
                <a:srgbClr val="FFFFFF"/>
              </a:solidFill>
              <a:round/>
            </a:ln>
          </p:spPr>
        </p:sp>
      </p:grpSp>
      <p:grpSp>
        <p:nvGrpSpPr>
          <p:cNvPr id="19" name="Panel 1 background and heading"/>
          <p:cNvGrpSpPr/>
          <p:nvPr/>
        </p:nvGrpSpPr>
        <p:grpSpPr>
          <a:xfrm>
            <a:off x="165964" y="778612"/>
            <a:ext cx="9031529" cy="6169457"/>
            <a:chOff x="165964" y="778612"/>
            <a:chExt cx="9031529" cy="6169457"/>
          </a:xfrm>
        </p:grpSpPr>
        <p:sp>
          <p:nvSpPr>
            <p:cNvPr id="20" name="roundRect 20"/>
            <p:cNvSpPr/>
            <p:nvPr/>
          </p:nvSpPr>
          <p:spPr>
            <a:xfrm>
              <a:off x="182880" y="795528"/>
              <a:ext cx="8997696" cy="6135624"/>
            </a:xfrm>
            <a:prstGeom prst="roundRect">
              <a:avLst>
                <a:gd name="adj" fmla="val 1192"/>
              </a:avLst>
            </a:prstGeom>
            <a:noFill/>
            <a:ln w="15545">
              <a:solidFill>
                <a:srgbClr val="6522B8"/>
              </a:solidFill>
              <a:round/>
            </a:ln>
          </p:spPr>
        </p:sp>
        <p:sp>
          <p:nvSpPr>
            <p:cNvPr id="21" name="ellipse 21"/>
            <p:cNvSpPr/>
            <p:nvPr/>
          </p:nvSpPr>
          <p:spPr>
            <a:xfrm>
              <a:off x="256032" y="841248"/>
              <a:ext cx="411480" cy="411480"/>
            </a:xfrm>
            <a:prstGeom prst="ellipse">
              <a:avLst/>
            </a:prstGeom>
            <a:solidFill>
              <a:srgbClr val="6522B8"/>
            </a:solidFill>
            <a:ln w="0">
              <a:solidFill>
                <a:srgbClr val="6522B8"/>
              </a:solidFill>
              <a:round/>
            </a:ln>
          </p:spPr>
        </p:sp>
        <p:sp>
          <p:nvSpPr>
            <p:cNvPr id="22" name="text 22"/>
            <p:cNvSpPr txBox="1"/>
            <p:nvPr/>
          </p:nvSpPr>
          <p:spPr>
            <a:xfrm>
              <a:off x="265176" y="832104"/>
              <a:ext cx="393192" cy="402336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2232" b="1" i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  <a:endParaRPr lang="en-US" sz="2232"/>
            </a:p>
          </p:txBody>
        </p:sp>
        <p:sp>
          <p:nvSpPr>
            <p:cNvPr id="23" name="text 23"/>
            <p:cNvSpPr txBox="1"/>
            <p:nvPr/>
          </p:nvSpPr>
          <p:spPr>
            <a:xfrm>
              <a:off x="859536" y="822960"/>
              <a:ext cx="8028432" cy="429768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sz="2304" b="1" i="0">
                  <a:solidFill>
                    <a:srgbClr val="6522B8"/>
                  </a:solidFill>
                  <a:latin typeface="Arial"/>
                  <a:ea typeface="Arial"/>
                  <a:cs typeface="Arial"/>
                </a:rPr>
                <a:t>Safety monitor construction</a:t>
              </a:r>
              <a:endParaRPr lang="en-US" sz="2304"/>
            </a:p>
          </p:txBody>
        </p:sp>
      </p:grpSp>
      <p:grpSp>
        <p:nvGrpSpPr>
          <p:cNvPr id="24" name="SAFE_2 and compiled DFA"/>
          <p:cNvGrpSpPr/>
          <p:nvPr/>
        </p:nvGrpSpPr>
        <p:grpSpPr>
          <a:xfrm>
            <a:off x="256032" y="1271016"/>
            <a:ext cx="8851392" cy="2368296"/>
            <a:chOff x="256032" y="1271016"/>
            <a:chExt cx="8851392" cy="2368296"/>
          </a:xfrm>
        </p:grpSpPr>
        <p:sp>
          <p:nvSpPr>
            <p:cNvPr id="25" name="roundRect 25"/>
            <p:cNvSpPr/>
            <p:nvPr/>
          </p:nvSpPr>
          <p:spPr>
            <a:xfrm>
              <a:off x="301752" y="1316736"/>
              <a:ext cx="8759952" cy="2276856"/>
            </a:xfrm>
            <a:prstGeom prst="roundRect">
              <a:avLst>
                <a:gd name="adj" fmla="val 3213"/>
              </a:avLst>
            </a:prstGeom>
            <a:solidFill>
              <a:srgbClr val="EFF7FE"/>
            </a:solidFill>
            <a:ln w="9144">
              <a:solidFill>
                <a:srgbClr val="76A3DE"/>
              </a:solidFill>
              <a:round/>
            </a:ln>
          </p:spPr>
        </p:sp>
        <p:sp>
          <p:nvSpPr>
            <p:cNvPr id="26" name="text 26"/>
            <p:cNvSpPr txBox="1"/>
            <p:nvPr/>
          </p:nvSpPr>
          <p:spPr>
            <a:xfrm>
              <a:off x="457200" y="1399032"/>
              <a:ext cx="4261104" cy="347472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sz="1728" b="1" i="0">
                  <a:solidFill>
                    <a:srgbClr val="183EC6"/>
                  </a:solidFill>
                  <a:latin typeface="Arial"/>
                  <a:ea typeface="Arial"/>
                  <a:cs typeface="Arial"/>
                </a:rPr>
                <a:t>Safety monitor (DFA for SAFE_2)</a:t>
              </a:r>
              <a:endParaRPr lang="en-US" sz="1728"/>
            </a:p>
          </p:txBody>
        </p:sp>
        <p:sp>
          <p:nvSpPr>
            <p:cNvPr id="27" name="roundRect 27"/>
            <p:cNvSpPr/>
            <p:nvPr/>
          </p:nvSpPr>
          <p:spPr>
            <a:xfrm>
              <a:off x="484632" y="1911096"/>
              <a:ext cx="2560320" cy="1069848"/>
            </a:xfrm>
            <a:prstGeom prst="roundRect">
              <a:avLst>
                <a:gd name="adj" fmla="val 6838"/>
              </a:avLst>
            </a:prstGeom>
            <a:solidFill>
              <a:srgbClr val="E5F2FE"/>
            </a:solidFill>
            <a:ln w="9144">
              <a:solidFill>
                <a:srgbClr val="76A3DE"/>
              </a:solidFill>
              <a:round/>
            </a:ln>
          </p:spPr>
        </p:sp>
        <p:sp>
          <p:nvSpPr>
            <p:cNvPr id="28" name="text 28"/>
            <p:cNvSpPr txBox="1"/>
            <p:nvPr/>
          </p:nvSpPr>
          <p:spPr>
            <a:xfrm>
              <a:off x="658368" y="1984248"/>
              <a:ext cx="2203704" cy="320040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2088" b="1" i="0">
                  <a:solidFill>
                    <a:srgbClr val="183EC6"/>
                  </a:solidFill>
                  <a:latin typeface="Arial"/>
                  <a:ea typeface="Arial"/>
                  <a:cs typeface="Arial"/>
                </a:rPr>
                <a:t>SAFE_2</a:t>
              </a:r>
              <a:endParaRPr lang="en-US" sz="2088"/>
            </a:p>
          </p:txBody>
        </p:sp>
        <p:sp>
          <p:nvSpPr>
            <p:cNvPr id="29" name="text 29"/>
            <p:cNvSpPr txBox="1"/>
            <p:nvPr/>
          </p:nvSpPr>
          <p:spPr>
            <a:xfrm>
              <a:off x="594360" y="2432304"/>
              <a:ext cx="2340864" cy="393192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656" b="0" i="1">
                  <a:solidFill>
                    <a:srgbClr val="183EC6"/>
                  </a:solidFill>
                  <a:latin typeface="Cambria"/>
                  <a:ea typeface="Cambria"/>
                  <a:cs typeface="Cambria"/>
                </a:rPr>
                <a:t>G !(ap001 &amp; ap002)</a:t>
              </a:r>
              <a:endParaRPr lang="en-US" sz="1656"/>
            </a:p>
          </p:txBody>
        </p:sp>
        <p:sp>
          <p:nvSpPr>
            <p:cNvPr id="30" name="text 30"/>
            <p:cNvSpPr txBox="1"/>
            <p:nvPr/>
          </p:nvSpPr>
          <p:spPr>
            <a:xfrm>
              <a:off x="3218688" y="2112264"/>
              <a:ext cx="877824" cy="256032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440" b="0" i="0">
                  <a:solidFill>
                    <a:srgbClr val="183EC6"/>
                  </a:solidFill>
                  <a:latin typeface="Arial"/>
                  <a:ea typeface="Arial"/>
                  <a:cs typeface="Arial"/>
                </a:rPr>
                <a:t>Compile</a:t>
              </a:r>
              <a:endParaRPr lang="en-US" sz="1440"/>
            </a:p>
          </p:txBody>
        </p:sp>
        <p:cxnSp>
          <p:nvCxnSpPr>
            <p:cNvPr id="31" name="line 31"/>
            <p:cNvCxnSpPr/>
            <p:nvPr/>
          </p:nvCxnSpPr>
          <p:spPr>
            <a:xfrm>
              <a:off x="3200400" y="2523744"/>
              <a:ext cx="905256" cy="1"/>
            </a:xfrm>
            <a:prstGeom prst="line">
              <a:avLst/>
            </a:prstGeom>
            <a:noFill/>
            <a:ln w="73152">
              <a:solidFill>
                <a:srgbClr val="6522B8"/>
              </a:solidFill>
              <a:round/>
              <a:tailEnd type="triangle" w="med" len="med"/>
            </a:ln>
          </p:spPr>
        </p:cxnSp>
        <p:cxnSp>
          <p:nvCxnSpPr>
            <p:cNvPr id="32" name="line 32"/>
            <p:cNvCxnSpPr/>
            <p:nvPr/>
          </p:nvCxnSpPr>
          <p:spPr>
            <a:xfrm>
              <a:off x="4288536" y="2478024"/>
              <a:ext cx="265176" cy="1"/>
            </a:xfrm>
            <a:prstGeom prst="line">
              <a:avLst/>
            </a:prstGeom>
            <a:noFill/>
            <a:ln w="22860">
              <a:solidFill>
                <a:srgbClr val="15191D"/>
              </a:solidFill>
              <a:round/>
              <a:tailEnd type="triangle" w="med" len="med"/>
            </a:ln>
          </p:spPr>
        </p:cxnSp>
        <p:sp>
          <p:nvSpPr>
            <p:cNvPr id="33" name="ellipse 33"/>
            <p:cNvSpPr/>
            <p:nvPr/>
          </p:nvSpPr>
          <p:spPr>
            <a:xfrm>
              <a:off x="4572000" y="2066544"/>
              <a:ext cx="822960" cy="822960"/>
            </a:xfrm>
            <a:prstGeom prst="ellipse">
              <a:avLst/>
            </a:prstGeom>
            <a:solidFill>
              <a:srgbClr val="F2FAEE"/>
            </a:solidFill>
            <a:ln w="27432">
              <a:solidFill>
                <a:srgbClr val="188725"/>
              </a:solidFill>
              <a:round/>
            </a:ln>
          </p:spPr>
        </p:sp>
        <p:sp>
          <p:nvSpPr>
            <p:cNvPr id="34" name="ellipse 34"/>
            <p:cNvSpPr/>
            <p:nvPr/>
          </p:nvSpPr>
          <p:spPr>
            <a:xfrm>
              <a:off x="4636008" y="2130552"/>
              <a:ext cx="694944" cy="694944"/>
            </a:xfrm>
            <a:prstGeom prst="ellipse">
              <a:avLst/>
            </a:prstGeom>
            <a:noFill/>
            <a:ln w="18288">
              <a:solidFill>
                <a:srgbClr val="188725"/>
              </a:solidFill>
              <a:round/>
            </a:ln>
          </p:spPr>
        </p:sp>
        <p:sp>
          <p:nvSpPr>
            <p:cNvPr id="35" name="ellipse 35"/>
            <p:cNvSpPr/>
            <p:nvPr/>
          </p:nvSpPr>
          <p:spPr>
            <a:xfrm>
              <a:off x="7552944" y="2103120"/>
              <a:ext cx="786384" cy="786384"/>
            </a:xfrm>
            <a:prstGeom prst="ellipse">
              <a:avLst/>
            </a:prstGeom>
            <a:solidFill>
              <a:srgbClr val="FFEEEE"/>
            </a:solidFill>
            <a:ln w="27432">
              <a:solidFill>
                <a:srgbClr val="D62626"/>
              </a:solidFill>
              <a:round/>
            </a:ln>
          </p:spPr>
        </p:sp>
        <p:sp>
          <p:nvSpPr>
            <p:cNvPr id="36" name="text 36"/>
            <p:cNvSpPr txBox="1"/>
            <p:nvPr/>
          </p:nvSpPr>
          <p:spPr>
            <a:xfrm>
              <a:off x="4672584" y="2176272"/>
              <a:ext cx="621792" cy="530352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2664" b="0" i="1">
                  <a:solidFill>
                    <a:srgbClr val="183EC6"/>
                  </a:solidFill>
                  <a:latin typeface="Cambria"/>
                  <a:ea typeface="Cambria"/>
                  <a:cs typeface="Cambria"/>
                </a:rPr>
                <a:t>q</a:t>
              </a:r>
              <a:r>
                <a:rPr lang="en-US" sz="1812" b="0" i="1" baseline="-27000">
                  <a:solidFill>
                    <a:srgbClr val="183EC6"/>
                  </a:solidFill>
                  <a:latin typeface="Cambria"/>
                  <a:ea typeface="Cambria"/>
                  <a:cs typeface="Cambria"/>
                </a:rPr>
                <a:t>0</a:t>
              </a:r>
              <a:endParaRPr lang="en-US" sz="2664"/>
            </a:p>
          </p:txBody>
        </p:sp>
        <p:sp>
          <p:nvSpPr>
            <p:cNvPr id="37" name="text 37"/>
            <p:cNvSpPr txBox="1"/>
            <p:nvPr/>
          </p:nvSpPr>
          <p:spPr>
            <a:xfrm>
              <a:off x="7635240" y="2176272"/>
              <a:ext cx="621792" cy="530352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2664" b="0" i="1">
                  <a:solidFill>
                    <a:srgbClr val="183EC6"/>
                  </a:solidFill>
                  <a:latin typeface="Cambria"/>
                  <a:ea typeface="Cambria"/>
                  <a:cs typeface="Cambria"/>
                </a:rPr>
                <a:t>q</a:t>
              </a:r>
              <a:r>
                <a:rPr lang="en-US" sz="1812" b="0" i="1" baseline="-27000">
                  <a:solidFill>
                    <a:srgbClr val="183EC6"/>
                  </a:solidFill>
                  <a:latin typeface="Cambria"/>
                  <a:ea typeface="Cambria"/>
                  <a:cs typeface="Cambria"/>
                </a:rPr>
                <a:t>d</a:t>
              </a:r>
              <a:endParaRPr lang="en-US" sz="2664"/>
            </a:p>
          </p:txBody>
        </p:sp>
        <p:cxnSp>
          <p:nvCxnSpPr>
            <p:cNvPr id="38" name="line 38"/>
            <p:cNvCxnSpPr/>
            <p:nvPr/>
          </p:nvCxnSpPr>
          <p:spPr>
            <a:xfrm>
              <a:off x="5404104" y="2478024"/>
              <a:ext cx="2148840" cy="1"/>
            </a:xfrm>
            <a:prstGeom prst="line">
              <a:avLst/>
            </a:prstGeom>
            <a:noFill/>
            <a:ln w="23774">
              <a:solidFill>
                <a:srgbClr val="15191D"/>
              </a:solidFill>
              <a:round/>
              <a:tailEnd type="triangle" w="med" len="med"/>
            </a:ln>
          </p:spPr>
        </p:cxnSp>
        <p:sp>
          <p:nvSpPr>
            <p:cNvPr id="39" name="text 39"/>
            <p:cNvSpPr txBox="1"/>
            <p:nvPr/>
          </p:nvSpPr>
          <p:spPr>
            <a:xfrm>
              <a:off x="5522976" y="2148840"/>
              <a:ext cx="1984248" cy="274320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656" b="0" i="1">
                  <a:solidFill>
                    <a:srgbClr val="183EC6"/>
                  </a:solidFill>
                  <a:latin typeface="Cambria"/>
                  <a:ea typeface="Cambria"/>
                  <a:cs typeface="Cambria"/>
                </a:rPr>
                <a:t>ap001 &amp; ap002</a:t>
              </a:r>
              <a:endParaRPr lang="en-US" sz="1656"/>
            </a:p>
          </p:txBody>
        </p:sp>
        <p:sp>
          <p:nvSpPr>
            <p:cNvPr id="40" name="path 40"/>
            <p:cNvSpPr/>
            <p:nvPr/>
          </p:nvSpPr>
          <p:spPr>
            <a:xfrm>
              <a:off x="4581144" y="1600200"/>
              <a:ext cx="786384" cy="466344"/>
            </a:xfrm>
            <a:custGeom>
              <a:avLst/>
              <a:gdLst/>
              <a:ahLst/>
              <a:cxnLst/>
              <a:rect l="0" t="0" r="r" b="b"/>
              <a:pathLst>
                <a:path w="786384" h="466344">
                  <a:moveTo>
                    <a:pt x="274320" y="466344"/>
                  </a:moveTo>
                  <a:cubicBezTo>
                    <a:pt x="0" y="9144"/>
                    <a:pt x="786384" y="0"/>
                    <a:pt x="512064" y="466344"/>
                  </a:cubicBezTo>
                </a:path>
              </a:pathLst>
            </a:custGeom>
            <a:noFill/>
            <a:ln w="21946">
              <a:solidFill>
                <a:srgbClr val="15191D"/>
              </a:solidFill>
              <a:round/>
              <a:tailEnd type="triangle" w="med" len="med"/>
            </a:ln>
          </p:spPr>
        </p:sp>
        <p:sp>
          <p:nvSpPr>
            <p:cNvPr id="41" name="text 41"/>
            <p:cNvSpPr txBox="1"/>
            <p:nvPr/>
          </p:nvSpPr>
          <p:spPr>
            <a:xfrm>
              <a:off x="5266944" y="1627632"/>
              <a:ext cx="2167128" cy="301752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656" b="0" i="1">
                  <a:solidFill>
                    <a:srgbClr val="183EC6"/>
                  </a:solidFill>
                  <a:latin typeface="Cambria"/>
                  <a:ea typeface="Cambria"/>
                  <a:cs typeface="Cambria"/>
                </a:rPr>
                <a:t>!(ap001 &amp; ap002)</a:t>
              </a:r>
              <a:endParaRPr lang="en-US" sz="1656"/>
            </a:p>
          </p:txBody>
        </p:sp>
        <p:sp>
          <p:nvSpPr>
            <p:cNvPr id="42" name="path 42"/>
            <p:cNvSpPr/>
            <p:nvPr/>
          </p:nvSpPr>
          <p:spPr>
            <a:xfrm>
              <a:off x="7525512" y="1673352"/>
              <a:ext cx="749808" cy="429768"/>
            </a:xfrm>
            <a:custGeom>
              <a:avLst/>
              <a:gdLst/>
              <a:ahLst/>
              <a:cxnLst/>
              <a:rect l="0" t="0" r="r" b="b"/>
              <a:pathLst>
                <a:path w="749808" h="429768">
                  <a:moveTo>
                    <a:pt x="256032" y="429768"/>
                  </a:moveTo>
                  <a:cubicBezTo>
                    <a:pt x="0" y="73152"/>
                    <a:pt x="749808" y="0"/>
                    <a:pt x="502920" y="429768"/>
                  </a:cubicBezTo>
                </a:path>
              </a:pathLst>
            </a:custGeom>
            <a:noFill/>
            <a:ln w="21946">
              <a:solidFill>
                <a:srgbClr val="15191D"/>
              </a:solidFill>
              <a:round/>
              <a:tailEnd type="triangle" w="med" len="med"/>
            </a:ln>
          </p:spPr>
        </p:sp>
        <p:sp>
          <p:nvSpPr>
            <p:cNvPr id="43" name="text 43"/>
            <p:cNvSpPr txBox="1"/>
            <p:nvPr/>
          </p:nvSpPr>
          <p:spPr>
            <a:xfrm>
              <a:off x="7424928" y="1517904"/>
              <a:ext cx="1005840" cy="283464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728" b="0" i="1">
                  <a:solidFill>
                    <a:srgbClr val="183EC6"/>
                  </a:solidFill>
                  <a:latin typeface="Cambria"/>
                  <a:ea typeface="Cambria"/>
                  <a:cs typeface="Cambria"/>
                </a:rPr>
                <a:t>true</a:t>
              </a:r>
              <a:endParaRPr lang="en-US" sz="1728"/>
            </a:p>
          </p:txBody>
        </p:sp>
        <p:sp>
          <p:nvSpPr>
            <p:cNvPr id="44" name="text 44"/>
            <p:cNvSpPr txBox="1"/>
            <p:nvPr/>
          </p:nvSpPr>
          <p:spPr>
            <a:xfrm>
              <a:off x="4206240" y="2907792"/>
              <a:ext cx="1554480" cy="310896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800" b="1" i="0">
                  <a:solidFill>
                    <a:srgbClr val="188725"/>
                  </a:solidFill>
                  <a:latin typeface="Arial"/>
                  <a:ea typeface="Arial"/>
                  <a:cs typeface="Arial"/>
                </a:rPr>
                <a:t>No violation</a:t>
              </a:r>
              <a:endParaRPr lang="en-US" sz="1800"/>
            </a:p>
          </p:txBody>
        </p:sp>
        <p:sp>
          <p:nvSpPr>
            <p:cNvPr id="45" name="text 45"/>
            <p:cNvSpPr txBox="1"/>
            <p:nvPr/>
          </p:nvSpPr>
          <p:spPr>
            <a:xfrm>
              <a:off x="7296912" y="2907792"/>
              <a:ext cx="1325880" cy="310896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800" b="1" i="0">
                  <a:solidFill>
                    <a:srgbClr val="D62626"/>
                  </a:solidFill>
                  <a:latin typeface="Arial"/>
                  <a:ea typeface="Arial"/>
                  <a:cs typeface="Arial"/>
                </a:rPr>
                <a:t>Violation</a:t>
              </a:r>
              <a:endParaRPr lang="en-US" sz="1800"/>
            </a:p>
          </p:txBody>
        </p:sp>
        <p:sp>
          <p:nvSpPr>
            <p:cNvPr id="46" name="text 46"/>
            <p:cNvSpPr txBox="1"/>
            <p:nvPr/>
          </p:nvSpPr>
          <p:spPr>
            <a:xfrm>
              <a:off x="2761488" y="3236976"/>
              <a:ext cx="4297680" cy="256032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296" b="0" i="0">
                  <a:solidFill>
                    <a:srgbClr val="183EC6"/>
                  </a:solidFill>
                  <a:latin typeface="Arial"/>
                  <a:ea typeface="Arial"/>
                  <a:cs typeface="Arial"/>
                </a:rPr>
                <a:t>Monitor state retained from accepted history.</a:t>
              </a:r>
              <a:endParaRPr lang="en-US" sz="1296"/>
            </a:p>
          </p:txBody>
        </p:sp>
      </p:grpSp>
      <p:grpSp>
        <p:nvGrpSpPr>
          <p:cNvPr id="47" name="New recovery and bound program"/>
          <p:cNvGrpSpPr/>
          <p:nvPr/>
        </p:nvGrpSpPr>
        <p:grpSpPr>
          <a:xfrm>
            <a:off x="288036" y="3835908"/>
            <a:ext cx="2633472" cy="3035808"/>
            <a:chOff x="288036" y="3835908"/>
            <a:chExt cx="2633472" cy="3035808"/>
          </a:xfrm>
        </p:grpSpPr>
        <p:sp>
          <p:nvSpPr>
            <p:cNvPr id="48" name="roundRect 48"/>
            <p:cNvSpPr/>
            <p:nvPr/>
          </p:nvSpPr>
          <p:spPr>
            <a:xfrm>
              <a:off x="301752" y="3849624"/>
              <a:ext cx="2606040" cy="3008376"/>
            </a:xfrm>
            <a:prstGeom prst="roundRect">
              <a:avLst>
                <a:gd name="adj" fmla="val 2807"/>
              </a:avLst>
            </a:prstGeom>
            <a:solidFill>
              <a:srgbClr val="FFF8EE"/>
            </a:solidFill>
            <a:ln w="9144">
              <a:solidFill>
                <a:srgbClr val="E77A27"/>
              </a:solidFill>
              <a:round/>
            </a:ln>
          </p:spPr>
        </p:sp>
        <p:sp>
          <p:nvSpPr>
            <p:cNvPr id="49" name="text 49"/>
            <p:cNvSpPr txBox="1"/>
            <p:nvPr/>
          </p:nvSpPr>
          <p:spPr>
            <a:xfrm>
              <a:off x="402336" y="3904488"/>
              <a:ext cx="2404872" cy="301752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872" b="1" i="0">
                  <a:solidFill>
                    <a:srgbClr val="D62626"/>
                  </a:solidFill>
                  <a:latin typeface="Arial"/>
                  <a:ea typeface="Arial"/>
                  <a:cs typeface="Arial"/>
                </a:rPr>
                <a:t>New recovery</a:t>
              </a:r>
              <a:endParaRPr lang="en-US" sz="1872"/>
            </a:p>
          </p:txBody>
        </p:sp>
        <p:sp>
          <p:nvSpPr>
            <p:cNvPr id="50" name="roundRect 50"/>
            <p:cNvSpPr/>
            <p:nvPr/>
          </p:nvSpPr>
          <p:spPr>
            <a:xfrm>
              <a:off x="402336" y="4233672"/>
              <a:ext cx="2404872" cy="1737360"/>
            </a:xfrm>
            <a:prstGeom prst="roundRect">
              <a:avLst>
                <a:gd name="adj" fmla="val 4211"/>
              </a:avLst>
            </a:prstGeom>
            <a:solidFill>
              <a:srgbClr val="FFFBF5"/>
            </a:solidFill>
            <a:ln w="6401">
              <a:solidFill>
                <a:srgbClr val="E77A27"/>
              </a:solidFill>
              <a:round/>
            </a:ln>
          </p:spPr>
        </p:sp>
        <p:sp>
          <p:nvSpPr>
            <p:cNvPr id="51" name="text 51"/>
            <p:cNvSpPr txBox="1"/>
            <p:nvPr/>
          </p:nvSpPr>
          <p:spPr>
            <a:xfrm>
              <a:off x="905256" y="4544568"/>
              <a:ext cx="384048" cy="493776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2880" b="0" i="1">
                  <a:solidFill>
                    <a:srgbClr val="D62626"/>
                  </a:solidFill>
                  <a:latin typeface="Cambria"/>
                  <a:ea typeface="Cambria"/>
                  <a:cs typeface="Cambria"/>
                </a:rPr>
                <a:t>e</a:t>
              </a:r>
              <a:endParaRPr lang="en-US" sz="2880"/>
            </a:p>
          </p:txBody>
        </p:sp>
        <p:sp>
          <p:nvSpPr>
            <p:cNvPr id="52" name="text 52"/>
            <p:cNvSpPr txBox="1"/>
            <p:nvPr/>
          </p:nvSpPr>
          <p:spPr>
            <a:xfrm>
              <a:off x="1207008" y="4462272"/>
              <a:ext cx="274320" cy="265176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728" b="0" i="1">
                  <a:solidFill>
                    <a:srgbClr val="D62626"/>
                  </a:solidFill>
                  <a:latin typeface="Cambria"/>
                  <a:ea typeface="Cambria"/>
                  <a:cs typeface="Cambria"/>
                </a:rPr>
                <a:t>R</a:t>
              </a:r>
              <a:endParaRPr lang="en-US" sz="1728"/>
            </a:p>
          </p:txBody>
        </p:sp>
        <p:sp>
          <p:nvSpPr>
            <p:cNvPr id="53" name="text 53"/>
            <p:cNvSpPr txBox="1"/>
            <p:nvPr/>
          </p:nvSpPr>
          <p:spPr>
            <a:xfrm>
              <a:off x="1207008" y="4773168"/>
              <a:ext cx="237744" cy="256032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656" b="0" i="1">
                  <a:solidFill>
                    <a:srgbClr val="D62626"/>
                  </a:solidFill>
                  <a:latin typeface="Cambria"/>
                  <a:ea typeface="Cambria"/>
                  <a:cs typeface="Cambria"/>
                </a:rPr>
                <a:t>k</a:t>
              </a:r>
              <a:endParaRPr lang="en-US" sz="1656"/>
            </a:p>
          </p:txBody>
        </p:sp>
        <p:sp>
          <p:nvSpPr>
            <p:cNvPr id="54" name="text 54"/>
            <p:cNvSpPr txBox="1"/>
            <p:nvPr/>
          </p:nvSpPr>
          <p:spPr>
            <a:xfrm>
              <a:off x="1435608" y="4636008"/>
              <a:ext cx="173736" cy="374904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2376" b="0" i="1">
                  <a:solidFill>
                    <a:srgbClr val="D62626"/>
                  </a:solidFill>
                  <a:latin typeface="Cambria"/>
                  <a:ea typeface="Cambria"/>
                  <a:cs typeface="Cambria"/>
                </a:rPr>
                <a:t>,</a:t>
              </a:r>
              <a:endParaRPr lang="en-US" sz="2376"/>
            </a:p>
          </p:txBody>
        </p:sp>
        <p:sp>
          <p:nvSpPr>
            <p:cNvPr id="55" name="text 55"/>
            <p:cNvSpPr txBox="1"/>
            <p:nvPr/>
          </p:nvSpPr>
          <p:spPr>
            <a:xfrm>
              <a:off x="1655064" y="4544568"/>
              <a:ext cx="384048" cy="493776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2880" b="0" i="1">
                  <a:solidFill>
                    <a:srgbClr val="D62626"/>
                  </a:solidFill>
                  <a:latin typeface="Cambria"/>
                  <a:ea typeface="Cambria"/>
                  <a:cs typeface="Cambria"/>
                </a:rPr>
                <a:t>x</a:t>
              </a:r>
              <a:endParaRPr lang="en-US" sz="2880"/>
            </a:p>
          </p:txBody>
        </p:sp>
        <p:sp>
          <p:nvSpPr>
            <p:cNvPr id="56" name="text 56"/>
            <p:cNvSpPr txBox="1"/>
            <p:nvPr/>
          </p:nvSpPr>
          <p:spPr>
            <a:xfrm>
              <a:off x="1965960" y="4462272"/>
              <a:ext cx="274320" cy="265176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728" b="0" i="1">
                  <a:solidFill>
                    <a:srgbClr val="D62626"/>
                  </a:solidFill>
                  <a:latin typeface="Cambria"/>
                  <a:ea typeface="Cambria"/>
                  <a:cs typeface="Cambria"/>
                </a:rPr>
                <a:t>R</a:t>
              </a:r>
              <a:endParaRPr lang="en-US" sz="1728"/>
            </a:p>
          </p:txBody>
        </p:sp>
        <p:sp>
          <p:nvSpPr>
            <p:cNvPr id="57" name="text 57"/>
            <p:cNvSpPr txBox="1"/>
            <p:nvPr/>
          </p:nvSpPr>
          <p:spPr>
            <a:xfrm>
              <a:off x="1965960" y="4773168"/>
              <a:ext cx="237744" cy="256032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656" b="0" i="1">
                  <a:solidFill>
                    <a:srgbClr val="D62626"/>
                  </a:solidFill>
                  <a:latin typeface="Cambria"/>
                  <a:ea typeface="Cambria"/>
                  <a:cs typeface="Cambria"/>
                </a:rPr>
                <a:t>k</a:t>
              </a:r>
              <a:endParaRPr lang="en-US" sz="1656"/>
            </a:p>
          </p:txBody>
        </p:sp>
        <p:sp>
          <p:nvSpPr>
            <p:cNvPr id="58" name="text 58"/>
            <p:cNvSpPr txBox="1"/>
            <p:nvPr/>
          </p:nvSpPr>
          <p:spPr>
            <a:xfrm>
              <a:off x="521208" y="5038344"/>
              <a:ext cx="1389888" cy="384048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800" b="0" i="0">
                  <a:solidFill>
                    <a:srgbClr val="183EC6"/>
                  </a:solidFill>
                  <a:latin typeface="Arial"/>
                  <a:ea typeface="Arial"/>
                  <a:cs typeface="Arial"/>
                </a:rPr>
                <a:t>RA program</a:t>
              </a:r>
              <a:endParaRPr lang="en-US" sz="1800"/>
            </a:p>
          </p:txBody>
        </p:sp>
        <p:sp>
          <p:nvSpPr>
            <p:cNvPr id="59" name="text 59"/>
            <p:cNvSpPr txBox="1"/>
            <p:nvPr/>
          </p:nvSpPr>
          <p:spPr>
            <a:xfrm>
              <a:off x="1929384" y="5020056"/>
              <a:ext cx="539496" cy="393192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2232" b="0" i="1">
                  <a:solidFill>
                    <a:srgbClr val="183EC6"/>
                  </a:solidFill>
                  <a:latin typeface="Cambria"/>
                  <a:ea typeface="Cambria"/>
                  <a:cs typeface="Cambria"/>
                </a:rPr>
                <a:t>PC</a:t>
              </a:r>
              <a:endParaRPr lang="en-US" sz="2232"/>
            </a:p>
          </p:txBody>
        </p:sp>
        <p:sp>
          <p:nvSpPr>
            <p:cNvPr id="60" name="text 60"/>
            <p:cNvSpPr txBox="1"/>
            <p:nvPr/>
          </p:nvSpPr>
          <p:spPr>
            <a:xfrm>
              <a:off x="2414016" y="5248656"/>
              <a:ext cx="182880" cy="228600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440" b="0" i="1">
                  <a:solidFill>
                    <a:srgbClr val="183EC6"/>
                  </a:solidFill>
                  <a:latin typeface="Cambria"/>
                  <a:ea typeface="Cambria"/>
                  <a:cs typeface="Cambria"/>
                </a:rPr>
                <a:t>k</a:t>
              </a:r>
              <a:endParaRPr lang="en-US" sz="1440"/>
            </a:p>
          </p:txBody>
        </p:sp>
        <p:sp>
          <p:nvSpPr>
            <p:cNvPr id="61" name="text 61"/>
            <p:cNvSpPr txBox="1"/>
            <p:nvPr/>
          </p:nvSpPr>
          <p:spPr>
            <a:xfrm>
              <a:off x="493776" y="5468112"/>
              <a:ext cx="2231136" cy="338328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512" b="0" i="0">
                  <a:solidFill>
                    <a:srgbClr val="15191D"/>
                  </a:solidFill>
                  <a:latin typeface="Arial"/>
                  <a:ea typeface="Arial"/>
                  <a:cs typeface="Arial"/>
                </a:rPr>
                <a:t>... move_cartesian ...</a:t>
              </a:r>
              <a:endParaRPr lang="en-US" sz="1512"/>
            </a:p>
          </p:txBody>
        </p:sp>
        <p:sp>
          <p:nvSpPr>
            <p:cNvPr id="62" name="text 62"/>
            <p:cNvSpPr txBox="1"/>
            <p:nvPr/>
          </p:nvSpPr>
          <p:spPr>
            <a:xfrm>
              <a:off x="411480" y="6062472"/>
              <a:ext cx="2377440" cy="429768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296" b="0" i="0">
                  <a:solidFill>
                    <a:srgbClr val="15191D"/>
                  </a:solidFill>
                  <a:latin typeface="Arial"/>
                  <a:ea typeface="Arial"/>
                  <a:cs typeface="Arial"/>
                </a:rPr>
                <a:t>Event and proposed</a:t>
              </a:r>
              <a:endParaRPr lang="en-US" sz="1296"/>
            </a:p>
            <a:p>
              <a:pPr algn="ctr">
                <a:lnSpc>
                  <a:spcPct val="110000"/>
                </a:lnSpc>
              </a:pPr>
              <a:r>
                <a:rPr lang="en-US" sz="1296" b="0" i="0">
                  <a:solidFill>
                    <a:srgbClr val="15191D"/>
                  </a:solidFill>
                  <a:latin typeface="Arial"/>
                  <a:ea typeface="Arial"/>
                  <a:cs typeface="Arial"/>
                </a:rPr>
                <a:t>successor</a:t>
              </a:r>
              <a:endParaRPr lang="en-US" sz="1296"/>
            </a:p>
          </p:txBody>
        </p:sp>
      </p:grpSp>
      <p:grpSp>
        <p:nvGrpSpPr>
          <p:cNvPr id="63" name="Primitive models and observations"/>
          <p:cNvGrpSpPr/>
          <p:nvPr/>
        </p:nvGrpSpPr>
        <p:grpSpPr>
          <a:xfrm>
            <a:off x="2980944" y="3776472"/>
            <a:ext cx="3108960" cy="3154680"/>
            <a:chOff x="2980944" y="3776472"/>
            <a:chExt cx="3108960" cy="3154680"/>
          </a:xfrm>
        </p:grpSpPr>
        <p:sp>
          <p:nvSpPr>
            <p:cNvPr id="64" name="roundRect 64"/>
            <p:cNvSpPr/>
            <p:nvPr/>
          </p:nvSpPr>
          <p:spPr>
            <a:xfrm>
              <a:off x="3054096" y="3849624"/>
              <a:ext cx="2962656" cy="3008376"/>
            </a:xfrm>
            <a:prstGeom prst="roundRect">
              <a:avLst>
                <a:gd name="adj" fmla="val 2469"/>
              </a:avLst>
            </a:prstGeom>
            <a:solidFill>
              <a:srgbClr val="F4FAFE"/>
            </a:solidFill>
            <a:ln w="9144">
              <a:solidFill>
                <a:srgbClr val="76A3DE"/>
              </a:solidFill>
              <a:round/>
            </a:ln>
          </p:spPr>
        </p:sp>
        <p:sp>
          <p:nvSpPr>
            <p:cNvPr id="65" name="text 65"/>
            <p:cNvSpPr txBox="1"/>
            <p:nvPr/>
          </p:nvSpPr>
          <p:spPr>
            <a:xfrm>
              <a:off x="3154680" y="3904488"/>
              <a:ext cx="2752344" cy="292608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800" b="1" i="0">
                  <a:solidFill>
                    <a:srgbClr val="183EC6"/>
                  </a:solidFill>
                  <a:latin typeface="Arial"/>
                  <a:ea typeface="Arial"/>
                  <a:cs typeface="Arial"/>
                </a:rPr>
                <a:t>Primitive models</a:t>
              </a:r>
              <a:endParaRPr lang="en-US" sz="1800"/>
            </a:p>
          </p:txBody>
        </p:sp>
        <p:sp>
          <p:nvSpPr>
            <p:cNvPr id="66" name="ellipse 66"/>
            <p:cNvSpPr/>
            <p:nvPr/>
          </p:nvSpPr>
          <p:spPr>
            <a:xfrm>
              <a:off x="3776472" y="4983480"/>
              <a:ext cx="1298448" cy="539496"/>
            </a:xfrm>
            <a:prstGeom prst="ellipse">
              <a:avLst/>
            </a:prstGeom>
            <a:solidFill>
              <a:srgbClr val="FCE4F1"/>
            </a:solidFill>
            <a:ln w="13716">
              <a:solidFill>
                <a:srgbClr val="F335AE"/>
              </a:solidFill>
              <a:prstDash val="dash"/>
              <a:round/>
            </a:ln>
          </p:spPr>
        </p:sp>
        <p:sp>
          <p:nvSpPr>
            <p:cNvPr id="67" name="ellipse 67"/>
            <p:cNvSpPr/>
            <p:nvPr/>
          </p:nvSpPr>
          <p:spPr>
            <a:xfrm>
              <a:off x="3995928" y="4873752"/>
              <a:ext cx="512064" cy="521208"/>
            </a:xfrm>
            <a:prstGeom prst="ellipse">
              <a:avLst/>
            </a:prstGeom>
            <a:solidFill>
              <a:srgbClr val="AAD5F5">
                <a:alpha val="55000"/>
              </a:srgbClr>
            </a:solidFill>
            <a:ln w="0">
              <a:noFill/>
              <a:round/>
            </a:ln>
          </p:spPr>
        </p:sp>
        <p:sp>
          <p:nvSpPr>
            <p:cNvPr id="68" name="ellipse 68"/>
            <p:cNvSpPr/>
            <p:nvPr/>
          </p:nvSpPr>
          <p:spPr>
            <a:xfrm>
              <a:off x="5340096" y="5184648"/>
              <a:ext cx="576072" cy="265176"/>
            </a:xfrm>
            <a:prstGeom prst="ellipse">
              <a:avLst/>
            </a:prstGeom>
            <a:solidFill>
              <a:srgbClr val="E6F5FE"/>
            </a:solidFill>
            <a:ln w="10058">
              <a:solidFill>
                <a:srgbClr val="3EA9E9"/>
              </a:solidFill>
              <a:prstDash val="dash"/>
              <a:round/>
            </a:ln>
          </p:spPr>
        </p:sp>
        <p:sp>
          <p:nvSpPr>
            <p:cNvPr id="69" name="ellipse 69"/>
            <p:cNvSpPr/>
            <p:nvPr/>
          </p:nvSpPr>
          <p:spPr>
            <a:xfrm>
              <a:off x="3273552" y="5330952"/>
              <a:ext cx="411480" cy="118872"/>
            </a:xfrm>
            <a:prstGeom prst="ellipse">
              <a:avLst/>
            </a:prstGeom>
            <a:solidFill>
              <a:srgbClr val="D5D7D8"/>
            </a:solidFill>
            <a:ln w="0">
              <a:noFill/>
              <a:round/>
            </a:ln>
          </p:spPr>
        </p:sp>
        <p:sp>
          <p:nvSpPr>
            <p:cNvPr id="70" name="rect 70"/>
            <p:cNvSpPr/>
            <p:nvPr/>
          </p:nvSpPr>
          <p:spPr>
            <a:xfrm>
              <a:off x="3337560" y="5285232"/>
              <a:ext cx="283464" cy="91440"/>
            </a:xfrm>
            <a:prstGeom prst="rect">
              <a:avLst/>
            </a:prstGeom>
            <a:solidFill>
              <a:srgbClr val="D7DADD"/>
            </a:solidFill>
            <a:ln w="16459">
              <a:solidFill>
                <a:srgbClr val="15191D"/>
              </a:solidFill>
              <a:round/>
            </a:ln>
          </p:spPr>
        </p:sp>
        <p:cxnSp>
          <p:nvCxnSpPr>
            <p:cNvPr id="71" name="line 71"/>
            <p:cNvCxnSpPr/>
            <p:nvPr/>
          </p:nvCxnSpPr>
          <p:spPr>
            <a:xfrm flipV="1">
              <a:off x="3474720" y="4974336"/>
              <a:ext cx="82296" cy="365760"/>
            </a:xfrm>
            <a:prstGeom prst="line">
              <a:avLst/>
            </a:prstGeom>
            <a:noFill/>
            <a:ln w="128016">
              <a:solidFill>
                <a:srgbClr val="15191D"/>
              </a:solidFill>
              <a:round/>
            </a:ln>
          </p:spPr>
        </p:cxnSp>
        <p:cxnSp>
          <p:nvCxnSpPr>
            <p:cNvPr id="72" name="line 72"/>
            <p:cNvCxnSpPr/>
            <p:nvPr/>
          </p:nvCxnSpPr>
          <p:spPr>
            <a:xfrm flipV="1">
              <a:off x="3474720" y="4974336"/>
              <a:ext cx="82296" cy="365760"/>
            </a:xfrm>
            <a:prstGeom prst="line">
              <a:avLst/>
            </a:prstGeom>
            <a:noFill/>
            <a:ln w="82296">
              <a:solidFill>
                <a:srgbClr val="F1F2F2"/>
              </a:solidFill>
              <a:round/>
            </a:ln>
          </p:spPr>
        </p:cxnSp>
        <p:cxnSp>
          <p:nvCxnSpPr>
            <p:cNvPr id="73" name="line 73"/>
            <p:cNvCxnSpPr/>
            <p:nvPr/>
          </p:nvCxnSpPr>
          <p:spPr>
            <a:xfrm flipV="1">
              <a:off x="3557016" y="4517136"/>
              <a:ext cx="237744" cy="457200"/>
            </a:xfrm>
            <a:prstGeom prst="line">
              <a:avLst/>
            </a:prstGeom>
            <a:noFill/>
            <a:ln w="128016">
              <a:solidFill>
                <a:srgbClr val="15191D"/>
              </a:solidFill>
              <a:round/>
            </a:ln>
          </p:spPr>
        </p:cxnSp>
        <p:cxnSp>
          <p:nvCxnSpPr>
            <p:cNvPr id="74" name="line 74"/>
            <p:cNvCxnSpPr/>
            <p:nvPr/>
          </p:nvCxnSpPr>
          <p:spPr>
            <a:xfrm flipV="1">
              <a:off x="3557016" y="4517136"/>
              <a:ext cx="237744" cy="457200"/>
            </a:xfrm>
            <a:prstGeom prst="line">
              <a:avLst/>
            </a:prstGeom>
            <a:noFill/>
            <a:ln w="82296">
              <a:solidFill>
                <a:srgbClr val="F1F2F2"/>
              </a:solidFill>
              <a:round/>
            </a:ln>
          </p:spPr>
        </p:cxnSp>
        <p:cxnSp>
          <p:nvCxnSpPr>
            <p:cNvPr id="75" name="line 75"/>
            <p:cNvCxnSpPr/>
            <p:nvPr/>
          </p:nvCxnSpPr>
          <p:spPr>
            <a:xfrm>
              <a:off x="3794760" y="4517136"/>
              <a:ext cx="356616" cy="201168"/>
            </a:xfrm>
            <a:prstGeom prst="line">
              <a:avLst/>
            </a:prstGeom>
            <a:noFill/>
            <a:ln w="128016">
              <a:solidFill>
                <a:srgbClr val="15191D"/>
              </a:solidFill>
              <a:round/>
            </a:ln>
          </p:spPr>
        </p:cxnSp>
        <p:cxnSp>
          <p:nvCxnSpPr>
            <p:cNvPr id="76" name="line 76"/>
            <p:cNvCxnSpPr/>
            <p:nvPr/>
          </p:nvCxnSpPr>
          <p:spPr>
            <a:xfrm>
              <a:off x="3794760" y="4517136"/>
              <a:ext cx="356616" cy="201168"/>
            </a:xfrm>
            <a:prstGeom prst="line">
              <a:avLst/>
            </a:prstGeom>
            <a:noFill/>
            <a:ln w="82296">
              <a:solidFill>
                <a:srgbClr val="F1F2F2"/>
              </a:solidFill>
              <a:round/>
            </a:ln>
          </p:spPr>
        </p:cxnSp>
        <p:cxnSp>
          <p:nvCxnSpPr>
            <p:cNvPr id="77" name="line 77"/>
            <p:cNvCxnSpPr/>
            <p:nvPr/>
          </p:nvCxnSpPr>
          <p:spPr>
            <a:xfrm>
              <a:off x="4151376" y="4718304"/>
              <a:ext cx="82296" cy="201168"/>
            </a:xfrm>
            <a:prstGeom prst="line">
              <a:avLst/>
            </a:prstGeom>
            <a:noFill/>
            <a:ln w="128016">
              <a:solidFill>
                <a:srgbClr val="15191D"/>
              </a:solidFill>
              <a:round/>
            </a:ln>
          </p:spPr>
        </p:cxnSp>
        <p:cxnSp>
          <p:nvCxnSpPr>
            <p:cNvPr id="78" name="line 78"/>
            <p:cNvCxnSpPr/>
            <p:nvPr/>
          </p:nvCxnSpPr>
          <p:spPr>
            <a:xfrm>
              <a:off x="4151376" y="4718304"/>
              <a:ext cx="82296" cy="201168"/>
            </a:xfrm>
            <a:prstGeom prst="line">
              <a:avLst/>
            </a:prstGeom>
            <a:noFill/>
            <a:ln w="82296">
              <a:solidFill>
                <a:srgbClr val="F1F2F2"/>
              </a:solidFill>
              <a:round/>
            </a:ln>
          </p:spPr>
        </p:cxnSp>
        <p:sp>
          <p:nvSpPr>
            <p:cNvPr id="79" name="ellipse 79"/>
            <p:cNvSpPr/>
            <p:nvPr/>
          </p:nvSpPr>
          <p:spPr>
            <a:xfrm>
              <a:off x="3346704" y="5212080"/>
              <a:ext cx="256032" cy="256032"/>
            </a:xfrm>
            <a:prstGeom prst="ellipse">
              <a:avLst/>
            </a:prstGeom>
            <a:solidFill>
              <a:srgbClr val="F1F2F2"/>
            </a:solidFill>
            <a:ln w="18288">
              <a:solidFill>
                <a:srgbClr val="15191D"/>
              </a:solidFill>
              <a:round/>
            </a:ln>
          </p:spPr>
        </p:sp>
        <p:sp>
          <p:nvSpPr>
            <p:cNvPr id="80" name="ellipse 80"/>
            <p:cNvSpPr/>
            <p:nvPr/>
          </p:nvSpPr>
          <p:spPr>
            <a:xfrm>
              <a:off x="3456432" y="4873752"/>
              <a:ext cx="201168" cy="201168"/>
            </a:xfrm>
            <a:prstGeom prst="ellipse">
              <a:avLst/>
            </a:prstGeom>
            <a:solidFill>
              <a:srgbClr val="F1F2F2"/>
            </a:solidFill>
            <a:ln w="18288">
              <a:solidFill>
                <a:srgbClr val="15191D"/>
              </a:solidFill>
              <a:round/>
            </a:ln>
          </p:spPr>
        </p:sp>
        <p:sp>
          <p:nvSpPr>
            <p:cNvPr id="81" name="ellipse 81"/>
            <p:cNvSpPr/>
            <p:nvPr/>
          </p:nvSpPr>
          <p:spPr>
            <a:xfrm>
              <a:off x="3694176" y="4416552"/>
              <a:ext cx="201168" cy="201168"/>
            </a:xfrm>
            <a:prstGeom prst="ellipse">
              <a:avLst/>
            </a:prstGeom>
            <a:solidFill>
              <a:srgbClr val="F1F2F2"/>
            </a:solidFill>
            <a:ln w="18288">
              <a:solidFill>
                <a:srgbClr val="15191D"/>
              </a:solidFill>
              <a:round/>
            </a:ln>
          </p:spPr>
        </p:sp>
        <p:sp>
          <p:nvSpPr>
            <p:cNvPr id="82" name="ellipse 82"/>
            <p:cNvSpPr/>
            <p:nvPr/>
          </p:nvSpPr>
          <p:spPr>
            <a:xfrm>
              <a:off x="4050792" y="4617720"/>
              <a:ext cx="201168" cy="201168"/>
            </a:xfrm>
            <a:prstGeom prst="ellipse">
              <a:avLst/>
            </a:prstGeom>
            <a:solidFill>
              <a:srgbClr val="F1F2F2"/>
            </a:solidFill>
            <a:ln w="18288">
              <a:solidFill>
                <a:srgbClr val="15191D"/>
              </a:solidFill>
              <a:round/>
            </a:ln>
          </p:spPr>
        </p:sp>
        <p:sp>
          <p:nvSpPr>
            <p:cNvPr id="83" name="rect 83"/>
            <p:cNvSpPr/>
            <p:nvPr/>
          </p:nvSpPr>
          <p:spPr>
            <a:xfrm>
              <a:off x="4178808" y="4882896"/>
              <a:ext cx="109728" cy="100584"/>
            </a:xfrm>
            <a:prstGeom prst="rect">
              <a:avLst/>
            </a:prstGeom>
            <a:solidFill>
              <a:srgbClr val="F1F2F2"/>
            </a:solidFill>
            <a:ln w="12802">
              <a:solidFill>
                <a:srgbClr val="15191D"/>
              </a:solidFill>
              <a:round/>
            </a:ln>
          </p:spPr>
        </p:sp>
        <p:cxnSp>
          <p:nvCxnSpPr>
            <p:cNvPr id="84" name="line 84"/>
            <p:cNvCxnSpPr/>
            <p:nvPr/>
          </p:nvCxnSpPr>
          <p:spPr>
            <a:xfrm flipH="1">
              <a:off x="4169664" y="4983480"/>
              <a:ext cx="18288" cy="82296"/>
            </a:xfrm>
            <a:prstGeom prst="line">
              <a:avLst/>
            </a:prstGeom>
            <a:noFill/>
            <a:ln w="18288">
              <a:solidFill>
                <a:srgbClr val="15191D"/>
              </a:solidFill>
              <a:round/>
            </a:ln>
          </p:spPr>
        </p:cxnSp>
        <p:cxnSp>
          <p:nvCxnSpPr>
            <p:cNvPr id="85" name="line 85"/>
            <p:cNvCxnSpPr/>
            <p:nvPr/>
          </p:nvCxnSpPr>
          <p:spPr>
            <a:xfrm>
              <a:off x="4279392" y="4983480"/>
              <a:ext cx="18288" cy="82296"/>
            </a:xfrm>
            <a:prstGeom prst="line">
              <a:avLst/>
            </a:prstGeom>
            <a:noFill/>
            <a:ln w="18288">
              <a:solidFill>
                <a:srgbClr val="15191D"/>
              </a:solidFill>
              <a:round/>
            </a:ln>
          </p:spPr>
        </p:cxnSp>
        <p:cxnSp>
          <p:nvCxnSpPr>
            <p:cNvPr id="86" name="line 86"/>
            <p:cNvCxnSpPr/>
            <p:nvPr/>
          </p:nvCxnSpPr>
          <p:spPr>
            <a:xfrm>
              <a:off x="4169664" y="5065776"/>
              <a:ext cx="36576" cy="27432"/>
            </a:xfrm>
            <a:prstGeom prst="line">
              <a:avLst/>
            </a:prstGeom>
            <a:noFill/>
            <a:ln w="18288">
              <a:solidFill>
                <a:srgbClr val="15191D"/>
              </a:solidFill>
              <a:round/>
            </a:ln>
          </p:spPr>
        </p:cxnSp>
        <p:cxnSp>
          <p:nvCxnSpPr>
            <p:cNvPr id="87" name="line 87"/>
            <p:cNvCxnSpPr/>
            <p:nvPr/>
          </p:nvCxnSpPr>
          <p:spPr>
            <a:xfrm flipH="1">
              <a:off x="4261104" y="5065776"/>
              <a:ext cx="36576" cy="27432"/>
            </a:xfrm>
            <a:prstGeom prst="line">
              <a:avLst/>
            </a:prstGeom>
            <a:noFill/>
            <a:ln w="18288">
              <a:solidFill>
                <a:srgbClr val="15191D"/>
              </a:solidFill>
              <a:round/>
            </a:ln>
          </p:spPr>
        </p:cxnSp>
        <p:sp>
          <p:nvSpPr>
            <p:cNvPr id="88" name="ellipse 88"/>
            <p:cNvSpPr/>
            <p:nvPr/>
          </p:nvSpPr>
          <p:spPr>
            <a:xfrm>
              <a:off x="5440680" y="5330952"/>
              <a:ext cx="411480" cy="118872"/>
            </a:xfrm>
            <a:prstGeom prst="ellipse">
              <a:avLst/>
            </a:prstGeom>
            <a:solidFill>
              <a:srgbClr val="D5D7D8"/>
            </a:solidFill>
            <a:ln w="0">
              <a:noFill/>
              <a:round/>
            </a:ln>
          </p:spPr>
        </p:sp>
        <p:sp>
          <p:nvSpPr>
            <p:cNvPr id="89" name="rect 89"/>
            <p:cNvSpPr/>
            <p:nvPr/>
          </p:nvSpPr>
          <p:spPr>
            <a:xfrm>
              <a:off x="5504688" y="5285232"/>
              <a:ext cx="283464" cy="91440"/>
            </a:xfrm>
            <a:prstGeom prst="rect">
              <a:avLst/>
            </a:prstGeom>
            <a:solidFill>
              <a:srgbClr val="D7DADD"/>
            </a:solidFill>
            <a:ln w="16459">
              <a:solidFill>
                <a:srgbClr val="15191D"/>
              </a:solidFill>
              <a:round/>
            </a:ln>
          </p:spPr>
        </p:sp>
        <p:cxnSp>
          <p:nvCxnSpPr>
            <p:cNvPr id="90" name="line 90"/>
            <p:cNvCxnSpPr/>
            <p:nvPr/>
          </p:nvCxnSpPr>
          <p:spPr>
            <a:xfrm flipH="1" flipV="1">
              <a:off x="5586984" y="4956048"/>
              <a:ext cx="54864" cy="384048"/>
            </a:xfrm>
            <a:prstGeom prst="line">
              <a:avLst/>
            </a:prstGeom>
            <a:noFill/>
            <a:ln w="128016">
              <a:solidFill>
                <a:srgbClr val="15191D"/>
              </a:solidFill>
              <a:round/>
            </a:ln>
          </p:spPr>
        </p:cxnSp>
        <p:cxnSp>
          <p:nvCxnSpPr>
            <p:cNvPr id="91" name="line 91"/>
            <p:cNvCxnSpPr/>
            <p:nvPr/>
          </p:nvCxnSpPr>
          <p:spPr>
            <a:xfrm flipH="1" flipV="1">
              <a:off x="5586984" y="4956048"/>
              <a:ext cx="54864" cy="384048"/>
            </a:xfrm>
            <a:prstGeom prst="line">
              <a:avLst/>
            </a:prstGeom>
            <a:noFill/>
            <a:ln w="82296">
              <a:solidFill>
                <a:srgbClr val="DCF1FC"/>
              </a:solidFill>
              <a:round/>
            </a:ln>
          </p:spPr>
        </p:cxnSp>
        <p:cxnSp>
          <p:nvCxnSpPr>
            <p:cNvPr id="92" name="line 92"/>
            <p:cNvCxnSpPr/>
            <p:nvPr/>
          </p:nvCxnSpPr>
          <p:spPr>
            <a:xfrm flipH="1" flipV="1">
              <a:off x="5285232" y="4517136"/>
              <a:ext cx="301752" cy="438912"/>
            </a:xfrm>
            <a:prstGeom prst="line">
              <a:avLst/>
            </a:prstGeom>
            <a:noFill/>
            <a:ln w="128016">
              <a:solidFill>
                <a:srgbClr val="15191D"/>
              </a:solidFill>
              <a:round/>
            </a:ln>
          </p:spPr>
        </p:cxnSp>
        <p:cxnSp>
          <p:nvCxnSpPr>
            <p:cNvPr id="93" name="line 93"/>
            <p:cNvCxnSpPr/>
            <p:nvPr/>
          </p:nvCxnSpPr>
          <p:spPr>
            <a:xfrm flipH="1" flipV="1">
              <a:off x="5285232" y="4517136"/>
              <a:ext cx="301752" cy="438912"/>
            </a:xfrm>
            <a:prstGeom prst="line">
              <a:avLst/>
            </a:prstGeom>
            <a:noFill/>
            <a:ln w="82296">
              <a:solidFill>
                <a:srgbClr val="DCF1FC"/>
              </a:solidFill>
              <a:round/>
            </a:ln>
          </p:spPr>
        </p:cxnSp>
        <p:cxnSp>
          <p:nvCxnSpPr>
            <p:cNvPr id="94" name="line 94"/>
            <p:cNvCxnSpPr/>
            <p:nvPr/>
          </p:nvCxnSpPr>
          <p:spPr>
            <a:xfrm flipH="1">
              <a:off x="5047488" y="4517136"/>
              <a:ext cx="237744" cy="201168"/>
            </a:xfrm>
            <a:prstGeom prst="line">
              <a:avLst/>
            </a:prstGeom>
            <a:noFill/>
            <a:ln w="128016">
              <a:solidFill>
                <a:srgbClr val="15191D"/>
              </a:solidFill>
              <a:round/>
            </a:ln>
          </p:spPr>
        </p:cxnSp>
        <p:cxnSp>
          <p:nvCxnSpPr>
            <p:cNvPr id="95" name="line 95"/>
            <p:cNvCxnSpPr/>
            <p:nvPr/>
          </p:nvCxnSpPr>
          <p:spPr>
            <a:xfrm flipH="1">
              <a:off x="5047488" y="4517136"/>
              <a:ext cx="237744" cy="201168"/>
            </a:xfrm>
            <a:prstGeom prst="line">
              <a:avLst/>
            </a:prstGeom>
            <a:noFill/>
            <a:ln w="82296">
              <a:solidFill>
                <a:srgbClr val="DCF1FC"/>
              </a:solidFill>
              <a:round/>
            </a:ln>
          </p:spPr>
        </p:cxnSp>
        <p:cxnSp>
          <p:nvCxnSpPr>
            <p:cNvPr id="96" name="line 96"/>
            <p:cNvCxnSpPr/>
            <p:nvPr/>
          </p:nvCxnSpPr>
          <p:spPr>
            <a:xfrm flipH="1">
              <a:off x="5038344" y="4718304"/>
              <a:ext cx="9144" cy="64008"/>
            </a:xfrm>
            <a:prstGeom prst="line">
              <a:avLst/>
            </a:prstGeom>
            <a:noFill/>
            <a:ln w="128016">
              <a:solidFill>
                <a:srgbClr val="15191D"/>
              </a:solidFill>
              <a:round/>
            </a:ln>
          </p:spPr>
        </p:cxnSp>
        <p:cxnSp>
          <p:nvCxnSpPr>
            <p:cNvPr id="97" name="line 97"/>
            <p:cNvCxnSpPr/>
            <p:nvPr/>
          </p:nvCxnSpPr>
          <p:spPr>
            <a:xfrm flipH="1">
              <a:off x="5038344" y="4718304"/>
              <a:ext cx="9144" cy="64008"/>
            </a:xfrm>
            <a:prstGeom prst="line">
              <a:avLst/>
            </a:prstGeom>
            <a:noFill/>
            <a:ln w="82296">
              <a:solidFill>
                <a:srgbClr val="DCF1FC"/>
              </a:solidFill>
              <a:round/>
            </a:ln>
          </p:spPr>
        </p:cxnSp>
        <p:sp>
          <p:nvSpPr>
            <p:cNvPr id="98" name="ellipse 98"/>
            <p:cNvSpPr/>
            <p:nvPr/>
          </p:nvSpPr>
          <p:spPr>
            <a:xfrm>
              <a:off x="5513832" y="5212080"/>
              <a:ext cx="256032" cy="256032"/>
            </a:xfrm>
            <a:prstGeom prst="ellipse">
              <a:avLst/>
            </a:prstGeom>
            <a:solidFill>
              <a:srgbClr val="DCF1FC"/>
            </a:solidFill>
            <a:ln w="18288">
              <a:solidFill>
                <a:srgbClr val="15191D"/>
              </a:solidFill>
              <a:round/>
            </a:ln>
          </p:spPr>
        </p:sp>
        <p:sp>
          <p:nvSpPr>
            <p:cNvPr id="99" name="ellipse 99"/>
            <p:cNvSpPr/>
            <p:nvPr/>
          </p:nvSpPr>
          <p:spPr>
            <a:xfrm>
              <a:off x="5486400" y="4855464"/>
              <a:ext cx="201168" cy="201168"/>
            </a:xfrm>
            <a:prstGeom prst="ellipse">
              <a:avLst/>
            </a:prstGeom>
            <a:solidFill>
              <a:srgbClr val="DCF1FC"/>
            </a:solidFill>
            <a:ln w="18288">
              <a:solidFill>
                <a:srgbClr val="15191D"/>
              </a:solidFill>
              <a:round/>
            </a:ln>
          </p:spPr>
        </p:sp>
        <p:sp>
          <p:nvSpPr>
            <p:cNvPr id="100" name="ellipse 100"/>
            <p:cNvSpPr/>
            <p:nvPr/>
          </p:nvSpPr>
          <p:spPr>
            <a:xfrm>
              <a:off x="5184648" y="4416552"/>
              <a:ext cx="201168" cy="201168"/>
            </a:xfrm>
            <a:prstGeom prst="ellipse">
              <a:avLst/>
            </a:prstGeom>
            <a:solidFill>
              <a:srgbClr val="DCF1FC"/>
            </a:solidFill>
            <a:ln w="18288">
              <a:solidFill>
                <a:srgbClr val="15191D"/>
              </a:solidFill>
              <a:round/>
            </a:ln>
          </p:spPr>
        </p:sp>
        <p:sp>
          <p:nvSpPr>
            <p:cNvPr id="101" name="ellipse 101"/>
            <p:cNvSpPr/>
            <p:nvPr/>
          </p:nvSpPr>
          <p:spPr>
            <a:xfrm>
              <a:off x="4946904" y="4617720"/>
              <a:ext cx="201168" cy="201168"/>
            </a:xfrm>
            <a:prstGeom prst="ellipse">
              <a:avLst/>
            </a:prstGeom>
            <a:solidFill>
              <a:srgbClr val="DCF1FC"/>
            </a:solidFill>
            <a:ln w="18288">
              <a:solidFill>
                <a:srgbClr val="15191D"/>
              </a:solidFill>
              <a:round/>
            </a:ln>
          </p:spPr>
        </p:sp>
        <p:sp>
          <p:nvSpPr>
            <p:cNvPr id="102" name="rect 102"/>
            <p:cNvSpPr/>
            <p:nvPr/>
          </p:nvSpPr>
          <p:spPr>
            <a:xfrm>
              <a:off x="4983480" y="4745736"/>
              <a:ext cx="109728" cy="100584"/>
            </a:xfrm>
            <a:prstGeom prst="rect">
              <a:avLst/>
            </a:prstGeom>
            <a:solidFill>
              <a:srgbClr val="DCF1FC"/>
            </a:solidFill>
            <a:ln w="12802">
              <a:solidFill>
                <a:srgbClr val="15191D"/>
              </a:solidFill>
              <a:round/>
            </a:ln>
          </p:spPr>
        </p:sp>
        <p:cxnSp>
          <p:nvCxnSpPr>
            <p:cNvPr id="103" name="line 103"/>
            <p:cNvCxnSpPr/>
            <p:nvPr/>
          </p:nvCxnSpPr>
          <p:spPr>
            <a:xfrm flipH="1">
              <a:off x="4974336" y="4846320"/>
              <a:ext cx="18288" cy="82296"/>
            </a:xfrm>
            <a:prstGeom prst="line">
              <a:avLst/>
            </a:prstGeom>
            <a:noFill/>
            <a:ln w="18288">
              <a:solidFill>
                <a:srgbClr val="15191D"/>
              </a:solidFill>
              <a:round/>
            </a:ln>
          </p:spPr>
        </p:cxnSp>
        <p:cxnSp>
          <p:nvCxnSpPr>
            <p:cNvPr id="104" name="line 104"/>
            <p:cNvCxnSpPr/>
            <p:nvPr/>
          </p:nvCxnSpPr>
          <p:spPr>
            <a:xfrm>
              <a:off x="5084064" y="4846320"/>
              <a:ext cx="18288" cy="82296"/>
            </a:xfrm>
            <a:prstGeom prst="line">
              <a:avLst/>
            </a:prstGeom>
            <a:noFill/>
            <a:ln w="18288">
              <a:solidFill>
                <a:srgbClr val="15191D"/>
              </a:solidFill>
              <a:round/>
            </a:ln>
          </p:spPr>
        </p:cxnSp>
        <p:cxnSp>
          <p:nvCxnSpPr>
            <p:cNvPr id="105" name="line 105"/>
            <p:cNvCxnSpPr/>
            <p:nvPr/>
          </p:nvCxnSpPr>
          <p:spPr>
            <a:xfrm>
              <a:off x="4974336" y="4928616"/>
              <a:ext cx="36576" cy="27432"/>
            </a:xfrm>
            <a:prstGeom prst="line">
              <a:avLst/>
            </a:prstGeom>
            <a:noFill/>
            <a:ln w="18288">
              <a:solidFill>
                <a:srgbClr val="15191D"/>
              </a:solidFill>
              <a:round/>
            </a:ln>
          </p:spPr>
        </p:cxnSp>
        <p:cxnSp>
          <p:nvCxnSpPr>
            <p:cNvPr id="106" name="line 106"/>
            <p:cNvCxnSpPr/>
            <p:nvPr/>
          </p:nvCxnSpPr>
          <p:spPr>
            <a:xfrm flipH="1">
              <a:off x="5065776" y="4928616"/>
              <a:ext cx="36576" cy="27432"/>
            </a:xfrm>
            <a:prstGeom prst="line">
              <a:avLst/>
            </a:prstGeom>
            <a:noFill/>
            <a:ln w="18288">
              <a:solidFill>
                <a:srgbClr val="15191D"/>
              </a:solidFill>
              <a:round/>
            </a:ln>
          </p:spPr>
        </p:cxnSp>
        <p:sp>
          <p:nvSpPr>
            <p:cNvPr id="107" name="rect 107"/>
            <p:cNvSpPr/>
            <p:nvPr/>
          </p:nvSpPr>
          <p:spPr>
            <a:xfrm>
              <a:off x="4343400" y="5157216"/>
              <a:ext cx="173736" cy="164592"/>
            </a:xfrm>
            <a:prstGeom prst="rect">
              <a:avLst/>
            </a:prstGeom>
            <a:solidFill>
              <a:srgbClr val="39C5C5"/>
            </a:solidFill>
            <a:ln w="11887">
              <a:solidFill>
                <a:srgbClr val="15191D"/>
              </a:solidFill>
              <a:round/>
            </a:ln>
          </p:spPr>
        </p:sp>
        <p:sp>
          <p:nvSpPr>
            <p:cNvPr id="108" name="ellipse 108"/>
            <p:cNvSpPr/>
            <p:nvPr/>
          </p:nvSpPr>
          <p:spPr>
            <a:xfrm>
              <a:off x="4343400" y="5285232"/>
              <a:ext cx="173736" cy="64008"/>
            </a:xfrm>
            <a:prstGeom prst="ellipse">
              <a:avLst/>
            </a:prstGeom>
            <a:solidFill>
              <a:srgbClr val="39C5C5"/>
            </a:solidFill>
            <a:ln w="11887">
              <a:solidFill>
                <a:srgbClr val="15191D"/>
              </a:solidFill>
              <a:round/>
            </a:ln>
          </p:spPr>
        </p:sp>
        <p:sp>
          <p:nvSpPr>
            <p:cNvPr id="109" name="ellipse 109"/>
            <p:cNvSpPr/>
            <p:nvPr/>
          </p:nvSpPr>
          <p:spPr>
            <a:xfrm>
              <a:off x="4343400" y="5120640"/>
              <a:ext cx="173736" cy="73152"/>
            </a:xfrm>
            <a:prstGeom prst="ellipse">
              <a:avLst/>
            </a:prstGeom>
            <a:solidFill>
              <a:srgbClr val="8CE4DE"/>
            </a:solidFill>
            <a:ln w="11887">
              <a:solidFill>
                <a:srgbClr val="15191D"/>
              </a:solidFill>
              <a:round/>
            </a:ln>
          </p:spPr>
        </p:sp>
        <p:sp>
          <p:nvSpPr>
            <p:cNvPr id="110" name="rect 110"/>
            <p:cNvSpPr/>
            <p:nvPr/>
          </p:nvSpPr>
          <p:spPr>
            <a:xfrm>
              <a:off x="5623560" y="5266944"/>
              <a:ext cx="146304" cy="137160"/>
            </a:xfrm>
            <a:prstGeom prst="rect">
              <a:avLst/>
            </a:prstGeom>
            <a:solidFill>
              <a:srgbClr val="39C5C5"/>
            </a:solidFill>
            <a:ln w="11887">
              <a:solidFill>
                <a:srgbClr val="15191D"/>
              </a:solidFill>
              <a:round/>
            </a:ln>
          </p:spPr>
        </p:sp>
        <p:sp>
          <p:nvSpPr>
            <p:cNvPr id="111" name="ellipse 111"/>
            <p:cNvSpPr/>
            <p:nvPr/>
          </p:nvSpPr>
          <p:spPr>
            <a:xfrm>
              <a:off x="5623560" y="5367528"/>
              <a:ext cx="146304" cy="64008"/>
            </a:xfrm>
            <a:prstGeom prst="ellipse">
              <a:avLst/>
            </a:prstGeom>
            <a:solidFill>
              <a:srgbClr val="39C5C5"/>
            </a:solidFill>
            <a:ln w="11887">
              <a:solidFill>
                <a:srgbClr val="15191D"/>
              </a:solidFill>
              <a:round/>
            </a:ln>
          </p:spPr>
        </p:sp>
        <p:sp>
          <p:nvSpPr>
            <p:cNvPr id="112" name="ellipse 112"/>
            <p:cNvSpPr/>
            <p:nvPr/>
          </p:nvSpPr>
          <p:spPr>
            <a:xfrm>
              <a:off x="5623560" y="5230368"/>
              <a:ext cx="146304" cy="73152"/>
            </a:xfrm>
            <a:prstGeom prst="ellipse">
              <a:avLst/>
            </a:prstGeom>
            <a:solidFill>
              <a:srgbClr val="8CE4DE"/>
            </a:solidFill>
            <a:ln w="11887">
              <a:solidFill>
                <a:srgbClr val="15191D"/>
              </a:solidFill>
              <a:round/>
            </a:ln>
          </p:spPr>
        </p:sp>
        <p:sp>
          <p:nvSpPr>
            <p:cNvPr id="113" name="text 113"/>
            <p:cNvSpPr txBox="1"/>
            <p:nvPr/>
          </p:nvSpPr>
          <p:spPr>
            <a:xfrm>
              <a:off x="3182112" y="4343400"/>
              <a:ext cx="393192" cy="274320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728" b="0" i="1">
                  <a:solidFill>
                    <a:srgbClr val="183EC6"/>
                  </a:solidFill>
                  <a:latin typeface="Cambria"/>
                  <a:ea typeface="Cambria"/>
                  <a:cs typeface="Cambria"/>
                </a:rPr>
                <a:t>r</a:t>
              </a:r>
              <a:r>
                <a:rPr lang="en-US" sz="1175" b="0" i="1" baseline="-27000">
                  <a:solidFill>
                    <a:srgbClr val="183EC6"/>
                  </a:solidFill>
                  <a:latin typeface="Cambria"/>
                  <a:ea typeface="Cambria"/>
                  <a:cs typeface="Cambria"/>
                </a:rPr>
                <a:t>1</a:t>
              </a:r>
              <a:endParaRPr lang="en-US" sz="1728"/>
            </a:p>
          </p:txBody>
        </p:sp>
        <p:sp>
          <p:nvSpPr>
            <p:cNvPr id="114" name="text 114"/>
            <p:cNvSpPr txBox="1"/>
            <p:nvPr/>
          </p:nvSpPr>
          <p:spPr>
            <a:xfrm>
              <a:off x="5532120" y="4343400"/>
              <a:ext cx="384048" cy="274320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728" b="0" i="1">
                  <a:solidFill>
                    <a:srgbClr val="183EC6"/>
                  </a:solidFill>
                  <a:latin typeface="Cambria"/>
                  <a:ea typeface="Cambria"/>
                  <a:cs typeface="Cambria"/>
                </a:rPr>
                <a:t>r</a:t>
              </a:r>
              <a:r>
                <a:rPr lang="en-US" sz="1175" b="0" i="1" baseline="-27000">
                  <a:solidFill>
                    <a:srgbClr val="183EC6"/>
                  </a:solidFill>
                  <a:latin typeface="Cambria"/>
                  <a:ea typeface="Cambria"/>
                  <a:cs typeface="Cambria"/>
                </a:rPr>
                <a:t>2</a:t>
              </a:r>
              <a:endParaRPr lang="en-US" sz="1728"/>
            </a:p>
          </p:txBody>
        </p:sp>
        <p:sp>
          <p:nvSpPr>
            <p:cNvPr id="115" name="text 115"/>
            <p:cNvSpPr txBox="1"/>
            <p:nvPr/>
          </p:nvSpPr>
          <p:spPr>
            <a:xfrm>
              <a:off x="3163824" y="5513832"/>
              <a:ext cx="2743200" cy="237744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332" b="0" i="0">
                  <a:solidFill>
                    <a:srgbClr val="183EC6"/>
                  </a:solidFill>
                  <a:latin typeface="Arial"/>
                  <a:ea typeface="Arial"/>
                  <a:cs typeface="Arial"/>
                </a:rPr>
                <a:t>Motion + state + geometry</a:t>
              </a:r>
              <a:endParaRPr lang="en-US" sz="1332"/>
            </a:p>
          </p:txBody>
        </p:sp>
        <p:sp>
          <p:nvSpPr>
            <p:cNvPr id="116" name="text 116"/>
            <p:cNvSpPr txBox="1"/>
            <p:nvPr/>
          </p:nvSpPr>
          <p:spPr>
            <a:xfrm>
              <a:off x="3273552" y="5779008"/>
              <a:ext cx="2523744" cy="228600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440" b="1" i="0">
                  <a:solidFill>
                    <a:srgbClr val="183EC6"/>
                  </a:solidFill>
                  <a:latin typeface="Arial"/>
                  <a:ea typeface="Arial"/>
                  <a:cs typeface="Arial"/>
                </a:rPr>
                <a:t>region_occupancy</a:t>
              </a:r>
              <a:endParaRPr lang="en-US" sz="1440"/>
            </a:p>
          </p:txBody>
        </p:sp>
        <p:sp>
          <p:nvSpPr>
            <p:cNvPr id="117" name="roundRect 117"/>
            <p:cNvSpPr/>
            <p:nvPr/>
          </p:nvSpPr>
          <p:spPr>
            <a:xfrm>
              <a:off x="3392424" y="5998464"/>
              <a:ext cx="2249424" cy="292608"/>
            </a:xfrm>
            <a:prstGeom prst="roundRect">
              <a:avLst>
                <a:gd name="adj" fmla="val 25000"/>
              </a:avLst>
            </a:prstGeom>
            <a:solidFill>
              <a:srgbClr val="E9F5FC"/>
            </a:solidFill>
            <a:ln w="6401">
              <a:solidFill>
                <a:srgbClr val="76A3DE"/>
              </a:solidFill>
              <a:round/>
            </a:ln>
          </p:spPr>
        </p:sp>
        <p:sp>
          <p:nvSpPr>
            <p:cNvPr id="118" name="text 118"/>
            <p:cNvSpPr txBox="1"/>
            <p:nvPr/>
          </p:nvSpPr>
          <p:spPr>
            <a:xfrm>
              <a:off x="3447288" y="6007608"/>
              <a:ext cx="2139696" cy="274320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584" b="1" i="1">
                  <a:solidFill>
                    <a:srgbClr val="183EC6"/>
                  </a:solidFill>
                  <a:latin typeface="Arial"/>
                  <a:ea typeface="Arial"/>
                  <a:cs typeface="Arial"/>
                </a:rPr>
                <a:t>r1:  1      r2:  0</a:t>
              </a:r>
              <a:endParaRPr lang="en-US" sz="1584"/>
            </a:p>
          </p:txBody>
        </p:sp>
        <p:sp>
          <p:nvSpPr>
            <p:cNvPr id="119" name="text 119"/>
            <p:cNvSpPr txBox="1"/>
            <p:nvPr/>
          </p:nvSpPr>
          <p:spPr>
            <a:xfrm>
              <a:off x="3154680" y="6345936"/>
              <a:ext cx="2761488" cy="246888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224" b="0" i="0">
                  <a:solidFill>
                    <a:srgbClr val="183EC6"/>
                  </a:solidFill>
                  <a:latin typeface="Arial"/>
                  <a:ea typeface="Arial"/>
                  <a:cs typeface="Arial"/>
                </a:rPr>
                <a:t>Example intermediate observation</a:t>
              </a:r>
              <a:endParaRPr lang="en-US" sz="1224"/>
            </a:p>
          </p:txBody>
        </p:sp>
        <p:sp>
          <p:nvSpPr>
            <p:cNvPr id="120" name="text 120"/>
            <p:cNvSpPr txBox="1"/>
            <p:nvPr/>
          </p:nvSpPr>
          <p:spPr>
            <a:xfrm>
              <a:off x="3200400" y="6583680"/>
              <a:ext cx="2679192" cy="228600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224" b="0" i="0">
                  <a:solidFill>
                    <a:srgbClr val="183EC6"/>
                  </a:solidFill>
                  <a:latin typeface="Arial"/>
                  <a:ea typeface="Arial"/>
                  <a:cs typeface="Arial"/>
                </a:rPr>
                <a:t>Other resources’ behavior</a:t>
              </a:r>
              <a:endParaRPr lang="en-US" sz="1224"/>
            </a:p>
          </p:txBody>
        </p:sp>
      </p:grpSp>
      <p:grpSp>
        <p:nvGrpSpPr>
          <p:cNvPr id="121" name="Predefined AP evaluation"/>
          <p:cNvGrpSpPr/>
          <p:nvPr/>
        </p:nvGrpSpPr>
        <p:grpSpPr>
          <a:xfrm>
            <a:off x="6112764" y="3808476"/>
            <a:ext cx="2990088" cy="3090672"/>
            <a:chOff x="6112764" y="3808476"/>
            <a:chExt cx="2990088" cy="3090672"/>
          </a:xfrm>
        </p:grpSpPr>
        <p:sp>
          <p:nvSpPr>
            <p:cNvPr id="122" name="roundRect 122"/>
            <p:cNvSpPr/>
            <p:nvPr/>
          </p:nvSpPr>
          <p:spPr>
            <a:xfrm>
              <a:off x="6153912" y="3849624"/>
              <a:ext cx="2907792" cy="3008376"/>
            </a:xfrm>
            <a:prstGeom prst="roundRect">
              <a:avLst>
                <a:gd name="adj" fmla="val 2516"/>
              </a:avLst>
            </a:prstGeom>
            <a:solidFill>
              <a:srgbClr val="FCFAFF"/>
            </a:solidFill>
            <a:ln w="9144">
              <a:solidFill>
                <a:srgbClr val="6522B8"/>
              </a:solidFill>
              <a:round/>
            </a:ln>
          </p:spPr>
        </p:sp>
        <p:sp>
          <p:nvSpPr>
            <p:cNvPr id="123" name="text 123"/>
            <p:cNvSpPr txBox="1"/>
            <p:nvPr/>
          </p:nvSpPr>
          <p:spPr>
            <a:xfrm>
              <a:off x="6227064" y="3904488"/>
              <a:ext cx="2761488" cy="283464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620" b="1" i="0">
                  <a:solidFill>
                    <a:srgbClr val="183EC6"/>
                  </a:solidFill>
                  <a:latin typeface="Arial"/>
                  <a:ea typeface="Arial"/>
                  <a:cs typeface="Arial"/>
                </a:rPr>
                <a:t>Predefined AP evaluation</a:t>
              </a:r>
              <a:endParaRPr lang="en-US" sz="1620"/>
            </a:p>
          </p:txBody>
        </p:sp>
        <p:sp>
          <p:nvSpPr>
            <p:cNvPr id="124" name="roundRect 124"/>
            <p:cNvSpPr/>
            <p:nvPr/>
          </p:nvSpPr>
          <p:spPr>
            <a:xfrm>
              <a:off x="6245352" y="4197096"/>
              <a:ext cx="2715768" cy="923544"/>
            </a:xfrm>
            <a:prstGeom prst="roundRect">
              <a:avLst>
                <a:gd name="adj" fmla="val 7921"/>
              </a:avLst>
            </a:prstGeom>
            <a:solidFill>
              <a:srgbClr val="FAF7FF"/>
            </a:solidFill>
            <a:ln w="6401">
              <a:solidFill>
                <a:srgbClr val="BA9BDC"/>
              </a:solidFill>
              <a:round/>
            </a:ln>
          </p:spPr>
        </p:sp>
        <p:sp>
          <p:nvSpPr>
            <p:cNvPr id="125" name="text 125"/>
            <p:cNvSpPr txBox="1"/>
            <p:nvPr/>
          </p:nvSpPr>
          <p:spPr>
            <a:xfrm>
              <a:off x="6327648" y="4242816"/>
              <a:ext cx="2542032" cy="265176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440" b="1" i="0">
                  <a:solidFill>
                    <a:srgbClr val="183EC6"/>
                  </a:solidFill>
                  <a:latin typeface="Arial"/>
                  <a:ea typeface="Arial"/>
                  <a:cs typeface="Arial"/>
                </a:rPr>
                <a:t>ap001:  r1 occupancy</a:t>
              </a:r>
              <a:endParaRPr lang="en-US" sz="1440"/>
            </a:p>
          </p:txBody>
        </p:sp>
        <p:sp>
          <p:nvSpPr>
            <p:cNvPr id="126" name="text 126"/>
            <p:cNvSpPr txBox="1"/>
            <p:nvPr/>
          </p:nvSpPr>
          <p:spPr>
            <a:xfrm>
              <a:off x="6327648" y="4507992"/>
              <a:ext cx="2542032" cy="265176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440" b="1" i="0">
                  <a:solidFill>
                    <a:srgbClr val="183EC6"/>
                  </a:solidFill>
                  <a:latin typeface="Arial"/>
                  <a:ea typeface="Arial"/>
                  <a:cs typeface="Arial"/>
                </a:rPr>
                <a:t>ap002:  r2 occupancy</a:t>
              </a:r>
              <a:endParaRPr lang="en-US" sz="1440"/>
            </a:p>
          </p:txBody>
        </p:sp>
        <p:sp>
          <p:nvSpPr>
            <p:cNvPr id="127" name="text 127"/>
            <p:cNvSpPr txBox="1"/>
            <p:nvPr/>
          </p:nvSpPr>
          <p:spPr>
            <a:xfrm>
              <a:off x="6300216" y="4773168"/>
              <a:ext cx="2587752" cy="274320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368" b="0" i="0">
                  <a:solidFill>
                    <a:srgbClr val="183EC6"/>
                  </a:solidFill>
                  <a:latin typeface="Arial"/>
                  <a:ea typeface="Arial"/>
                  <a:cs typeface="Arial"/>
                </a:rPr>
                <a:t>region:  assembly station</a:t>
              </a:r>
              <a:endParaRPr lang="en-US" sz="1368"/>
            </a:p>
          </p:txBody>
        </p:sp>
        <p:cxnSp>
          <p:nvCxnSpPr>
            <p:cNvPr id="128" name="line 128"/>
            <p:cNvCxnSpPr/>
            <p:nvPr/>
          </p:nvCxnSpPr>
          <p:spPr>
            <a:xfrm>
              <a:off x="7306056" y="5157216"/>
              <a:ext cx="1" cy="420624"/>
            </a:xfrm>
            <a:prstGeom prst="line">
              <a:avLst/>
            </a:prstGeom>
            <a:noFill/>
            <a:ln w="64008">
              <a:solidFill>
                <a:srgbClr val="6522B8"/>
              </a:solidFill>
              <a:round/>
              <a:tailEnd type="triangle" w="med" len="med"/>
            </a:ln>
          </p:spPr>
        </p:cxnSp>
        <p:sp>
          <p:nvSpPr>
            <p:cNvPr id="129" name="text 129"/>
            <p:cNvSpPr txBox="1"/>
            <p:nvPr/>
          </p:nvSpPr>
          <p:spPr>
            <a:xfrm>
              <a:off x="7424928" y="5230368"/>
              <a:ext cx="1005840" cy="237744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sz="1296" b="0" i="0">
                  <a:solidFill>
                    <a:srgbClr val="183EC6"/>
                  </a:solidFill>
                  <a:latin typeface="Arial"/>
                  <a:ea typeface="Arial"/>
                  <a:cs typeface="Arial"/>
                </a:rPr>
                <a:t>binding</a:t>
              </a:r>
              <a:endParaRPr lang="en-US" sz="1296"/>
            </a:p>
          </p:txBody>
        </p:sp>
        <p:sp>
          <p:nvSpPr>
            <p:cNvPr id="130" name="roundRect 130"/>
            <p:cNvSpPr/>
            <p:nvPr/>
          </p:nvSpPr>
          <p:spPr>
            <a:xfrm>
              <a:off x="6839712" y="5623560"/>
              <a:ext cx="786384" cy="1051560"/>
            </a:xfrm>
            <a:prstGeom prst="roundRect">
              <a:avLst>
                <a:gd name="adj" fmla="val 9302"/>
              </a:avLst>
            </a:prstGeom>
            <a:solidFill>
              <a:srgbClr val="F4F6FF"/>
            </a:solidFill>
            <a:ln w="13716">
              <a:solidFill>
                <a:srgbClr val="183EC6"/>
              </a:solidFill>
              <a:round/>
            </a:ln>
          </p:spPr>
        </p:sp>
        <p:sp>
          <p:nvSpPr>
            <p:cNvPr id="131" name="path 131"/>
            <p:cNvSpPr/>
            <p:nvPr/>
          </p:nvSpPr>
          <p:spPr>
            <a:xfrm>
              <a:off x="6949440" y="5733288"/>
              <a:ext cx="566928" cy="356616"/>
            </a:xfrm>
            <a:custGeom>
              <a:avLst/>
              <a:gdLst/>
              <a:ahLst/>
              <a:cxnLst/>
              <a:rect l="0" t="0" r="r" b="b"/>
              <a:pathLst>
                <a:path w="566928" h="356616">
                  <a:moveTo>
                    <a:pt x="0" y="0"/>
                  </a:moveTo>
                  <a:lnTo>
                    <a:pt x="566928" y="0"/>
                  </a:lnTo>
                  <a:lnTo>
                    <a:pt x="347472" y="237744"/>
                  </a:lnTo>
                  <a:lnTo>
                    <a:pt x="347472" y="356616"/>
                  </a:lnTo>
                  <a:lnTo>
                    <a:pt x="256032" y="301752"/>
                  </a:lnTo>
                  <a:lnTo>
                    <a:pt x="256032" y="237744"/>
                  </a:lnTo>
                  <a:close/>
                </a:path>
              </a:pathLst>
            </a:custGeom>
            <a:solidFill>
              <a:srgbClr val="E2EDFF"/>
            </a:solidFill>
            <a:ln w="16459">
              <a:solidFill>
                <a:srgbClr val="183EC6"/>
              </a:solidFill>
              <a:round/>
            </a:ln>
          </p:spPr>
        </p:sp>
        <p:sp>
          <p:nvSpPr>
            <p:cNvPr id="132" name="text 132"/>
            <p:cNvSpPr txBox="1"/>
            <p:nvPr/>
          </p:nvSpPr>
          <p:spPr>
            <a:xfrm>
              <a:off x="6867144" y="6144768"/>
              <a:ext cx="731520" cy="475488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368" b="0" i="0">
                  <a:solidFill>
                    <a:srgbClr val="183EC6"/>
                  </a:solidFill>
                  <a:latin typeface="Arial"/>
                  <a:ea typeface="Arial"/>
                  <a:cs typeface="Arial"/>
                </a:rPr>
                <a:t>Match</a:t>
              </a:r>
              <a:endParaRPr lang="en-US" sz="1368"/>
            </a:p>
            <a:p>
              <a:pPr algn="ctr">
                <a:lnSpc>
                  <a:spcPct val="110000"/>
                </a:lnSpc>
              </a:pPr>
              <a:r>
                <a:rPr lang="en-US" sz="1368" b="0" i="0">
                  <a:solidFill>
                    <a:srgbClr val="183EC6"/>
                  </a:solidFill>
                  <a:latin typeface="Arial"/>
                  <a:ea typeface="Arial"/>
                  <a:cs typeface="Arial"/>
                </a:rPr>
                <a:t>to APs</a:t>
              </a:r>
              <a:endParaRPr lang="en-US" sz="1368"/>
            </a:p>
          </p:txBody>
        </p:sp>
        <p:sp>
          <p:nvSpPr>
            <p:cNvPr id="133" name="roundRect 133"/>
            <p:cNvSpPr/>
            <p:nvPr/>
          </p:nvSpPr>
          <p:spPr>
            <a:xfrm>
              <a:off x="7918704" y="5641848"/>
              <a:ext cx="1051560" cy="438912"/>
            </a:xfrm>
            <a:prstGeom prst="roundRect">
              <a:avLst>
                <a:gd name="adj" fmla="val 16667"/>
              </a:avLst>
            </a:prstGeom>
            <a:solidFill>
              <a:srgbClr val="F2F7FF"/>
            </a:solidFill>
            <a:ln w="9144">
              <a:solidFill>
                <a:srgbClr val="183EC6"/>
              </a:solidFill>
              <a:round/>
            </a:ln>
          </p:spPr>
        </p:sp>
        <p:sp>
          <p:nvSpPr>
            <p:cNvPr id="134" name="roundRect 134"/>
            <p:cNvSpPr/>
            <p:nvPr/>
          </p:nvSpPr>
          <p:spPr>
            <a:xfrm>
              <a:off x="7918704" y="6236208"/>
              <a:ext cx="1051560" cy="438912"/>
            </a:xfrm>
            <a:prstGeom prst="roundRect">
              <a:avLst>
                <a:gd name="adj" fmla="val 16667"/>
              </a:avLst>
            </a:prstGeom>
            <a:solidFill>
              <a:srgbClr val="F7F7F7"/>
            </a:solidFill>
            <a:ln w="9144">
              <a:solidFill>
                <a:srgbClr val="15191D"/>
              </a:solidFill>
              <a:round/>
            </a:ln>
          </p:spPr>
        </p:sp>
        <p:sp>
          <p:nvSpPr>
            <p:cNvPr id="135" name="text 135"/>
            <p:cNvSpPr txBox="1"/>
            <p:nvPr/>
          </p:nvSpPr>
          <p:spPr>
            <a:xfrm>
              <a:off x="7955280" y="5696712"/>
              <a:ext cx="978408" cy="329184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368" b="1" i="0">
                  <a:solidFill>
                    <a:srgbClr val="183EC6"/>
                  </a:solidFill>
                  <a:latin typeface="Arial"/>
                  <a:ea typeface="Arial"/>
                  <a:cs typeface="Arial"/>
                </a:rPr>
                <a:t>ap001 = 1</a:t>
              </a:r>
              <a:endParaRPr lang="en-US" sz="1368"/>
            </a:p>
          </p:txBody>
        </p:sp>
        <p:sp>
          <p:nvSpPr>
            <p:cNvPr id="136" name="text 136"/>
            <p:cNvSpPr txBox="1"/>
            <p:nvPr/>
          </p:nvSpPr>
          <p:spPr>
            <a:xfrm>
              <a:off x="7955280" y="6291072"/>
              <a:ext cx="978408" cy="329184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368" b="1" i="0">
                  <a:solidFill>
                    <a:srgbClr val="15191D"/>
                  </a:solidFill>
                  <a:latin typeface="Arial"/>
                  <a:ea typeface="Arial"/>
                  <a:cs typeface="Arial"/>
                </a:rPr>
                <a:t>ap002 = 0</a:t>
              </a:r>
              <a:endParaRPr lang="en-US" sz="1368"/>
            </a:p>
          </p:txBody>
        </p:sp>
        <p:cxnSp>
          <p:nvCxnSpPr>
            <p:cNvPr id="137" name="line 137"/>
            <p:cNvCxnSpPr/>
            <p:nvPr/>
          </p:nvCxnSpPr>
          <p:spPr>
            <a:xfrm>
              <a:off x="7635240" y="5861304"/>
              <a:ext cx="274320" cy="1"/>
            </a:xfrm>
            <a:prstGeom prst="line">
              <a:avLst/>
            </a:prstGeom>
            <a:noFill/>
            <a:ln w="16459">
              <a:solidFill>
                <a:srgbClr val="15191D"/>
              </a:solidFill>
              <a:round/>
              <a:tailEnd type="triangle" w="med" len="med"/>
            </a:ln>
          </p:spPr>
        </p:cxnSp>
        <p:cxnSp>
          <p:nvCxnSpPr>
            <p:cNvPr id="138" name="line 138"/>
            <p:cNvCxnSpPr/>
            <p:nvPr/>
          </p:nvCxnSpPr>
          <p:spPr>
            <a:xfrm>
              <a:off x="7635240" y="6455664"/>
              <a:ext cx="274320" cy="1"/>
            </a:xfrm>
            <a:prstGeom prst="line">
              <a:avLst/>
            </a:prstGeom>
            <a:noFill/>
            <a:ln w="16459">
              <a:solidFill>
                <a:srgbClr val="15191D"/>
              </a:solidFill>
              <a:round/>
              <a:tailEnd type="triangle" w="med" len="med"/>
            </a:ln>
          </p:spPr>
        </p:cxnSp>
      </p:grpSp>
      <p:grpSp>
        <p:nvGrpSpPr>
          <p:cNvPr id="139" name="Panel 1 connections"/>
          <p:cNvGrpSpPr/>
          <p:nvPr/>
        </p:nvGrpSpPr>
        <p:grpSpPr>
          <a:xfrm>
            <a:off x="2802636" y="3433572"/>
            <a:ext cx="5916168" cy="3776472"/>
            <a:chOff x="2802636" y="3433572"/>
            <a:chExt cx="5916168" cy="3776472"/>
          </a:xfrm>
        </p:grpSpPr>
        <p:cxnSp>
          <p:nvCxnSpPr>
            <p:cNvPr id="140" name="line 140"/>
            <p:cNvCxnSpPr/>
            <p:nvPr/>
          </p:nvCxnSpPr>
          <p:spPr>
            <a:xfrm>
              <a:off x="2852928" y="5266944"/>
              <a:ext cx="329184" cy="1"/>
            </a:xfrm>
            <a:prstGeom prst="line">
              <a:avLst/>
            </a:prstGeom>
            <a:noFill/>
            <a:ln w="73152">
              <a:solidFill>
                <a:srgbClr val="6522B8"/>
              </a:solidFill>
              <a:round/>
              <a:tailEnd type="triangle" w="med" len="med"/>
            </a:ln>
          </p:spPr>
        </p:cxnSp>
        <p:cxnSp>
          <p:nvCxnSpPr>
            <p:cNvPr id="141" name="line 141"/>
            <p:cNvCxnSpPr/>
            <p:nvPr/>
          </p:nvCxnSpPr>
          <p:spPr>
            <a:xfrm>
              <a:off x="5806440" y="6089904"/>
              <a:ext cx="1014984" cy="1"/>
            </a:xfrm>
            <a:prstGeom prst="line">
              <a:avLst/>
            </a:prstGeom>
            <a:noFill/>
            <a:ln w="73152">
              <a:solidFill>
                <a:srgbClr val="6522B8"/>
              </a:solidFill>
              <a:round/>
              <a:tailEnd type="triangle" w="med" len="med"/>
            </a:ln>
          </p:spPr>
        </p:cxnSp>
        <p:sp>
          <p:nvSpPr>
            <p:cNvPr id="142" name="text 142"/>
            <p:cNvSpPr txBox="1"/>
            <p:nvPr/>
          </p:nvSpPr>
          <p:spPr>
            <a:xfrm>
              <a:off x="5760720" y="5760720"/>
              <a:ext cx="1069848" cy="256032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260" b="0" i="0">
                  <a:solidFill>
                    <a:srgbClr val="183EC6"/>
                  </a:solidFill>
                  <a:latin typeface="Arial"/>
                  <a:ea typeface="Arial"/>
                  <a:cs typeface="Arial"/>
                </a:rPr>
                <a:t>observations</a:t>
              </a:r>
              <a:endParaRPr lang="en-US" sz="1260"/>
            </a:p>
          </p:txBody>
        </p:sp>
        <p:cxnSp>
          <p:nvCxnSpPr>
            <p:cNvPr id="143" name="line 143"/>
            <p:cNvCxnSpPr/>
            <p:nvPr/>
          </p:nvCxnSpPr>
          <p:spPr>
            <a:xfrm flipV="1">
              <a:off x="7315200" y="3483864"/>
              <a:ext cx="1" cy="356616"/>
            </a:xfrm>
            <a:prstGeom prst="line">
              <a:avLst/>
            </a:prstGeom>
            <a:noFill/>
            <a:ln w="68580">
              <a:solidFill>
                <a:srgbClr val="6522B8"/>
              </a:solidFill>
              <a:round/>
              <a:tailEnd type="triangle" w="med" len="med"/>
            </a:ln>
          </p:spPr>
        </p:cxnSp>
        <p:sp>
          <p:nvSpPr>
            <p:cNvPr id="144" name="text 144"/>
            <p:cNvSpPr txBox="1"/>
            <p:nvPr/>
          </p:nvSpPr>
          <p:spPr>
            <a:xfrm>
              <a:off x="7470648" y="3538728"/>
              <a:ext cx="1197864" cy="274320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sz="1368" b="0" i="0">
                  <a:solidFill>
                    <a:srgbClr val="183EC6"/>
                  </a:solidFill>
                  <a:latin typeface="Arial"/>
                  <a:ea typeface="Arial"/>
                  <a:cs typeface="Arial"/>
                </a:rPr>
                <a:t>AP values</a:t>
              </a:r>
              <a:endParaRPr lang="en-US" sz="1368"/>
            </a:p>
          </p:txBody>
        </p:sp>
        <p:cxnSp>
          <p:nvCxnSpPr>
            <p:cNvPr id="145" name="line 145"/>
            <p:cNvCxnSpPr/>
            <p:nvPr/>
          </p:nvCxnSpPr>
          <p:spPr>
            <a:xfrm>
              <a:off x="4681728" y="6940296"/>
              <a:ext cx="1" cy="219456"/>
            </a:xfrm>
            <a:prstGeom prst="line">
              <a:avLst/>
            </a:prstGeom>
            <a:noFill/>
            <a:ln w="82296">
              <a:solidFill>
                <a:srgbClr val="6522B8"/>
              </a:solidFill>
              <a:round/>
              <a:tailEnd type="triangle" w="med" len="med"/>
            </a:ln>
          </p:spPr>
        </p:cxnSp>
      </p:grpSp>
      <p:grpSp>
        <p:nvGrpSpPr>
          <p:cNvPr id="146" name="Panel 2 background and heading"/>
          <p:cNvGrpSpPr/>
          <p:nvPr/>
        </p:nvGrpSpPr>
        <p:grpSpPr>
          <a:xfrm>
            <a:off x="165964" y="7124548"/>
            <a:ext cx="9031529" cy="2667305"/>
            <a:chOff x="165964" y="7124548"/>
            <a:chExt cx="9031529" cy="2667305"/>
          </a:xfrm>
        </p:grpSpPr>
        <p:sp>
          <p:nvSpPr>
            <p:cNvPr id="147" name="roundRect 147"/>
            <p:cNvSpPr/>
            <p:nvPr/>
          </p:nvSpPr>
          <p:spPr>
            <a:xfrm>
              <a:off x="182880" y="7141464"/>
              <a:ext cx="8997696" cy="2633472"/>
            </a:xfrm>
            <a:prstGeom prst="roundRect">
              <a:avLst>
                <a:gd name="adj" fmla="val 2778"/>
              </a:avLst>
            </a:prstGeom>
            <a:noFill/>
            <a:ln w="15545">
              <a:solidFill>
                <a:srgbClr val="6522B8"/>
              </a:solidFill>
              <a:round/>
            </a:ln>
          </p:spPr>
        </p:sp>
        <p:sp>
          <p:nvSpPr>
            <p:cNvPr id="148" name="ellipse 148"/>
            <p:cNvSpPr/>
            <p:nvPr/>
          </p:nvSpPr>
          <p:spPr>
            <a:xfrm>
              <a:off x="256032" y="7187184"/>
              <a:ext cx="411480" cy="411480"/>
            </a:xfrm>
            <a:prstGeom prst="ellipse">
              <a:avLst/>
            </a:prstGeom>
            <a:solidFill>
              <a:srgbClr val="6522B8"/>
            </a:solidFill>
            <a:ln w="0">
              <a:solidFill>
                <a:srgbClr val="6522B8"/>
              </a:solidFill>
              <a:round/>
            </a:ln>
          </p:spPr>
        </p:sp>
        <p:sp>
          <p:nvSpPr>
            <p:cNvPr id="149" name="text 149"/>
            <p:cNvSpPr txBox="1"/>
            <p:nvPr/>
          </p:nvSpPr>
          <p:spPr>
            <a:xfrm>
              <a:off x="265176" y="7178040"/>
              <a:ext cx="393192" cy="402336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2232" b="1" i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  <a:endParaRPr lang="en-US" sz="2232"/>
            </a:p>
          </p:txBody>
        </p:sp>
        <p:sp>
          <p:nvSpPr>
            <p:cNvPr id="150" name="text 150"/>
            <p:cNvSpPr txBox="1"/>
            <p:nvPr/>
          </p:nvSpPr>
          <p:spPr>
            <a:xfrm>
              <a:off x="859536" y="7168896"/>
              <a:ext cx="8028432" cy="429768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sz="2304" b="1" i="0">
                  <a:solidFill>
                    <a:srgbClr val="6522B8"/>
                  </a:solidFill>
                  <a:latin typeface="Arial"/>
                  <a:ea typeface="Arial"/>
                  <a:cs typeface="Arial"/>
                </a:rPr>
                <a:t>Parallel composition</a:t>
              </a:r>
              <a:endParaRPr lang="en-US" sz="2304"/>
            </a:p>
          </p:txBody>
        </p:sp>
        <p:sp>
          <p:nvSpPr>
            <p:cNvPr id="151" name="roundRect 151"/>
            <p:cNvSpPr/>
            <p:nvPr/>
          </p:nvSpPr>
          <p:spPr>
            <a:xfrm>
              <a:off x="301752" y="7571232"/>
              <a:ext cx="8759952" cy="283464"/>
            </a:xfrm>
            <a:prstGeom prst="roundRect">
              <a:avLst>
                <a:gd name="adj" fmla="val 25806"/>
              </a:avLst>
            </a:prstGeom>
            <a:solidFill>
              <a:srgbClr val="EAF5FE"/>
            </a:solidFill>
            <a:ln w="7315">
              <a:solidFill>
                <a:srgbClr val="76A3DE"/>
              </a:solidFill>
              <a:round/>
            </a:ln>
          </p:spPr>
        </p:sp>
        <p:sp>
          <p:nvSpPr>
            <p:cNvPr id="152" name="text 152"/>
            <p:cNvSpPr txBox="1"/>
            <p:nvPr/>
          </p:nvSpPr>
          <p:spPr>
            <a:xfrm>
              <a:off x="402336" y="7580376"/>
              <a:ext cx="8558784" cy="256032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440" b="0" i="0">
                  <a:solidFill>
                    <a:srgbClr val="183EC6"/>
                  </a:solidFill>
                  <a:latin typeface="Arial"/>
                  <a:ea typeface="Arial"/>
                  <a:cs typeface="Arial"/>
                </a:rPr>
                <a:t>Recovery + nominal + running tasks + safety monitors</a:t>
              </a:r>
              <a:endParaRPr lang="en-US" sz="1440"/>
            </a:p>
          </p:txBody>
        </p:sp>
      </p:grpSp>
      <p:grpSp>
        <p:nvGrpSpPr>
          <p:cNvPr id="153" name="Local view of composed states"/>
          <p:cNvGrpSpPr/>
          <p:nvPr/>
        </p:nvGrpSpPr>
        <p:grpSpPr>
          <a:xfrm>
            <a:off x="1634490" y="7934706"/>
            <a:ext cx="6131052" cy="1815084"/>
            <a:chOff x="1634490" y="7934706"/>
            <a:chExt cx="6131052" cy="1815084"/>
          </a:xfrm>
        </p:grpSpPr>
        <p:sp>
          <p:nvSpPr>
            <p:cNvPr id="154" name="roundRect 154"/>
            <p:cNvSpPr/>
            <p:nvPr/>
          </p:nvSpPr>
          <p:spPr>
            <a:xfrm>
              <a:off x="1655064" y="7973568"/>
              <a:ext cx="1929384" cy="512064"/>
            </a:xfrm>
            <a:prstGeom prst="roundRect">
              <a:avLst>
                <a:gd name="adj" fmla="val 14286"/>
              </a:avLst>
            </a:prstGeom>
            <a:solidFill>
              <a:srgbClr val="F4F7FC"/>
            </a:solidFill>
            <a:ln w="13716">
              <a:solidFill>
                <a:srgbClr val="202A54"/>
              </a:solidFill>
              <a:round/>
            </a:ln>
          </p:spPr>
        </p:sp>
        <p:sp>
          <p:nvSpPr>
            <p:cNvPr id="155" name="roundRect 155"/>
            <p:cNvSpPr/>
            <p:nvPr/>
          </p:nvSpPr>
          <p:spPr>
            <a:xfrm>
              <a:off x="5870448" y="7973568"/>
              <a:ext cx="1874520" cy="512064"/>
            </a:xfrm>
            <a:prstGeom prst="roundRect">
              <a:avLst>
                <a:gd name="adj" fmla="val 14286"/>
              </a:avLst>
            </a:prstGeom>
            <a:solidFill>
              <a:srgbClr val="FFF0EE"/>
            </a:solidFill>
            <a:ln w="13716">
              <a:solidFill>
                <a:srgbClr val="D62626"/>
              </a:solidFill>
              <a:round/>
            </a:ln>
          </p:spPr>
        </p:sp>
        <p:sp>
          <p:nvSpPr>
            <p:cNvPr id="156" name="roundRect 156"/>
            <p:cNvSpPr/>
            <p:nvPr/>
          </p:nvSpPr>
          <p:spPr>
            <a:xfrm>
              <a:off x="1655064" y="8906256"/>
              <a:ext cx="1929384" cy="512064"/>
            </a:xfrm>
            <a:prstGeom prst="roundRect">
              <a:avLst>
                <a:gd name="adj" fmla="val 14286"/>
              </a:avLst>
            </a:prstGeom>
            <a:solidFill>
              <a:srgbClr val="F4F7FC"/>
            </a:solidFill>
            <a:ln w="13716">
              <a:solidFill>
                <a:srgbClr val="202A54"/>
              </a:solidFill>
              <a:round/>
            </a:ln>
          </p:spPr>
        </p:sp>
        <p:sp>
          <p:nvSpPr>
            <p:cNvPr id="157" name="roundRect 157"/>
            <p:cNvSpPr/>
            <p:nvPr/>
          </p:nvSpPr>
          <p:spPr>
            <a:xfrm>
              <a:off x="5870448" y="8906256"/>
              <a:ext cx="1874520" cy="512064"/>
            </a:xfrm>
            <a:prstGeom prst="roundRect">
              <a:avLst>
                <a:gd name="adj" fmla="val 14286"/>
              </a:avLst>
            </a:prstGeom>
            <a:solidFill>
              <a:srgbClr val="ECF8E8"/>
            </a:solidFill>
            <a:ln w="13716">
              <a:solidFill>
                <a:srgbClr val="188725"/>
              </a:solidFill>
              <a:round/>
            </a:ln>
          </p:spPr>
        </p:sp>
        <p:sp>
          <p:nvSpPr>
            <p:cNvPr id="158" name="text 158"/>
            <p:cNvSpPr txBox="1"/>
            <p:nvPr/>
          </p:nvSpPr>
          <p:spPr>
            <a:xfrm>
              <a:off x="1691640" y="8037576"/>
              <a:ext cx="1856232" cy="402336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944" b="0" i="1">
                  <a:solidFill>
                    <a:srgbClr val="15191D"/>
                  </a:solidFill>
                  <a:latin typeface="Cambria"/>
                  <a:ea typeface="Cambria"/>
                  <a:cs typeface="Cambria"/>
                </a:rPr>
                <a:t>((0,1), q</a:t>
              </a:r>
              <a:r>
                <a:rPr lang="en-US" sz="1322" b="0" i="1" baseline="-27000">
                  <a:solidFill>
                    <a:srgbClr val="15191D"/>
                  </a:solidFill>
                  <a:latin typeface="Cambria"/>
                  <a:ea typeface="Cambria"/>
                  <a:cs typeface="Cambria"/>
                </a:rPr>
                <a:t>0</a:t>
              </a:r>
              <a:r>
                <a:rPr lang="en-US" sz="1944" b="0" i="1">
                  <a:solidFill>
                    <a:srgbClr val="15191D"/>
                  </a:solidFill>
                  <a:latin typeface="Cambria"/>
                  <a:ea typeface="Cambria"/>
                  <a:cs typeface="Cambria"/>
                </a:rPr>
                <a:t>)</a:t>
              </a:r>
              <a:endParaRPr lang="en-US" sz="1944"/>
            </a:p>
          </p:txBody>
        </p:sp>
        <p:sp>
          <p:nvSpPr>
            <p:cNvPr id="159" name="text 159"/>
            <p:cNvSpPr txBox="1"/>
            <p:nvPr/>
          </p:nvSpPr>
          <p:spPr>
            <a:xfrm>
              <a:off x="5907024" y="8037576"/>
              <a:ext cx="1801368" cy="402336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944" b="0" i="1">
                  <a:solidFill>
                    <a:srgbClr val="D62626"/>
                  </a:solidFill>
                  <a:latin typeface="Cambria"/>
                  <a:ea typeface="Cambria"/>
                  <a:cs typeface="Cambria"/>
                </a:rPr>
                <a:t>((1,1), q</a:t>
              </a:r>
              <a:r>
                <a:rPr lang="en-US" sz="1322" b="0" i="1" baseline="-27000">
                  <a:solidFill>
                    <a:srgbClr val="D62626"/>
                  </a:solidFill>
                  <a:latin typeface="Cambria"/>
                  <a:ea typeface="Cambria"/>
                  <a:cs typeface="Cambria"/>
                </a:rPr>
                <a:t>d</a:t>
              </a:r>
              <a:r>
                <a:rPr lang="en-US" sz="1944" b="0" i="1">
                  <a:solidFill>
                    <a:srgbClr val="D62626"/>
                  </a:solidFill>
                  <a:latin typeface="Cambria"/>
                  <a:ea typeface="Cambria"/>
                  <a:cs typeface="Cambria"/>
                </a:rPr>
                <a:t>)</a:t>
              </a:r>
              <a:endParaRPr lang="en-US" sz="1944"/>
            </a:p>
          </p:txBody>
        </p:sp>
        <p:sp>
          <p:nvSpPr>
            <p:cNvPr id="160" name="text 160"/>
            <p:cNvSpPr txBox="1"/>
            <p:nvPr/>
          </p:nvSpPr>
          <p:spPr>
            <a:xfrm>
              <a:off x="1691640" y="8970264"/>
              <a:ext cx="1856232" cy="402336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944" b="0" i="1">
                  <a:solidFill>
                    <a:srgbClr val="15191D"/>
                  </a:solidFill>
                  <a:latin typeface="Cambria"/>
                  <a:ea typeface="Cambria"/>
                  <a:cs typeface="Cambria"/>
                </a:rPr>
                <a:t>((0,0), q</a:t>
              </a:r>
              <a:r>
                <a:rPr lang="en-US" sz="1322" b="0" i="1" baseline="-27000">
                  <a:solidFill>
                    <a:srgbClr val="15191D"/>
                  </a:solidFill>
                  <a:latin typeface="Cambria"/>
                  <a:ea typeface="Cambria"/>
                  <a:cs typeface="Cambria"/>
                </a:rPr>
                <a:t>0</a:t>
              </a:r>
              <a:r>
                <a:rPr lang="en-US" sz="1944" b="0" i="1">
                  <a:solidFill>
                    <a:srgbClr val="15191D"/>
                  </a:solidFill>
                  <a:latin typeface="Cambria"/>
                  <a:ea typeface="Cambria"/>
                  <a:cs typeface="Cambria"/>
                </a:rPr>
                <a:t>)</a:t>
              </a:r>
              <a:endParaRPr lang="en-US" sz="1944"/>
            </a:p>
          </p:txBody>
        </p:sp>
        <p:sp>
          <p:nvSpPr>
            <p:cNvPr id="161" name="text 161"/>
            <p:cNvSpPr txBox="1"/>
            <p:nvPr/>
          </p:nvSpPr>
          <p:spPr>
            <a:xfrm>
              <a:off x="5907024" y="8970264"/>
              <a:ext cx="1801368" cy="402336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944" b="0" i="1">
                  <a:solidFill>
                    <a:srgbClr val="15191D"/>
                  </a:solidFill>
                  <a:latin typeface="Cambria"/>
                  <a:ea typeface="Cambria"/>
                  <a:cs typeface="Cambria"/>
                </a:rPr>
                <a:t>((1,0), q</a:t>
              </a:r>
              <a:r>
                <a:rPr lang="en-US" sz="1322" b="0" i="1" baseline="-27000">
                  <a:solidFill>
                    <a:srgbClr val="15191D"/>
                  </a:solidFill>
                  <a:latin typeface="Cambria"/>
                  <a:ea typeface="Cambria"/>
                  <a:cs typeface="Cambria"/>
                </a:rPr>
                <a:t>0</a:t>
              </a:r>
              <a:r>
                <a:rPr lang="en-US" sz="1944" b="0" i="1">
                  <a:solidFill>
                    <a:srgbClr val="15191D"/>
                  </a:solidFill>
                  <a:latin typeface="Cambria"/>
                  <a:ea typeface="Cambria"/>
                  <a:cs typeface="Cambria"/>
                </a:rPr>
                <a:t>)</a:t>
              </a:r>
              <a:endParaRPr lang="en-US" sz="1944"/>
            </a:p>
          </p:txBody>
        </p:sp>
        <p:cxnSp>
          <p:nvCxnSpPr>
            <p:cNvPr id="162" name="line 162"/>
            <p:cNvCxnSpPr/>
            <p:nvPr/>
          </p:nvCxnSpPr>
          <p:spPr>
            <a:xfrm>
              <a:off x="3593592" y="8229600"/>
              <a:ext cx="2267712" cy="1"/>
            </a:xfrm>
            <a:prstGeom prst="line">
              <a:avLst/>
            </a:prstGeom>
            <a:noFill/>
            <a:ln w="22860">
              <a:solidFill>
                <a:srgbClr val="15191D"/>
              </a:solidFill>
              <a:round/>
              <a:tailEnd type="triangle" w="med" len="med"/>
            </a:ln>
          </p:spPr>
        </p:cxnSp>
        <p:cxnSp>
          <p:nvCxnSpPr>
            <p:cNvPr id="163" name="line 163"/>
            <p:cNvCxnSpPr/>
            <p:nvPr/>
          </p:nvCxnSpPr>
          <p:spPr>
            <a:xfrm>
              <a:off x="2606040" y="8494776"/>
              <a:ext cx="1" cy="402336"/>
            </a:xfrm>
            <a:prstGeom prst="line">
              <a:avLst/>
            </a:prstGeom>
            <a:noFill/>
            <a:ln w="22860">
              <a:solidFill>
                <a:srgbClr val="15191D"/>
              </a:solidFill>
              <a:round/>
              <a:tailEnd type="triangle" w="med" len="med"/>
            </a:ln>
          </p:spPr>
        </p:cxnSp>
        <p:cxnSp>
          <p:nvCxnSpPr>
            <p:cNvPr id="164" name="line 164"/>
            <p:cNvCxnSpPr/>
            <p:nvPr/>
          </p:nvCxnSpPr>
          <p:spPr>
            <a:xfrm>
              <a:off x="3593592" y="9162288"/>
              <a:ext cx="2267712" cy="1"/>
            </a:xfrm>
            <a:prstGeom prst="line">
              <a:avLst/>
            </a:prstGeom>
            <a:noFill/>
            <a:ln w="22860">
              <a:solidFill>
                <a:srgbClr val="15191D"/>
              </a:solidFill>
              <a:round/>
              <a:tailEnd type="triangle" w="med" len="med"/>
            </a:ln>
          </p:spPr>
        </p:cxnSp>
        <p:sp>
          <p:nvSpPr>
            <p:cNvPr id="165" name="text 165"/>
            <p:cNvSpPr txBox="1"/>
            <p:nvPr/>
          </p:nvSpPr>
          <p:spPr>
            <a:xfrm>
              <a:off x="3867912" y="7955280"/>
              <a:ext cx="1755648" cy="246888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512" b="0" i="0">
                  <a:solidFill>
                    <a:srgbClr val="183EC6"/>
                  </a:solidFill>
                  <a:latin typeface="Arial"/>
                  <a:ea typeface="Arial"/>
                  <a:cs typeface="Arial"/>
                </a:rPr>
                <a:t>ap001: 0 → 1</a:t>
              </a:r>
              <a:endParaRPr lang="en-US" sz="1512"/>
            </a:p>
          </p:txBody>
        </p:sp>
        <p:sp>
          <p:nvSpPr>
            <p:cNvPr id="166" name="text 166"/>
            <p:cNvSpPr txBox="1"/>
            <p:nvPr/>
          </p:nvSpPr>
          <p:spPr>
            <a:xfrm>
              <a:off x="2743200" y="8567928"/>
              <a:ext cx="1645920" cy="265176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sz="1512" b="0" i="0">
                  <a:solidFill>
                    <a:srgbClr val="183EC6"/>
                  </a:solidFill>
                  <a:latin typeface="Arial"/>
                  <a:ea typeface="Arial"/>
                  <a:cs typeface="Arial"/>
                </a:rPr>
                <a:t>ap002: 1 → 0</a:t>
              </a:r>
              <a:endParaRPr lang="en-US" sz="1512"/>
            </a:p>
          </p:txBody>
        </p:sp>
        <p:sp>
          <p:nvSpPr>
            <p:cNvPr id="167" name="text 167"/>
            <p:cNvSpPr txBox="1"/>
            <p:nvPr/>
          </p:nvSpPr>
          <p:spPr>
            <a:xfrm>
              <a:off x="3867912" y="8887968"/>
              <a:ext cx="1755648" cy="246888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512" b="0" i="0">
                  <a:solidFill>
                    <a:srgbClr val="183EC6"/>
                  </a:solidFill>
                  <a:latin typeface="Arial"/>
                  <a:ea typeface="Arial"/>
                  <a:cs typeface="Arial"/>
                </a:rPr>
                <a:t>ap001: 0 → 1</a:t>
              </a:r>
              <a:endParaRPr lang="en-US" sz="1512"/>
            </a:p>
          </p:txBody>
        </p:sp>
        <p:sp>
          <p:nvSpPr>
            <p:cNvPr id="168" name="text 168"/>
            <p:cNvSpPr txBox="1"/>
            <p:nvPr/>
          </p:nvSpPr>
          <p:spPr>
            <a:xfrm>
              <a:off x="2221992" y="9482328"/>
              <a:ext cx="5394960" cy="246888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332" b="0" i="0">
                  <a:solidFill>
                    <a:srgbClr val="183EC6"/>
                  </a:solidFill>
                  <a:latin typeface="Arial"/>
                  <a:ea typeface="Arial"/>
                  <a:cs typeface="Arial"/>
                </a:rPr>
                <a:t>Local view: ((ap001, ap002), monitor state)</a:t>
              </a:r>
              <a:endParaRPr lang="en-US" sz="1332"/>
            </a:p>
          </p:txBody>
        </p:sp>
      </p:grpSp>
      <p:grpSp>
        <p:nvGrpSpPr>
          <p:cNvPr id="169" name="Panel 2 to panel 3"/>
          <p:cNvGrpSpPr/>
          <p:nvPr/>
        </p:nvGrpSpPr>
        <p:grpSpPr>
          <a:xfrm>
            <a:off x="4631436" y="9733788"/>
            <a:ext cx="100584" cy="329184"/>
            <a:chOff x="4631436" y="9733788"/>
            <a:chExt cx="100584" cy="329184"/>
          </a:xfrm>
        </p:grpSpPr>
        <p:cxnSp>
          <p:nvCxnSpPr>
            <p:cNvPr id="170" name="line 170"/>
            <p:cNvCxnSpPr/>
            <p:nvPr/>
          </p:nvCxnSpPr>
          <p:spPr>
            <a:xfrm>
              <a:off x="4681728" y="9784080"/>
              <a:ext cx="1" cy="228600"/>
            </a:xfrm>
            <a:prstGeom prst="line">
              <a:avLst/>
            </a:prstGeom>
            <a:noFill/>
            <a:ln w="82296">
              <a:solidFill>
                <a:srgbClr val="6522B8"/>
              </a:solidFill>
              <a:round/>
              <a:tailEnd type="triangle" w="med" len="med"/>
            </a:ln>
          </p:spPr>
        </p:cxnSp>
      </p:grpSp>
      <p:grpSp>
        <p:nvGrpSpPr>
          <p:cNvPr id="171" name="Panel 3 background and heading"/>
          <p:cNvGrpSpPr/>
          <p:nvPr/>
        </p:nvGrpSpPr>
        <p:grpSpPr>
          <a:xfrm>
            <a:off x="165964" y="9959188"/>
            <a:ext cx="9031529" cy="3673145"/>
            <a:chOff x="165964" y="9959188"/>
            <a:chExt cx="9031529" cy="3673145"/>
          </a:xfrm>
        </p:grpSpPr>
        <p:sp>
          <p:nvSpPr>
            <p:cNvPr id="172" name="roundRect 172"/>
            <p:cNvSpPr/>
            <p:nvPr/>
          </p:nvSpPr>
          <p:spPr>
            <a:xfrm>
              <a:off x="182880" y="9976104"/>
              <a:ext cx="8997696" cy="3639312"/>
            </a:xfrm>
            <a:prstGeom prst="roundRect">
              <a:avLst>
                <a:gd name="adj" fmla="val 2010"/>
              </a:avLst>
            </a:prstGeom>
            <a:noFill/>
            <a:ln w="15545">
              <a:solidFill>
                <a:srgbClr val="6522B8"/>
              </a:solidFill>
              <a:round/>
            </a:ln>
          </p:spPr>
        </p:sp>
        <p:sp>
          <p:nvSpPr>
            <p:cNvPr id="173" name="ellipse 173"/>
            <p:cNvSpPr/>
            <p:nvPr/>
          </p:nvSpPr>
          <p:spPr>
            <a:xfrm>
              <a:off x="256032" y="10021824"/>
              <a:ext cx="411480" cy="411480"/>
            </a:xfrm>
            <a:prstGeom prst="ellipse">
              <a:avLst/>
            </a:prstGeom>
            <a:solidFill>
              <a:srgbClr val="6522B8"/>
            </a:solidFill>
            <a:ln w="0">
              <a:solidFill>
                <a:srgbClr val="6522B8"/>
              </a:solidFill>
              <a:round/>
            </a:ln>
          </p:spPr>
        </p:sp>
        <p:sp>
          <p:nvSpPr>
            <p:cNvPr id="174" name="text 174"/>
            <p:cNvSpPr txBox="1"/>
            <p:nvPr/>
          </p:nvSpPr>
          <p:spPr>
            <a:xfrm>
              <a:off x="265176" y="10012680"/>
              <a:ext cx="393192" cy="402336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2232" b="1" i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  <a:endParaRPr lang="en-US" sz="2232"/>
            </a:p>
          </p:txBody>
        </p:sp>
        <p:sp>
          <p:nvSpPr>
            <p:cNvPr id="175" name="text 175"/>
            <p:cNvSpPr txBox="1"/>
            <p:nvPr/>
          </p:nvSpPr>
          <p:spPr>
            <a:xfrm>
              <a:off x="859536" y="10003536"/>
              <a:ext cx="8028432" cy="429768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sz="2304" b="1" i="0">
                  <a:solidFill>
                    <a:srgbClr val="6522B8"/>
                  </a:solidFill>
                  <a:latin typeface="Arial"/>
                  <a:ea typeface="Arial"/>
                  <a:cs typeface="Arial"/>
                </a:rPr>
                <a:t>Timed safety validation</a:t>
              </a:r>
              <a:endParaRPr lang="en-US" sz="2304"/>
            </a:p>
          </p:txBody>
        </p:sp>
        <p:sp>
          <p:nvSpPr>
            <p:cNvPr id="176" name="roundRect 176"/>
            <p:cNvSpPr/>
            <p:nvPr/>
          </p:nvSpPr>
          <p:spPr>
            <a:xfrm>
              <a:off x="301752" y="10415016"/>
              <a:ext cx="8759952" cy="292608"/>
            </a:xfrm>
            <a:prstGeom prst="roundRect">
              <a:avLst>
                <a:gd name="adj" fmla="val 25000"/>
              </a:avLst>
            </a:prstGeom>
            <a:solidFill>
              <a:srgbClr val="EAF5FE"/>
            </a:solidFill>
            <a:ln w="7315">
              <a:solidFill>
                <a:srgbClr val="76A3DE"/>
              </a:solidFill>
              <a:round/>
            </a:ln>
          </p:spPr>
        </p:sp>
        <p:sp>
          <p:nvSpPr>
            <p:cNvPr id="177" name="text 177"/>
            <p:cNvSpPr txBox="1"/>
            <p:nvPr/>
          </p:nvSpPr>
          <p:spPr>
            <a:xfrm>
              <a:off x="402336" y="10424160"/>
              <a:ext cx="8558784" cy="265176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584" b="1" i="0">
                  <a:solidFill>
                    <a:srgbClr val="183EC6"/>
                  </a:solidFill>
                  <a:latin typeface="Arial"/>
                  <a:ea typeface="Arial"/>
                  <a:cs typeface="Arial"/>
                </a:rPr>
                <a:t>Projected execution</a:t>
              </a:r>
              <a:endParaRPr lang="en-US" sz="1584"/>
            </a:p>
          </p:txBody>
        </p:sp>
      </p:grpSp>
      <p:grpSp>
        <p:nvGrpSpPr>
          <p:cNvPr id="178" name="Entry before exit timeline"/>
          <p:cNvGrpSpPr/>
          <p:nvPr/>
        </p:nvGrpSpPr>
        <p:grpSpPr>
          <a:xfrm>
            <a:off x="283464" y="10753344"/>
            <a:ext cx="4389120" cy="1591056"/>
            <a:chOff x="283464" y="10753344"/>
            <a:chExt cx="4389120" cy="1591056"/>
          </a:xfrm>
        </p:grpSpPr>
        <p:sp>
          <p:nvSpPr>
            <p:cNvPr id="179" name="roundRect 179"/>
            <p:cNvSpPr/>
            <p:nvPr/>
          </p:nvSpPr>
          <p:spPr>
            <a:xfrm>
              <a:off x="301752" y="10771632"/>
              <a:ext cx="4352544" cy="1554480"/>
            </a:xfrm>
            <a:prstGeom prst="roundRect">
              <a:avLst>
                <a:gd name="adj" fmla="val 4706"/>
              </a:avLst>
            </a:prstGeom>
            <a:solidFill>
              <a:srgbClr val="FFFBFB"/>
            </a:solidFill>
            <a:ln w="7315">
              <a:solidFill>
                <a:srgbClr val="D62626"/>
              </a:solidFill>
              <a:round/>
            </a:ln>
          </p:spPr>
        </p:sp>
        <p:sp>
          <p:nvSpPr>
            <p:cNvPr id="180" name="roundRect 180"/>
            <p:cNvSpPr/>
            <p:nvPr/>
          </p:nvSpPr>
          <p:spPr>
            <a:xfrm>
              <a:off x="384048" y="10826496"/>
              <a:ext cx="4187952" cy="274320"/>
            </a:xfrm>
            <a:prstGeom prst="roundRect">
              <a:avLst>
                <a:gd name="adj" fmla="val 26667"/>
              </a:avLst>
            </a:prstGeom>
            <a:solidFill>
              <a:srgbClr val="FFF0EF"/>
            </a:solidFill>
            <a:ln w="4572">
              <a:solidFill>
                <a:srgbClr val="D62626"/>
              </a:solidFill>
              <a:round/>
            </a:ln>
          </p:spPr>
        </p:sp>
        <p:sp>
          <p:nvSpPr>
            <p:cNvPr id="181" name="text 181"/>
            <p:cNvSpPr txBox="1"/>
            <p:nvPr/>
          </p:nvSpPr>
          <p:spPr>
            <a:xfrm>
              <a:off x="457200" y="10835640"/>
              <a:ext cx="4041648" cy="256032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656" b="1" i="0">
                  <a:solidFill>
                    <a:srgbClr val="D62626"/>
                  </a:solidFill>
                  <a:latin typeface="Arial"/>
                  <a:ea typeface="Arial"/>
                  <a:cs typeface="Arial"/>
                </a:rPr>
                <a:t>Entry before exit</a:t>
              </a:r>
              <a:endParaRPr lang="en-US" sz="1656"/>
            </a:p>
          </p:txBody>
        </p:sp>
        <p:sp>
          <p:nvSpPr>
            <p:cNvPr id="182" name="rect 182"/>
            <p:cNvSpPr/>
            <p:nvPr/>
          </p:nvSpPr>
          <p:spPr>
            <a:xfrm>
              <a:off x="1773936" y="11155680"/>
              <a:ext cx="950976" cy="694944"/>
            </a:xfrm>
            <a:prstGeom prst="rect">
              <a:avLst/>
            </a:prstGeom>
            <a:solidFill>
              <a:srgbClr val="F36A67">
                <a:alpha val="13000"/>
              </a:srgbClr>
            </a:solidFill>
            <a:ln w="0">
              <a:noFill/>
              <a:round/>
            </a:ln>
          </p:spPr>
        </p:sp>
        <p:sp>
          <p:nvSpPr>
            <p:cNvPr id="183" name="text 183"/>
            <p:cNvSpPr txBox="1"/>
            <p:nvPr/>
          </p:nvSpPr>
          <p:spPr>
            <a:xfrm>
              <a:off x="512064" y="11128248"/>
              <a:ext cx="411480" cy="301752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728" b="0" i="1">
                  <a:solidFill>
                    <a:srgbClr val="183EC6"/>
                  </a:solidFill>
                  <a:latin typeface="Cambria"/>
                  <a:ea typeface="Cambria"/>
                  <a:cs typeface="Cambria"/>
                </a:rPr>
                <a:t>r</a:t>
              </a:r>
              <a:r>
                <a:rPr lang="en-US" sz="1175" b="0" i="1" baseline="-27000">
                  <a:solidFill>
                    <a:srgbClr val="183EC6"/>
                  </a:solidFill>
                  <a:latin typeface="Cambria"/>
                  <a:ea typeface="Cambria"/>
                  <a:cs typeface="Cambria"/>
                </a:rPr>
                <a:t>1</a:t>
              </a:r>
              <a:endParaRPr lang="en-US" sz="1728"/>
            </a:p>
          </p:txBody>
        </p:sp>
        <p:cxnSp>
          <p:nvCxnSpPr>
            <p:cNvPr id="184" name="line 184"/>
            <p:cNvCxnSpPr/>
            <p:nvPr/>
          </p:nvCxnSpPr>
          <p:spPr>
            <a:xfrm>
              <a:off x="1051560" y="11311128"/>
              <a:ext cx="3337560" cy="1"/>
            </a:xfrm>
            <a:prstGeom prst="line">
              <a:avLst/>
            </a:prstGeom>
            <a:noFill/>
            <a:ln w="10973">
              <a:solidFill>
                <a:srgbClr val="7FACD4"/>
              </a:solidFill>
              <a:round/>
            </a:ln>
          </p:spPr>
        </p:cxnSp>
        <p:sp>
          <p:nvSpPr>
            <p:cNvPr id="185" name="text 185"/>
            <p:cNvSpPr txBox="1"/>
            <p:nvPr/>
          </p:nvSpPr>
          <p:spPr>
            <a:xfrm>
              <a:off x="512064" y="11457432"/>
              <a:ext cx="411480" cy="301752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728" b="0" i="1">
                  <a:solidFill>
                    <a:srgbClr val="183EC6"/>
                  </a:solidFill>
                  <a:latin typeface="Cambria"/>
                  <a:ea typeface="Cambria"/>
                  <a:cs typeface="Cambria"/>
                </a:rPr>
                <a:t>r</a:t>
              </a:r>
              <a:r>
                <a:rPr lang="en-US" sz="1175" b="0" i="1" baseline="-27000">
                  <a:solidFill>
                    <a:srgbClr val="183EC6"/>
                  </a:solidFill>
                  <a:latin typeface="Cambria"/>
                  <a:ea typeface="Cambria"/>
                  <a:cs typeface="Cambria"/>
                </a:rPr>
                <a:t>2</a:t>
              </a:r>
              <a:endParaRPr lang="en-US" sz="1728"/>
            </a:p>
          </p:txBody>
        </p:sp>
        <p:cxnSp>
          <p:nvCxnSpPr>
            <p:cNvPr id="186" name="line 186"/>
            <p:cNvCxnSpPr/>
            <p:nvPr/>
          </p:nvCxnSpPr>
          <p:spPr>
            <a:xfrm>
              <a:off x="1051560" y="11640312"/>
              <a:ext cx="3337560" cy="1"/>
            </a:xfrm>
            <a:prstGeom prst="line">
              <a:avLst/>
            </a:prstGeom>
            <a:noFill/>
            <a:ln w="10973">
              <a:solidFill>
                <a:srgbClr val="7FACD4"/>
              </a:solidFill>
              <a:round/>
            </a:ln>
          </p:spPr>
        </p:cxnSp>
        <p:sp>
          <p:nvSpPr>
            <p:cNvPr id="187" name="rect 187"/>
            <p:cNvSpPr/>
            <p:nvPr/>
          </p:nvSpPr>
          <p:spPr>
            <a:xfrm>
              <a:off x="1773936" y="11173968"/>
              <a:ext cx="1600200" cy="210312"/>
            </a:xfrm>
            <a:prstGeom prst="rect">
              <a:avLst/>
            </a:prstGeom>
            <a:solidFill>
              <a:srgbClr val="B8DFFE"/>
            </a:solidFill>
            <a:ln w="10973">
              <a:solidFill>
                <a:srgbClr val="183EC6"/>
              </a:solidFill>
              <a:round/>
            </a:ln>
          </p:spPr>
        </p:sp>
        <p:sp>
          <p:nvSpPr>
            <p:cNvPr id="188" name="rect 188"/>
            <p:cNvSpPr/>
            <p:nvPr/>
          </p:nvSpPr>
          <p:spPr>
            <a:xfrm>
              <a:off x="1188720" y="11512296"/>
              <a:ext cx="1536192" cy="210312"/>
            </a:xfrm>
            <a:prstGeom prst="rect">
              <a:avLst/>
            </a:prstGeom>
            <a:solidFill>
              <a:srgbClr val="CDCDCD"/>
            </a:solidFill>
            <a:ln w="9144">
              <a:solidFill>
                <a:srgbClr val="15191D"/>
              </a:solidFill>
              <a:round/>
            </a:ln>
          </p:spPr>
        </p:sp>
        <p:cxnSp>
          <p:nvCxnSpPr>
            <p:cNvPr id="189" name="line 189"/>
            <p:cNvCxnSpPr/>
            <p:nvPr/>
          </p:nvCxnSpPr>
          <p:spPr>
            <a:xfrm>
              <a:off x="1051560" y="11850624"/>
              <a:ext cx="2331720" cy="1"/>
            </a:xfrm>
            <a:prstGeom prst="line">
              <a:avLst/>
            </a:prstGeom>
            <a:noFill/>
            <a:ln w="18288">
              <a:solidFill>
                <a:srgbClr val="15191D"/>
              </a:solidFill>
              <a:round/>
              <a:tailEnd type="triangle" w="med" len="med"/>
            </a:ln>
          </p:spPr>
        </p:cxnSp>
        <p:sp>
          <p:nvSpPr>
            <p:cNvPr id="190" name="text 190"/>
            <p:cNvSpPr txBox="1"/>
            <p:nvPr/>
          </p:nvSpPr>
          <p:spPr>
            <a:xfrm>
              <a:off x="3456432" y="11722608"/>
              <a:ext cx="1033272" cy="265176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332" b="0" i="0">
                  <a:solidFill>
                    <a:srgbClr val="183EC6"/>
                  </a:solidFill>
                  <a:latin typeface="Arial"/>
                  <a:ea typeface="Arial"/>
                  <a:cs typeface="Arial"/>
                </a:rPr>
                <a:t>Model time</a:t>
              </a:r>
              <a:endParaRPr lang="en-US" sz="1332"/>
            </a:p>
          </p:txBody>
        </p:sp>
        <p:sp>
          <p:nvSpPr>
            <p:cNvPr id="191" name="text 191"/>
            <p:cNvSpPr txBox="1"/>
            <p:nvPr/>
          </p:nvSpPr>
          <p:spPr>
            <a:xfrm>
              <a:off x="731520" y="11960352"/>
              <a:ext cx="3547872" cy="320040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728" b="1" i="0">
                  <a:solidFill>
                    <a:srgbClr val="D62626"/>
                  </a:solidFill>
                  <a:latin typeface="Arial"/>
                  <a:ea typeface="Arial"/>
                  <a:cs typeface="Arial"/>
                </a:rPr>
                <a:t>Mutex violation</a:t>
              </a:r>
              <a:endParaRPr lang="en-US" sz="1728"/>
            </a:p>
          </p:txBody>
        </p:sp>
      </p:grpSp>
      <p:grpSp>
        <p:nvGrpSpPr>
          <p:cNvPr id="192" name="Exit before entry timeline"/>
          <p:cNvGrpSpPr/>
          <p:nvPr/>
        </p:nvGrpSpPr>
        <p:grpSpPr>
          <a:xfrm>
            <a:off x="4745736" y="10753344"/>
            <a:ext cx="4334256" cy="1591056"/>
            <a:chOff x="4745736" y="10753344"/>
            <a:chExt cx="4334256" cy="1591056"/>
          </a:xfrm>
        </p:grpSpPr>
        <p:sp>
          <p:nvSpPr>
            <p:cNvPr id="193" name="roundRect 193"/>
            <p:cNvSpPr/>
            <p:nvPr/>
          </p:nvSpPr>
          <p:spPr>
            <a:xfrm>
              <a:off x="4764024" y="10771632"/>
              <a:ext cx="4297680" cy="1554480"/>
            </a:xfrm>
            <a:prstGeom prst="roundRect">
              <a:avLst>
                <a:gd name="adj" fmla="val 4706"/>
              </a:avLst>
            </a:prstGeom>
            <a:solidFill>
              <a:srgbClr val="FBFEFA"/>
            </a:solidFill>
            <a:ln w="7315">
              <a:solidFill>
                <a:srgbClr val="188725"/>
              </a:solidFill>
              <a:round/>
            </a:ln>
          </p:spPr>
        </p:sp>
        <p:sp>
          <p:nvSpPr>
            <p:cNvPr id="194" name="roundRect 194"/>
            <p:cNvSpPr/>
            <p:nvPr/>
          </p:nvSpPr>
          <p:spPr>
            <a:xfrm>
              <a:off x="4846320" y="10826496"/>
              <a:ext cx="4133088" cy="274320"/>
            </a:xfrm>
            <a:prstGeom prst="roundRect">
              <a:avLst>
                <a:gd name="adj" fmla="val 26667"/>
              </a:avLst>
            </a:prstGeom>
            <a:solidFill>
              <a:srgbClr val="EEF9E9"/>
            </a:solidFill>
            <a:ln w="4572">
              <a:solidFill>
                <a:srgbClr val="188725"/>
              </a:solidFill>
              <a:round/>
            </a:ln>
          </p:spPr>
        </p:sp>
        <p:sp>
          <p:nvSpPr>
            <p:cNvPr id="195" name="text 195"/>
            <p:cNvSpPr txBox="1"/>
            <p:nvPr/>
          </p:nvSpPr>
          <p:spPr>
            <a:xfrm>
              <a:off x="4919472" y="10835640"/>
              <a:ext cx="4041648" cy="256032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656" b="1" i="0">
                  <a:solidFill>
                    <a:srgbClr val="188725"/>
                  </a:solidFill>
                  <a:latin typeface="Arial"/>
                  <a:ea typeface="Arial"/>
                  <a:cs typeface="Arial"/>
                </a:rPr>
                <a:t>Exit before entry</a:t>
              </a:r>
              <a:endParaRPr lang="en-US" sz="1656"/>
            </a:p>
          </p:txBody>
        </p:sp>
        <p:sp>
          <p:nvSpPr>
            <p:cNvPr id="196" name="text 196"/>
            <p:cNvSpPr txBox="1"/>
            <p:nvPr/>
          </p:nvSpPr>
          <p:spPr>
            <a:xfrm>
              <a:off x="4974336" y="11128248"/>
              <a:ext cx="411480" cy="301752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728" b="0" i="1">
                  <a:solidFill>
                    <a:srgbClr val="183EC6"/>
                  </a:solidFill>
                  <a:latin typeface="Cambria"/>
                  <a:ea typeface="Cambria"/>
                  <a:cs typeface="Cambria"/>
                </a:rPr>
                <a:t>r</a:t>
              </a:r>
              <a:r>
                <a:rPr lang="en-US" sz="1175" b="0" i="1" baseline="-27000">
                  <a:solidFill>
                    <a:srgbClr val="183EC6"/>
                  </a:solidFill>
                  <a:latin typeface="Cambria"/>
                  <a:ea typeface="Cambria"/>
                  <a:cs typeface="Cambria"/>
                </a:rPr>
                <a:t>1</a:t>
              </a:r>
              <a:endParaRPr lang="en-US" sz="1728"/>
            </a:p>
          </p:txBody>
        </p:sp>
        <p:cxnSp>
          <p:nvCxnSpPr>
            <p:cNvPr id="197" name="line 197"/>
            <p:cNvCxnSpPr/>
            <p:nvPr/>
          </p:nvCxnSpPr>
          <p:spPr>
            <a:xfrm>
              <a:off x="5513832" y="11311128"/>
              <a:ext cx="3337560" cy="1"/>
            </a:xfrm>
            <a:prstGeom prst="line">
              <a:avLst/>
            </a:prstGeom>
            <a:noFill/>
            <a:ln w="10973">
              <a:solidFill>
                <a:srgbClr val="7FACD4"/>
              </a:solidFill>
              <a:round/>
            </a:ln>
          </p:spPr>
        </p:cxnSp>
        <p:sp>
          <p:nvSpPr>
            <p:cNvPr id="198" name="text 198"/>
            <p:cNvSpPr txBox="1"/>
            <p:nvPr/>
          </p:nvSpPr>
          <p:spPr>
            <a:xfrm>
              <a:off x="4974336" y="11457432"/>
              <a:ext cx="411480" cy="301752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728" b="0" i="1">
                  <a:solidFill>
                    <a:srgbClr val="183EC6"/>
                  </a:solidFill>
                  <a:latin typeface="Cambria"/>
                  <a:ea typeface="Cambria"/>
                  <a:cs typeface="Cambria"/>
                </a:rPr>
                <a:t>r</a:t>
              </a:r>
              <a:r>
                <a:rPr lang="en-US" sz="1175" b="0" i="1" baseline="-27000">
                  <a:solidFill>
                    <a:srgbClr val="183EC6"/>
                  </a:solidFill>
                  <a:latin typeface="Cambria"/>
                  <a:ea typeface="Cambria"/>
                  <a:cs typeface="Cambria"/>
                </a:rPr>
                <a:t>2</a:t>
              </a:r>
              <a:endParaRPr lang="en-US" sz="1728"/>
            </a:p>
          </p:txBody>
        </p:sp>
        <p:cxnSp>
          <p:nvCxnSpPr>
            <p:cNvPr id="199" name="line 199"/>
            <p:cNvCxnSpPr/>
            <p:nvPr/>
          </p:nvCxnSpPr>
          <p:spPr>
            <a:xfrm>
              <a:off x="5513832" y="11640312"/>
              <a:ext cx="3337560" cy="1"/>
            </a:xfrm>
            <a:prstGeom prst="line">
              <a:avLst/>
            </a:prstGeom>
            <a:noFill/>
            <a:ln w="10973">
              <a:solidFill>
                <a:srgbClr val="7FACD4"/>
              </a:solidFill>
              <a:round/>
            </a:ln>
          </p:spPr>
        </p:cxnSp>
        <p:sp>
          <p:nvSpPr>
            <p:cNvPr id="200" name="rect 200"/>
            <p:cNvSpPr/>
            <p:nvPr/>
          </p:nvSpPr>
          <p:spPr>
            <a:xfrm>
              <a:off x="7205472" y="11173968"/>
              <a:ext cx="1161288" cy="210312"/>
            </a:xfrm>
            <a:prstGeom prst="rect">
              <a:avLst/>
            </a:prstGeom>
            <a:solidFill>
              <a:srgbClr val="B8DFFE"/>
            </a:solidFill>
            <a:ln w="10973">
              <a:solidFill>
                <a:srgbClr val="183EC6"/>
              </a:solidFill>
              <a:round/>
            </a:ln>
          </p:spPr>
        </p:sp>
        <p:sp>
          <p:nvSpPr>
            <p:cNvPr id="201" name="rect 201"/>
            <p:cNvSpPr/>
            <p:nvPr/>
          </p:nvSpPr>
          <p:spPr>
            <a:xfrm>
              <a:off x="5559552" y="11512296"/>
              <a:ext cx="905256" cy="210312"/>
            </a:xfrm>
            <a:prstGeom prst="rect">
              <a:avLst/>
            </a:prstGeom>
            <a:solidFill>
              <a:srgbClr val="CDCDCD"/>
            </a:solidFill>
            <a:ln w="9144">
              <a:solidFill>
                <a:srgbClr val="15191D"/>
              </a:solidFill>
              <a:round/>
            </a:ln>
          </p:spPr>
        </p:sp>
        <p:cxnSp>
          <p:nvCxnSpPr>
            <p:cNvPr id="202" name="line 202"/>
            <p:cNvCxnSpPr/>
            <p:nvPr/>
          </p:nvCxnSpPr>
          <p:spPr>
            <a:xfrm>
              <a:off x="5513832" y="11850624"/>
              <a:ext cx="2331720" cy="1"/>
            </a:xfrm>
            <a:prstGeom prst="line">
              <a:avLst/>
            </a:prstGeom>
            <a:noFill/>
            <a:ln w="18288">
              <a:solidFill>
                <a:srgbClr val="15191D"/>
              </a:solidFill>
              <a:round/>
              <a:tailEnd type="triangle" w="med" len="med"/>
            </a:ln>
          </p:spPr>
        </p:cxnSp>
        <p:sp>
          <p:nvSpPr>
            <p:cNvPr id="203" name="text 203"/>
            <p:cNvSpPr txBox="1"/>
            <p:nvPr/>
          </p:nvSpPr>
          <p:spPr>
            <a:xfrm>
              <a:off x="7918704" y="11722608"/>
              <a:ext cx="1033272" cy="265176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332" b="0" i="0">
                  <a:solidFill>
                    <a:srgbClr val="183EC6"/>
                  </a:solidFill>
                  <a:latin typeface="Arial"/>
                  <a:ea typeface="Arial"/>
                  <a:cs typeface="Arial"/>
                </a:rPr>
                <a:t>Model time</a:t>
              </a:r>
              <a:endParaRPr lang="en-US" sz="1332"/>
            </a:p>
          </p:txBody>
        </p:sp>
        <p:sp>
          <p:nvSpPr>
            <p:cNvPr id="204" name="text 204"/>
            <p:cNvSpPr txBox="1"/>
            <p:nvPr/>
          </p:nvSpPr>
          <p:spPr>
            <a:xfrm>
              <a:off x="5193792" y="11960352"/>
              <a:ext cx="3547872" cy="320040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728" b="1" i="0">
                  <a:solidFill>
                    <a:srgbClr val="188725"/>
                  </a:solidFill>
                  <a:latin typeface="Arial"/>
                  <a:ea typeface="Arial"/>
                  <a:cs typeface="Arial"/>
                </a:rPr>
                <a:t>No mutex conflict</a:t>
              </a:r>
              <a:endParaRPr lang="en-US" sz="1728"/>
            </a:p>
          </p:txBody>
        </p:sp>
      </p:grpSp>
      <p:grpSp>
        <p:nvGrpSpPr>
          <p:cNvPr id="205" name="CCA decision and RA execution"/>
          <p:cNvGrpSpPr/>
          <p:nvPr/>
        </p:nvGrpSpPr>
        <p:grpSpPr>
          <a:xfrm>
            <a:off x="279806" y="12413894"/>
            <a:ext cx="8803843" cy="1132027"/>
            <a:chOff x="279806" y="12413894"/>
            <a:chExt cx="8803843" cy="1132027"/>
          </a:xfrm>
        </p:grpSpPr>
        <p:sp>
          <p:nvSpPr>
            <p:cNvPr id="206" name="roundRect 206"/>
            <p:cNvSpPr/>
            <p:nvPr/>
          </p:nvSpPr>
          <p:spPr>
            <a:xfrm>
              <a:off x="301752" y="12435840"/>
              <a:ext cx="8759952" cy="1088136"/>
            </a:xfrm>
            <a:prstGeom prst="roundRect">
              <a:avLst>
                <a:gd name="adj" fmla="val 6723"/>
              </a:avLst>
            </a:prstGeom>
            <a:solidFill>
              <a:srgbClr val="FBF8FF"/>
            </a:solidFill>
            <a:ln w="9144">
              <a:solidFill>
                <a:srgbClr val="6522B8"/>
              </a:solidFill>
              <a:round/>
            </a:ln>
          </p:spPr>
        </p:sp>
        <p:sp>
          <p:nvSpPr>
            <p:cNvPr id="207" name="text 207"/>
            <p:cNvSpPr txBox="1"/>
            <p:nvPr/>
          </p:nvSpPr>
          <p:spPr>
            <a:xfrm>
              <a:off x="1892808" y="12463272"/>
              <a:ext cx="5586984" cy="320040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800" b="1" i="0">
                  <a:solidFill>
                    <a:srgbClr val="183EC6"/>
                  </a:solidFill>
                  <a:latin typeface="Arial"/>
                  <a:ea typeface="Arial"/>
                  <a:cs typeface="Arial"/>
                </a:rPr>
                <a:t>CCA decision from composition</a:t>
              </a:r>
              <a:endParaRPr lang="en-US" sz="1800"/>
            </a:p>
          </p:txBody>
        </p:sp>
        <p:sp>
          <p:nvSpPr>
            <p:cNvPr id="208" name="roundRect 208"/>
            <p:cNvSpPr/>
            <p:nvPr/>
          </p:nvSpPr>
          <p:spPr>
            <a:xfrm>
              <a:off x="1033272" y="12838176"/>
              <a:ext cx="2322576" cy="512064"/>
            </a:xfrm>
            <a:prstGeom prst="roundRect">
              <a:avLst>
                <a:gd name="adj" fmla="val 14286"/>
              </a:avLst>
            </a:prstGeom>
            <a:solidFill>
              <a:srgbClr val="EBF8E4"/>
            </a:solidFill>
            <a:ln w="12802">
              <a:solidFill>
                <a:srgbClr val="188725"/>
              </a:solidFill>
              <a:round/>
            </a:ln>
          </p:spPr>
        </p:sp>
        <p:sp>
          <p:nvSpPr>
            <p:cNvPr id="209" name="roundRect 209"/>
            <p:cNvSpPr/>
            <p:nvPr/>
          </p:nvSpPr>
          <p:spPr>
            <a:xfrm>
              <a:off x="3941064" y="12838176"/>
              <a:ext cx="2386584" cy="512064"/>
            </a:xfrm>
            <a:prstGeom prst="roundRect">
              <a:avLst>
                <a:gd name="adj" fmla="val 14286"/>
              </a:avLst>
            </a:prstGeom>
            <a:solidFill>
              <a:srgbClr val="F4F7FF"/>
            </a:solidFill>
            <a:ln w="9144">
              <a:solidFill>
                <a:srgbClr val="183EC6"/>
              </a:solidFill>
              <a:round/>
            </a:ln>
          </p:spPr>
        </p:sp>
        <p:sp>
          <p:nvSpPr>
            <p:cNvPr id="210" name="roundRect 210"/>
            <p:cNvSpPr/>
            <p:nvPr/>
          </p:nvSpPr>
          <p:spPr>
            <a:xfrm>
              <a:off x="6510528" y="12838176"/>
              <a:ext cx="1810512" cy="512064"/>
            </a:xfrm>
            <a:prstGeom prst="roundRect">
              <a:avLst>
                <a:gd name="adj" fmla="val 14286"/>
              </a:avLst>
            </a:prstGeom>
            <a:solidFill>
              <a:srgbClr val="FFF0EE"/>
            </a:solidFill>
            <a:ln w="12802">
              <a:solidFill>
                <a:srgbClr val="D62626"/>
              </a:solidFill>
              <a:round/>
            </a:ln>
          </p:spPr>
        </p:sp>
        <p:sp>
          <p:nvSpPr>
            <p:cNvPr id="211" name="text 211"/>
            <p:cNvSpPr txBox="1"/>
            <p:nvPr/>
          </p:nvSpPr>
          <p:spPr>
            <a:xfrm>
              <a:off x="1133856" y="12902184"/>
              <a:ext cx="2103120" cy="384048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2160" b="1" i="0">
                  <a:solidFill>
                    <a:srgbClr val="15191D"/>
                  </a:solidFill>
                  <a:latin typeface="Arial"/>
                  <a:ea typeface="Arial"/>
                  <a:cs typeface="Arial"/>
                </a:rPr>
                <a:t>allow</a:t>
              </a:r>
              <a:endParaRPr lang="en-US" sz="2160"/>
            </a:p>
          </p:txBody>
        </p:sp>
        <p:sp>
          <p:nvSpPr>
            <p:cNvPr id="212" name="text 212"/>
            <p:cNvSpPr txBox="1"/>
            <p:nvPr/>
          </p:nvSpPr>
          <p:spPr>
            <a:xfrm>
              <a:off x="6620256" y="12902184"/>
              <a:ext cx="1591056" cy="384048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2160" b="1" i="0">
                  <a:solidFill>
                    <a:srgbClr val="D62626"/>
                  </a:solidFill>
                  <a:latin typeface="Arial"/>
                  <a:ea typeface="Arial"/>
                  <a:cs typeface="Arial"/>
                </a:rPr>
                <a:t>block</a:t>
              </a:r>
              <a:endParaRPr lang="en-US" sz="2160"/>
            </a:p>
          </p:txBody>
        </p:sp>
        <p:cxnSp>
          <p:nvCxnSpPr>
            <p:cNvPr id="213" name="line 213"/>
            <p:cNvCxnSpPr/>
            <p:nvPr/>
          </p:nvCxnSpPr>
          <p:spPr>
            <a:xfrm>
              <a:off x="3456432" y="13094208"/>
              <a:ext cx="475488" cy="1"/>
            </a:xfrm>
            <a:prstGeom prst="line">
              <a:avLst/>
            </a:prstGeom>
            <a:noFill/>
            <a:ln w="25603">
              <a:solidFill>
                <a:srgbClr val="15191D"/>
              </a:solidFill>
              <a:round/>
              <a:tailEnd type="triangle" w="med" len="med"/>
            </a:ln>
          </p:spPr>
        </p:cxnSp>
        <p:sp>
          <p:nvSpPr>
            <p:cNvPr id="214" name="path 214"/>
            <p:cNvSpPr/>
            <p:nvPr/>
          </p:nvSpPr>
          <p:spPr>
            <a:xfrm>
              <a:off x="4014216" y="12920472"/>
              <a:ext cx="347472" cy="347472"/>
            </a:xfrm>
            <a:custGeom>
              <a:avLst/>
              <a:gdLst/>
              <a:ahLst/>
              <a:cxnLst/>
              <a:rect l="0" t="0" r="r" b="b"/>
              <a:pathLst>
                <a:path w="347472" h="347472">
                  <a:moveTo>
                    <a:pt x="347472" y="173736"/>
                  </a:moveTo>
                  <a:lnTo>
                    <a:pt x="344134" y="207630"/>
                  </a:lnTo>
                  <a:lnTo>
                    <a:pt x="300455" y="226225"/>
                  </a:lnTo>
                  <a:lnTo>
                    <a:pt x="287780" y="249938"/>
                  </a:lnTo>
                  <a:lnTo>
                    <a:pt x="296586" y="296586"/>
                  </a:lnTo>
                  <a:lnTo>
                    <a:pt x="270259" y="318192"/>
                  </a:lnTo>
                  <a:lnTo>
                    <a:pt x="226225" y="300455"/>
                  </a:lnTo>
                  <a:lnTo>
                    <a:pt x="200495" y="308261"/>
                  </a:lnTo>
                  <a:lnTo>
                    <a:pt x="173736" y="347472"/>
                  </a:lnTo>
                  <a:lnTo>
                    <a:pt x="139842" y="344134"/>
                  </a:lnTo>
                  <a:lnTo>
                    <a:pt x="121247" y="300455"/>
                  </a:lnTo>
                  <a:lnTo>
                    <a:pt x="97534" y="287780"/>
                  </a:lnTo>
                  <a:lnTo>
                    <a:pt x="50886" y="296586"/>
                  </a:lnTo>
                  <a:lnTo>
                    <a:pt x="29280" y="270259"/>
                  </a:lnTo>
                  <a:lnTo>
                    <a:pt x="47017" y="226225"/>
                  </a:lnTo>
                  <a:lnTo>
                    <a:pt x="39211" y="200495"/>
                  </a:lnTo>
                  <a:lnTo>
                    <a:pt x="0" y="173736"/>
                  </a:lnTo>
                  <a:lnTo>
                    <a:pt x="3338" y="139842"/>
                  </a:lnTo>
                  <a:lnTo>
                    <a:pt x="47017" y="121247"/>
                  </a:lnTo>
                  <a:lnTo>
                    <a:pt x="59692" y="97534"/>
                  </a:lnTo>
                  <a:lnTo>
                    <a:pt x="50886" y="50886"/>
                  </a:lnTo>
                  <a:lnTo>
                    <a:pt x="77213" y="29280"/>
                  </a:lnTo>
                  <a:lnTo>
                    <a:pt x="121247" y="47017"/>
                  </a:lnTo>
                  <a:lnTo>
                    <a:pt x="146977" y="39211"/>
                  </a:lnTo>
                  <a:lnTo>
                    <a:pt x="173736" y="0"/>
                  </a:lnTo>
                  <a:lnTo>
                    <a:pt x="207630" y="3338"/>
                  </a:lnTo>
                  <a:lnTo>
                    <a:pt x="226225" y="47017"/>
                  </a:lnTo>
                  <a:lnTo>
                    <a:pt x="249938" y="59692"/>
                  </a:lnTo>
                  <a:lnTo>
                    <a:pt x="296586" y="50886"/>
                  </a:lnTo>
                  <a:lnTo>
                    <a:pt x="318192" y="77213"/>
                  </a:lnTo>
                  <a:lnTo>
                    <a:pt x="300455" y="121247"/>
                  </a:lnTo>
                  <a:lnTo>
                    <a:pt x="308261" y="146977"/>
                  </a:lnTo>
                  <a:close/>
                </a:path>
              </a:pathLst>
            </a:custGeom>
            <a:solidFill>
              <a:srgbClr val="15191D"/>
            </a:solidFill>
            <a:ln w="0">
              <a:noFill/>
              <a:round/>
            </a:ln>
          </p:spPr>
        </p:sp>
        <p:sp>
          <p:nvSpPr>
            <p:cNvPr id="215" name="ellipse 215"/>
            <p:cNvSpPr/>
            <p:nvPr/>
          </p:nvSpPr>
          <p:spPr>
            <a:xfrm>
              <a:off x="4114800" y="13021056"/>
              <a:ext cx="146304" cy="146304"/>
            </a:xfrm>
            <a:prstGeom prst="ellipse">
              <a:avLst/>
            </a:prstGeom>
            <a:solidFill>
              <a:srgbClr val="FFFFFF"/>
            </a:solidFill>
            <a:ln w="0">
              <a:noFill/>
              <a:round/>
            </a:ln>
          </p:spPr>
        </p:sp>
        <p:sp>
          <p:nvSpPr>
            <p:cNvPr id="216" name="text 216"/>
            <p:cNvSpPr txBox="1"/>
            <p:nvPr/>
          </p:nvSpPr>
          <p:spPr>
            <a:xfrm>
              <a:off x="4416552" y="12920472"/>
              <a:ext cx="1828800" cy="338328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728" b="1" i="0">
                  <a:solidFill>
                    <a:srgbClr val="183EC6"/>
                  </a:solidFill>
                  <a:latin typeface="Arial"/>
                  <a:ea typeface="Arial"/>
                  <a:cs typeface="Arial"/>
                </a:rPr>
                <a:t>RA execution</a:t>
              </a:r>
              <a:endParaRPr lang="en-US" sz="1728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CCA native editable figure">
  <a:themeElements>
    <a:clrScheme name="CCA">
      <a:dk1>
        <a:srgbClr val="20242B"/>
      </a:dk1>
      <a:lt1>
        <a:srgbClr val="FFFFFF"/>
      </a:lt1>
      <a:dk2>
        <a:srgbClr val="394452"/>
      </a:dk2>
      <a:lt2>
        <a:srgbClr val="F4F6F8"/>
      </a:lt2>
      <a:accent1>
        <a:srgbClr val="6B21D9"/>
      </a:accent1>
      <a:accent2>
        <a:srgbClr val="2775C9"/>
      </a:accent2>
      <a:accent3>
        <a:srgbClr val="6B7280"/>
      </a:accent3>
      <a:accent4>
        <a:srgbClr val="DB3038"/>
      </a:accent4>
      <a:accent5>
        <a:srgbClr val="159447"/>
      </a:accent5>
      <a:accent6>
        <a:srgbClr val="EF9B22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C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