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slippage: ur5e-4 dropped gear_small during place_approach (device fault report from gripper object detection; measured holder: none).</a:t>
            </a:r>
          </a:p>
          <a:p/>
          <a:p>
            <a:r>
              <a:t>The LLM (gpt-5.4, reasoning effort medium, every check off) proposed four recovery events that do not exist in the nominal DES models:</a:t>
            </a:r>
          </a:p>
          <a:p>
            <a:r>
              <a:t>1. ur5e-4 clear_fault_and_retract_home</a:t>
            </a:r>
          </a:p>
          <a:p>
            <a:r>
              <a:t>2. ur5e-3 place_KET4_in_buffer_zone_1 (also changes the Buffer: zone_1_part = KET4_Square_4mm)</a:t>
            </a:r>
          </a:p>
          <a:p>
            <a:r>
              <a:t>3. ur5e-3 recover_pick_gear_small_from_drop_pose</a:t>
            </a:r>
          </a:p>
          <a:p>
            <a:r>
              <a:t>4. ur5e-3 assemble_place_gear_small_on_assembly_board_target</a:t>
            </a:r>
          </a:p>
          <a:p/>
          <a:p>
            <a:r>
              <a:t>Code then found nominal events that connect to the remaining plan: ur5e-3 move_home, pick_approach (KET4), pick_grasp (KET4). The handoff check passed.</a:t>
            </a:r>
          </a:p>
          <a:p/>
          <a:p>
            <a:r>
              <a:t>Review findings: the handoff holds only on ur5e-3's reduced pick model; the buffer's own pick guard needs KET4 in zone_4_part, but the LLM put it in zone_1. gear_small's process record never gets the assembly that safety rule 5a reads.</a:t>
            </a:r>
          </a:p>
          <a:p/>
          <a:p>
            <a:r>
              <a:t>Run: draft_66d30ad65cc84e959dc726686fd62ae3, 8 LLM calls, 243 s, about 82k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9184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B2F36"/>
                </a:solidFill>
                <a:latin typeface="Arial"/>
              </a:rPr>
              <a:t>Part slippage: recovery outline proposed by the LLM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9611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673"/>
                </a:solidFill>
                <a:latin typeface="Arial"/>
              </a:rPr>
              <a:t>gpt-5.4, reasoning effort medium, every check off  ·  run of 20 Oct 2026  ·  4 recovery events, 8 LLM calls, 243 s</a:t>
            </a:r>
          </a:p>
        </p:txBody>
      </p:sp>
      <p:sp>
        <p:nvSpPr>
          <p:cNvPr id="4" name="Legend fault"/>
          <p:cNvSpPr/>
          <p:nvPr/>
        </p:nvSpPr>
        <p:spPr>
          <a:xfrm>
            <a:off x="457200" y="1335024"/>
            <a:ext cx="164592" cy="164592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 fault text"/>
          <p:cNvSpPr txBox="1"/>
          <p:nvPr/>
        </p:nvSpPr>
        <p:spPr>
          <a:xfrm>
            <a:off x="804672" y="129844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673"/>
                </a:solidFill>
                <a:latin typeface="Arial"/>
              </a:rPr>
              <a:t>fault</a:t>
            </a:r>
          </a:p>
        </p:txBody>
      </p:sp>
      <p:sp>
        <p:nvSpPr>
          <p:cNvPr id="6" name="Legend event"/>
          <p:cNvSpPr/>
          <p:nvPr/>
        </p:nvSpPr>
        <p:spPr>
          <a:xfrm>
            <a:off x="1408176" y="1325880"/>
            <a:ext cx="274320" cy="182880"/>
          </a:xfrm>
          <a:prstGeom prst="roundRect">
            <a:avLst/>
          </a:prstGeom>
          <a:solidFill>
            <a:srgbClr val="E4EEFB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 event text"/>
          <p:cNvSpPr txBox="1"/>
          <p:nvPr/>
        </p:nvSpPr>
        <p:spPr>
          <a:xfrm>
            <a:off x="1755648" y="1298448"/>
            <a:ext cx="295168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673"/>
                </a:solidFill>
                <a:latin typeface="Arial"/>
              </a:rPr>
              <a:t>new recovery event (not in the nominal models)</a:t>
            </a:r>
          </a:p>
        </p:txBody>
      </p:sp>
      <p:sp>
        <p:nvSpPr>
          <p:cNvPr id="8" name="Legend nominal"/>
          <p:cNvSpPr/>
          <p:nvPr/>
        </p:nvSpPr>
        <p:spPr>
          <a:xfrm>
            <a:off x="4908499" y="1325880"/>
            <a:ext cx="274320" cy="182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end nominal text"/>
          <p:cNvSpPr txBox="1"/>
          <p:nvPr/>
        </p:nvSpPr>
        <p:spPr>
          <a:xfrm>
            <a:off x="5255971" y="1298448"/>
            <a:ext cx="89976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673"/>
                </a:solidFill>
                <a:latin typeface="Arial"/>
              </a:rPr>
              <a:t>nominal event</a:t>
            </a:r>
          </a:p>
        </p:txBody>
      </p:sp>
      <p:sp>
        <p:nvSpPr>
          <p:cNvPr id="10" name="Legend flag"/>
          <p:cNvSpPr/>
          <p:nvPr/>
        </p:nvSpPr>
        <p:spPr>
          <a:xfrm>
            <a:off x="6356908" y="1325880"/>
            <a:ext cx="182880" cy="164592"/>
          </a:xfrm>
          <a:prstGeom prst="triangl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gend flag text"/>
          <p:cNvSpPr txBox="1"/>
          <p:nvPr/>
        </p:nvSpPr>
        <p:spPr>
          <a:xfrm>
            <a:off x="6704380" y="1298448"/>
            <a:ext cx="13972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673"/>
                </a:solidFill>
                <a:latin typeface="Arial"/>
              </a:rPr>
              <a:t>issue found in review</a:t>
            </a:r>
          </a:p>
        </p:txBody>
      </p:sp>
      <p:sp>
        <p:nvSpPr>
          <p:cNvPr id="12" name="Lane band ur5e-4"/>
          <p:cNvSpPr/>
          <p:nvPr/>
        </p:nvSpPr>
        <p:spPr>
          <a:xfrm>
            <a:off x="457200" y="1956816"/>
            <a:ext cx="11277295" cy="731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ne ur5e-4"/>
          <p:cNvSpPr/>
          <p:nvPr/>
        </p:nvSpPr>
        <p:spPr>
          <a:xfrm>
            <a:off x="502920" y="2103120"/>
            <a:ext cx="822960" cy="438912"/>
          </a:xfrm>
          <a:prstGeom prst="roundRect">
            <a:avLst/>
          </a:prstGeom>
          <a:solidFill>
            <a:srgbClr val="D7EEE7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62728"/>
                </a:solidFill>
                <a:latin typeface="Arial"/>
              </a:rPr>
              <a:t>ur5e-4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D62728"/>
                </a:solidFill>
                <a:latin typeface="Arial"/>
              </a:rPr>
              <a:t>faulted</a:t>
            </a:r>
          </a:p>
        </p:txBody>
      </p:sp>
      <p:sp>
        <p:nvSpPr>
          <p:cNvPr id="14" name="Lane ur5e-3"/>
          <p:cNvSpPr/>
          <p:nvPr/>
        </p:nvSpPr>
        <p:spPr>
          <a:xfrm>
            <a:off x="502920" y="2834640"/>
            <a:ext cx="822960" cy="438912"/>
          </a:xfrm>
          <a:prstGeom prst="roundRect">
            <a:avLst/>
          </a:prstGeom>
          <a:solidFill>
            <a:srgbClr val="D7EEE7"/>
          </a:solidFill>
          <a:ln w="12700">
            <a:solidFill>
              <a:srgbClr val="2A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B2F36"/>
                </a:solidFill>
                <a:latin typeface="Arial"/>
              </a:rPr>
              <a:t>ur5e-3</a:t>
            </a:r>
          </a:p>
        </p:txBody>
      </p:sp>
      <p:sp>
        <p:nvSpPr>
          <p:cNvPr id="15" name="Lane band Buffer"/>
          <p:cNvSpPr/>
          <p:nvPr/>
        </p:nvSpPr>
        <p:spPr>
          <a:xfrm>
            <a:off x="457200" y="3419856"/>
            <a:ext cx="11277295" cy="7315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ne Buffer"/>
          <p:cNvSpPr/>
          <p:nvPr/>
        </p:nvSpPr>
        <p:spPr>
          <a:xfrm>
            <a:off x="502920" y="3566160"/>
            <a:ext cx="822960" cy="438912"/>
          </a:xfrm>
          <a:prstGeom prst="roundRect">
            <a:avLst/>
          </a:prstGeom>
          <a:solidFill>
            <a:srgbClr val="DCE8F5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B2F36"/>
                </a:solidFill>
                <a:latin typeface="Arial"/>
              </a:rPr>
              <a:t>Buffer</a:t>
            </a:r>
          </a:p>
        </p:txBody>
      </p:sp>
      <p:sp>
        <p:nvSpPr>
          <p:cNvPr id="17" name="Header FAULT"/>
          <p:cNvSpPr txBox="1"/>
          <p:nvPr/>
        </p:nvSpPr>
        <p:spPr>
          <a:xfrm>
            <a:off x="1417320" y="17007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FAULT</a:t>
            </a:r>
          </a:p>
        </p:txBody>
      </p:sp>
      <p:sp>
        <p:nvSpPr>
          <p:cNvPr id="18" name="Header 1"/>
          <p:cNvSpPr txBox="1"/>
          <p:nvPr/>
        </p:nvSpPr>
        <p:spPr>
          <a:xfrm>
            <a:off x="2057400" y="1700784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1</a:t>
            </a:r>
          </a:p>
        </p:txBody>
      </p:sp>
      <p:sp>
        <p:nvSpPr>
          <p:cNvPr id="19" name="Header 2"/>
          <p:cNvSpPr txBox="1"/>
          <p:nvPr/>
        </p:nvSpPr>
        <p:spPr>
          <a:xfrm>
            <a:off x="3319272" y="1700784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2</a:t>
            </a:r>
          </a:p>
        </p:txBody>
      </p:sp>
      <p:sp>
        <p:nvSpPr>
          <p:cNvPr id="20" name="Header 3"/>
          <p:cNvSpPr txBox="1"/>
          <p:nvPr/>
        </p:nvSpPr>
        <p:spPr>
          <a:xfrm>
            <a:off x="4581144" y="1700784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3</a:t>
            </a:r>
          </a:p>
        </p:txBody>
      </p:sp>
      <p:sp>
        <p:nvSpPr>
          <p:cNvPr id="21" name="Header 4"/>
          <p:cNvSpPr txBox="1"/>
          <p:nvPr/>
        </p:nvSpPr>
        <p:spPr>
          <a:xfrm>
            <a:off x="5843016" y="1700784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4</a:t>
            </a:r>
          </a:p>
        </p:txBody>
      </p:sp>
      <p:sp>
        <p:nvSpPr>
          <p:cNvPr id="22" name="Header HANDOFF"/>
          <p:cNvSpPr txBox="1"/>
          <p:nvPr/>
        </p:nvSpPr>
        <p:spPr>
          <a:xfrm>
            <a:off x="7104888" y="1700784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HANDOFF</a:t>
            </a:r>
          </a:p>
        </p:txBody>
      </p:sp>
      <p:sp>
        <p:nvSpPr>
          <p:cNvPr id="23" name="Header NOMINAL EVENTS THAT CONNECT TO THE PLAN"/>
          <p:cNvSpPr txBox="1"/>
          <p:nvPr/>
        </p:nvSpPr>
        <p:spPr>
          <a:xfrm>
            <a:off x="7799831" y="1700784"/>
            <a:ext cx="318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D6673"/>
                </a:solidFill>
                <a:latin typeface="Arial"/>
              </a:rPr>
              <a:t>NOMINAL EVENTS THAT CONNECT TO THE PLAN</a:t>
            </a:r>
          </a:p>
        </p:txBody>
      </p:sp>
      <p:sp>
        <p:nvSpPr>
          <p:cNvPr id="24" name="Fault marker"/>
          <p:cNvSpPr/>
          <p:nvPr/>
        </p:nvSpPr>
        <p:spPr>
          <a:xfrm>
            <a:off x="1581912" y="2075688"/>
            <a:ext cx="310896" cy="310896"/>
          </a:xfrm>
          <a:prstGeom prst="ellipse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5" name="Fault label"/>
          <p:cNvSpPr txBox="1"/>
          <p:nvPr/>
        </p:nvSpPr>
        <p:spPr>
          <a:xfrm>
            <a:off x="1417320" y="241401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62728"/>
                </a:solidFill>
                <a:latin typeface="Arial"/>
              </a:rPr>
              <a:t>gear_small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D62728"/>
                </a:solidFill>
                <a:latin typeface="Arial"/>
              </a:rPr>
              <a:t>dropped</a:t>
            </a:r>
          </a:p>
        </p:txBody>
      </p:sp>
      <p:sp>
        <p:nvSpPr>
          <p:cNvPr id="26" name="Recovery event 1"/>
          <p:cNvSpPr/>
          <p:nvPr/>
        </p:nvSpPr>
        <p:spPr>
          <a:xfrm>
            <a:off x="2112264" y="2039112"/>
            <a:ext cx="1152144" cy="566928"/>
          </a:xfrm>
          <a:prstGeom prst="roundRect">
            <a:avLst>
              <a:gd name="adj" fmla="val 12000"/>
            </a:avLst>
          </a:prstGeom>
          <a:solidFill>
            <a:srgbClr val="E4EEFB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B2F36"/>
                </a:solidFill>
                <a:latin typeface="Arial"/>
              </a:rPr>
              <a:t>retract home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clear fault</a:t>
            </a:r>
          </a:p>
        </p:txBody>
      </p:sp>
      <p:sp>
        <p:nvSpPr>
          <p:cNvPr id="27" name="Recovery event 2"/>
          <p:cNvSpPr/>
          <p:nvPr/>
        </p:nvSpPr>
        <p:spPr>
          <a:xfrm>
            <a:off x="3374136" y="2770632"/>
            <a:ext cx="1152144" cy="1298448"/>
          </a:xfrm>
          <a:prstGeom prst="roundRect">
            <a:avLst>
              <a:gd name="adj" fmla="val 5239"/>
            </a:avLst>
          </a:prstGeom>
          <a:solidFill>
            <a:srgbClr val="E4EEFB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91440" bIns="27432" wrap="square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B2F36"/>
                </a:solidFill>
                <a:latin typeface="Arial"/>
              </a:rPr>
              <a:t>place KET4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in buffer zone_1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65576" y="3419856"/>
            <a:ext cx="969264" cy="0"/>
          </a:xfrm>
          <a:prstGeom prst="line">
            <a:avLst/>
          </a:prstGeom>
          <a:ln w="9525">
            <a:solidFill>
              <a:srgbClr val="1F5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uffer change"/>
          <p:cNvSpPr txBox="1"/>
          <p:nvPr/>
        </p:nvSpPr>
        <p:spPr>
          <a:xfrm>
            <a:off x="3374136" y="3648456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F5FA8"/>
                </a:solidFill>
                <a:latin typeface="Arial"/>
              </a:rPr>
              <a:t>zone_1 ← KET4</a:t>
            </a:r>
          </a:p>
        </p:txBody>
      </p:sp>
      <p:sp>
        <p:nvSpPr>
          <p:cNvPr id="30" name="Recovery event 3"/>
          <p:cNvSpPr/>
          <p:nvPr/>
        </p:nvSpPr>
        <p:spPr>
          <a:xfrm>
            <a:off x="4636007" y="2770632"/>
            <a:ext cx="1152144" cy="566928"/>
          </a:xfrm>
          <a:prstGeom prst="roundRect">
            <a:avLst>
              <a:gd name="adj" fmla="val 12000"/>
            </a:avLst>
          </a:prstGeom>
          <a:solidFill>
            <a:srgbClr val="E4EEFB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B2F36"/>
                </a:solidFill>
                <a:latin typeface="Arial"/>
              </a:rPr>
              <a:t>pick gear_small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from drop pose</a:t>
            </a:r>
          </a:p>
        </p:txBody>
      </p:sp>
      <p:sp>
        <p:nvSpPr>
          <p:cNvPr id="31" name="Recovery event 4"/>
          <p:cNvSpPr/>
          <p:nvPr/>
        </p:nvSpPr>
        <p:spPr>
          <a:xfrm>
            <a:off x="5897879" y="2770632"/>
            <a:ext cx="1152144" cy="566928"/>
          </a:xfrm>
          <a:prstGeom prst="roundRect">
            <a:avLst>
              <a:gd name="adj" fmla="val 12000"/>
            </a:avLst>
          </a:prstGeom>
          <a:solidFill>
            <a:srgbClr val="E4EEFB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B2F36"/>
                </a:solidFill>
                <a:latin typeface="Arial"/>
              </a:rPr>
              <a:t>assemble gear_small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on assembly board</a:t>
            </a:r>
          </a:p>
        </p:txBody>
      </p:sp>
      <p:sp>
        <p:nvSpPr>
          <p:cNvPr id="32" name="Review flag"/>
          <p:cNvSpPr/>
          <p:nvPr/>
        </p:nvSpPr>
        <p:spPr>
          <a:xfrm>
            <a:off x="4343400" y="2642616"/>
            <a:ext cx="256032" cy="219456"/>
          </a:xfrm>
          <a:prstGeom prst="triangle">
            <a:avLst/>
          </a:prstGeom>
          <a:solidFill>
            <a:srgbClr val="F2A9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0" rIns="0" tIns="0" bIns="0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B2F36"/>
                </a:solidFill>
                <a:latin typeface="Arial"/>
              </a:rPr>
              <a:t>!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92807" y="2231136"/>
            <a:ext cx="219457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88336" y="2606040"/>
            <a:ext cx="0" cy="448056"/>
          </a:xfrm>
          <a:prstGeom prst="line">
            <a:avLst/>
          </a:prstGeom>
          <a:ln w="15875">
            <a:solidFill>
              <a:srgbClr val="5D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88336" y="3054096"/>
            <a:ext cx="685800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26280" y="3054096"/>
            <a:ext cx="109727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88151" y="3054096"/>
            <a:ext cx="109728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50023" y="3054096"/>
            <a:ext cx="402337" cy="0"/>
          </a:xfrm>
          <a:prstGeom prst="line">
            <a:avLst/>
          </a:prstGeom>
          <a:ln w="15875">
            <a:solidFill>
              <a:srgbClr val="5D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52360" y="1993392"/>
            <a:ext cx="0" cy="2121408"/>
          </a:xfrm>
          <a:prstGeom prst="line">
            <a:avLst/>
          </a:prstGeom>
          <a:ln w="254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Handoff status"/>
          <p:cNvSpPr txBox="1"/>
          <p:nvPr/>
        </p:nvSpPr>
        <p:spPr>
          <a:xfrm>
            <a:off x="7104888" y="418795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connected</a:t>
            </a:r>
          </a:p>
        </p:txBody>
      </p:sp>
      <p:sp>
        <p:nvSpPr>
          <p:cNvPr id="41" name="Nominal event 1"/>
          <p:cNvSpPr/>
          <p:nvPr/>
        </p:nvSpPr>
        <p:spPr>
          <a:xfrm>
            <a:off x="7854696" y="2770632"/>
            <a:ext cx="950976" cy="56692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673"/>
                </a:solidFill>
                <a:latin typeface="Arial"/>
              </a:rPr>
              <a:t>move_home</a:t>
            </a:r>
          </a:p>
        </p:txBody>
      </p:sp>
      <p:sp>
        <p:nvSpPr>
          <p:cNvPr id="42" name="Nominal event 2"/>
          <p:cNvSpPr/>
          <p:nvPr/>
        </p:nvSpPr>
        <p:spPr>
          <a:xfrm>
            <a:off x="8915400" y="2770632"/>
            <a:ext cx="950976" cy="56692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673"/>
                </a:solidFill>
                <a:latin typeface="Arial"/>
              </a:rPr>
              <a:t>pick_approach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KET4</a:t>
            </a:r>
          </a:p>
        </p:txBody>
      </p:sp>
      <p:sp>
        <p:nvSpPr>
          <p:cNvPr id="43" name="Nominal event 3"/>
          <p:cNvSpPr/>
          <p:nvPr/>
        </p:nvSpPr>
        <p:spPr>
          <a:xfrm>
            <a:off x="9976104" y="2770632"/>
            <a:ext cx="950976" cy="566928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9AA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673"/>
                </a:solidFill>
                <a:latin typeface="Arial"/>
              </a:rPr>
              <a:t>pick_grasp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5D6673"/>
                </a:solidFill>
                <a:latin typeface="Arial"/>
              </a:rPr>
              <a:t>KET4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52360" y="3054096"/>
            <a:ext cx="402336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41" idx="3"/>
            <a:endCxn id="42" idx="1"/>
          </p:cNvCxnSpPr>
          <p:nvPr/>
        </p:nvCxnSpPr>
        <p:spPr>
          <a:xfrm flipV="1">
            <a:off x="8805672" y="3054096"/>
            <a:ext cx="109728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42" idx="3"/>
            <a:endCxn id="43" idx="1"/>
          </p:cNvCxnSpPr>
          <p:nvPr/>
        </p:nvCxnSpPr>
        <p:spPr>
          <a:xfrm flipV="1">
            <a:off x="9866376" y="3054096"/>
            <a:ext cx="109728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927080" y="3054096"/>
            <a:ext cx="182879" cy="0"/>
          </a:xfrm>
          <a:prstGeom prst="line">
            <a:avLst/>
          </a:prstGeom>
          <a:ln w="15875">
            <a:solidFill>
              <a:srgbClr val="5D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maining plan"/>
          <p:cNvSpPr txBox="1"/>
          <p:nvPr/>
        </p:nvSpPr>
        <p:spPr>
          <a:xfrm>
            <a:off x="11146536" y="2871216"/>
            <a:ext cx="5879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673"/>
                </a:solidFill>
                <a:latin typeface="Arial"/>
              </a:rPr>
              <a:t>remaining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D6673"/>
                </a:solidFill>
                <a:latin typeface="Arial"/>
              </a:rPr>
              <a:t>plan</a:t>
            </a:r>
          </a:p>
        </p:txBody>
      </p:sp>
      <p:sp>
        <p:nvSpPr>
          <p:cNvPr id="49" name="Card failure"/>
          <p:cNvSpPr/>
          <p:nvPr/>
        </p:nvSpPr>
        <p:spPr>
          <a:xfrm>
            <a:off x="457200" y="4590288"/>
            <a:ext cx="3612794" cy="181051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art slippage snapshot" descr="fail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084064"/>
            <a:ext cx="1737360" cy="1212653"/>
          </a:xfrm>
          <a:prstGeom prst="rect">
            <a:avLst/>
          </a:prstGeom>
        </p:spPr>
      </p:pic>
      <p:sp>
        <p:nvSpPr>
          <p:cNvPr id="51" name="Card failure title"/>
          <p:cNvSpPr txBox="1"/>
          <p:nvPr/>
        </p:nvSpPr>
        <p:spPr>
          <a:xfrm>
            <a:off x="621792" y="4754879"/>
            <a:ext cx="3283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B2F36"/>
                </a:solidFill>
                <a:latin typeface="Arial"/>
              </a:rPr>
              <a:t>Failure</a:t>
            </a:r>
          </a:p>
        </p:txBody>
      </p:sp>
      <p:sp>
        <p:nvSpPr>
          <p:cNvPr id="52" name="Card failure text"/>
          <p:cNvSpPr txBox="1"/>
          <p:nvPr/>
        </p:nvSpPr>
        <p:spPr>
          <a:xfrm>
            <a:off x="2505456" y="5084064"/>
            <a:ext cx="139994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F36"/>
                </a:solidFill>
                <a:latin typeface="Arial"/>
              </a:rPr>
              <a:t>ur5e-4 drops gear_small during place_approach</a:t>
            </a:r>
          </a:p>
        </p:txBody>
      </p:sp>
      <p:sp>
        <p:nvSpPr>
          <p:cNvPr id="53" name="Card created"/>
          <p:cNvSpPr/>
          <p:nvPr/>
        </p:nvSpPr>
        <p:spPr>
          <a:xfrm>
            <a:off x="4289450" y="4590288"/>
            <a:ext cx="3612794" cy="181051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ard created text"/>
          <p:cNvSpPr txBox="1"/>
          <p:nvPr/>
        </p:nvSpPr>
        <p:spPr>
          <a:xfrm>
            <a:off x="4454042" y="4754879"/>
            <a:ext cx="328361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2F36"/>
                </a:solidFill>
                <a:latin typeface="Arial"/>
              </a:rPr>
              <a:t>What the LLM created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F36"/>
                </a:solidFill>
                <a:latin typeface="Arial"/>
              </a:rPr>
              <a:t>4 new events, none in the nominal models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F36"/>
                </a:solidFill>
                <a:latin typeface="Arial"/>
              </a:rPr>
              <a:t>ur5e-3 parks KET4 in the Buffer, picks up gear_small, and assembles it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D6673"/>
                </a:solidFill>
                <a:latin typeface="Arial"/>
              </a:rPr>
              <a:t>Then nominal work resumes: ur5e-3 picks KET4 again</a:t>
            </a:r>
          </a:p>
        </p:txBody>
      </p:sp>
      <p:sp>
        <p:nvSpPr>
          <p:cNvPr id="55" name="Card review"/>
          <p:cNvSpPr/>
          <p:nvPr/>
        </p:nvSpPr>
        <p:spPr>
          <a:xfrm>
            <a:off x="8121700" y="4590288"/>
            <a:ext cx="3612794" cy="181051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ard review flag"/>
          <p:cNvSpPr/>
          <p:nvPr/>
        </p:nvSpPr>
        <p:spPr>
          <a:xfrm>
            <a:off x="8286292" y="4773167"/>
            <a:ext cx="256032" cy="219456"/>
          </a:xfrm>
          <a:prstGeom prst="triangle">
            <a:avLst/>
          </a:prstGeom>
          <a:solidFill>
            <a:srgbClr val="F2A9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0" rIns="0" tIns="0" bIns="0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B2F36"/>
                </a:solidFill>
                <a:latin typeface="Arial"/>
              </a:rPr>
              <a:t>!</a:t>
            </a:r>
          </a:p>
        </p:txBody>
      </p:sp>
      <p:sp>
        <p:nvSpPr>
          <p:cNvPr id="57" name="Card review title"/>
          <p:cNvSpPr txBox="1"/>
          <p:nvPr/>
        </p:nvSpPr>
        <p:spPr>
          <a:xfrm>
            <a:off x="8633764" y="4754879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B2F36"/>
                </a:solidFill>
                <a:latin typeface="Arial"/>
              </a:rPr>
              <a:t>Review findings</a:t>
            </a:r>
          </a:p>
        </p:txBody>
      </p:sp>
      <p:sp>
        <p:nvSpPr>
          <p:cNvPr id="58" name="Card review text"/>
          <p:cNvSpPr txBox="1"/>
          <p:nvPr/>
        </p:nvSpPr>
        <p:spPr>
          <a:xfrm>
            <a:off x="8286292" y="5120640"/>
            <a:ext cx="328361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F36"/>
                </a:solidFill>
                <a:latin typeface="Arial"/>
              </a:rPr>
              <a:t>Step 2 puts KET4 in zone_1, but the Buffer's own pick guard needs zone_4_part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F36"/>
                </a:solidFill>
                <a:latin typeface="Arial"/>
              </a:rPr>
              <a:t>The handoff check passed only on ur5e-3's reduced pick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