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3429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Injection 3"/>
          <p:cNvGrpSpPr/>
          <p:nvPr/>
        </p:nvGrpSpPr>
        <p:grpSpPr>
          <a:xfrm>
            <a:off x="3072018" y="420623"/>
            <a:ext cx="1828800" cy="1298449"/>
            <a:chOff x="3072018" y="420623"/>
            <a:chExt cx="1828800" cy="1298449"/>
          </a:xfrm>
        </p:grpSpPr>
        <p:cxnSp>
          <p:nvCxnSpPr>
            <p:cNvPr id="3" name="Injection line"/>
            <p:cNvCxnSpPr/>
            <p:nvPr/>
          </p:nvCxnSpPr>
          <p:spPr>
            <a:xfrm>
              <a:off x="3986418" y="704087"/>
              <a:ext cx="0" cy="749809"/>
            </a:xfrm>
            <a:prstGeom prst="line">
              <a:avLst/>
            </a:prstGeom>
            <a:ln w="28575">
              <a:solidFill>
                <a:srgbClr val="D6272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Injection badge"/>
            <p:cNvSpPr/>
            <p:nvPr/>
          </p:nvSpPr>
          <p:spPr>
            <a:xfrm>
              <a:off x="3849258" y="420623"/>
              <a:ext cx="274320" cy="274320"/>
            </a:xfrm>
            <a:prstGeom prst="ellipse">
              <a:avLst/>
            </a:prstGeom>
            <a:solidFill>
              <a:srgbClr val="D62728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 wrap="none">
              <a:noAutofit/>
            </a:bodyPr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Arial"/>
                </a:rPr>
                <a:t>3</a:t>
              </a:r>
            </a:p>
          </p:txBody>
        </p:sp>
        <p:sp>
          <p:nvSpPr>
            <p:cNvPr id="5" name="Injection note"/>
            <p:cNvSpPr txBox="1"/>
            <p:nvPr/>
          </p:nvSpPr>
          <p:spPr>
            <a:xfrm>
              <a:off x="3072018" y="1481328"/>
              <a:ext cx="1828800" cy="23774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100" b="0">
                  <a:solidFill>
                    <a:srgbClr val="D62728"/>
                  </a:solidFill>
                  <a:latin typeface="Arial"/>
                </a:rPr>
                <a:t>18% trimmed</a:t>
              </a:r>
            </a:p>
          </p:txBody>
        </p:sp>
      </p:grpSp>
      <p:grpSp>
        <p:nvGrpSpPr>
          <p:cNvPr id="6" name="Injection 2"/>
          <p:cNvGrpSpPr/>
          <p:nvPr/>
        </p:nvGrpSpPr>
        <p:grpSpPr>
          <a:xfrm>
            <a:off x="4847234" y="420623"/>
            <a:ext cx="1828800" cy="1298449"/>
            <a:chOff x="4847234" y="420623"/>
            <a:chExt cx="1828800" cy="1298449"/>
          </a:xfrm>
        </p:grpSpPr>
        <p:cxnSp>
          <p:nvCxnSpPr>
            <p:cNvPr id="7" name="Injection line"/>
            <p:cNvCxnSpPr/>
            <p:nvPr/>
          </p:nvCxnSpPr>
          <p:spPr>
            <a:xfrm>
              <a:off x="5761634" y="704087"/>
              <a:ext cx="0" cy="749809"/>
            </a:xfrm>
            <a:prstGeom prst="line">
              <a:avLst/>
            </a:prstGeom>
            <a:ln w="28575">
              <a:solidFill>
                <a:srgbClr val="D6272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Injection badge"/>
            <p:cNvSpPr/>
            <p:nvPr/>
          </p:nvSpPr>
          <p:spPr>
            <a:xfrm>
              <a:off x="5624474" y="420623"/>
              <a:ext cx="274320" cy="274320"/>
            </a:xfrm>
            <a:prstGeom prst="ellipse">
              <a:avLst/>
            </a:prstGeom>
            <a:solidFill>
              <a:srgbClr val="D62728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 wrap="none">
              <a:noAutofit/>
            </a:bodyPr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Arial"/>
                </a:rPr>
                <a:t>2</a:t>
              </a:r>
            </a:p>
          </p:txBody>
        </p:sp>
        <p:sp>
          <p:nvSpPr>
            <p:cNvPr id="9" name="Injection note"/>
            <p:cNvSpPr txBox="1"/>
            <p:nvPr/>
          </p:nvSpPr>
          <p:spPr>
            <a:xfrm>
              <a:off x="4847234" y="1481328"/>
              <a:ext cx="1828800" cy="23774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100" b="0">
                  <a:solidFill>
                    <a:srgbClr val="D62728"/>
                  </a:solidFill>
                  <a:latin typeface="Arial"/>
                </a:rPr>
                <a:t>before grasp</a:t>
              </a:r>
            </a:p>
          </p:txBody>
        </p:sp>
      </p:grpSp>
      <p:grpSp>
        <p:nvGrpSpPr>
          <p:cNvPr id="10" name="Injection 1"/>
          <p:cNvGrpSpPr/>
          <p:nvPr/>
        </p:nvGrpSpPr>
        <p:grpSpPr>
          <a:xfrm>
            <a:off x="5472683" y="420623"/>
            <a:ext cx="1828800" cy="1572769"/>
            <a:chOff x="5472683" y="420623"/>
            <a:chExt cx="1828800" cy="1572769"/>
          </a:xfrm>
        </p:grpSpPr>
        <p:cxnSp>
          <p:nvCxnSpPr>
            <p:cNvPr id="11" name="Injection line"/>
            <p:cNvCxnSpPr/>
            <p:nvPr/>
          </p:nvCxnSpPr>
          <p:spPr>
            <a:xfrm>
              <a:off x="6387083" y="704087"/>
              <a:ext cx="0" cy="1024129"/>
            </a:xfrm>
            <a:prstGeom prst="line">
              <a:avLst/>
            </a:prstGeom>
            <a:ln w="28575">
              <a:solidFill>
                <a:srgbClr val="D6272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Injection badge"/>
            <p:cNvSpPr/>
            <p:nvPr/>
          </p:nvSpPr>
          <p:spPr>
            <a:xfrm>
              <a:off x="6249923" y="420623"/>
              <a:ext cx="274320" cy="274320"/>
            </a:xfrm>
            <a:prstGeom prst="ellipse">
              <a:avLst/>
            </a:prstGeom>
            <a:solidFill>
              <a:srgbClr val="D62728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 wrap="none">
              <a:noAutofit/>
            </a:bodyPr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Arial"/>
                </a:rPr>
                <a:t>1</a:t>
              </a:r>
            </a:p>
          </p:txBody>
        </p:sp>
        <p:sp>
          <p:nvSpPr>
            <p:cNvPr id="13" name="Injection note"/>
            <p:cNvSpPr txBox="1"/>
            <p:nvPr/>
          </p:nvSpPr>
          <p:spPr>
            <a:xfrm>
              <a:off x="5472683" y="1755648"/>
              <a:ext cx="1828800" cy="23774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100" b="0">
                  <a:solidFill>
                    <a:srgbClr val="D62728"/>
                  </a:solidFill>
                  <a:latin typeface="Arial"/>
                </a:rPr>
                <a:t>held, before release</a:t>
              </a:r>
            </a:p>
          </p:txBody>
        </p:sp>
      </p:grpSp>
      <p:grpSp>
        <p:nvGrpSpPr>
          <p:cNvPr id="14" name="Injection 4"/>
          <p:cNvGrpSpPr/>
          <p:nvPr/>
        </p:nvGrpSpPr>
        <p:grpSpPr>
          <a:xfrm>
            <a:off x="8878824" y="1737360"/>
            <a:ext cx="1828800" cy="1298448"/>
            <a:chOff x="8878824" y="1737360"/>
            <a:chExt cx="1828800" cy="1298448"/>
          </a:xfrm>
        </p:grpSpPr>
        <p:cxnSp>
          <p:nvCxnSpPr>
            <p:cNvPr id="15" name="Injection line"/>
            <p:cNvCxnSpPr/>
            <p:nvPr/>
          </p:nvCxnSpPr>
          <p:spPr>
            <a:xfrm>
              <a:off x="9793224" y="2020824"/>
              <a:ext cx="0" cy="749808"/>
            </a:xfrm>
            <a:prstGeom prst="line">
              <a:avLst/>
            </a:prstGeom>
            <a:ln w="28575">
              <a:solidFill>
                <a:srgbClr val="D6272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Injection badge"/>
            <p:cNvSpPr/>
            <p:nvPr/>
          </p:nvSpPr>
          <p:spPr>
            <a:xfrm>
              <a:off x="9656063" y="1737360"/>
              <a:ext cx="274320" cy="274320"/>
            </a:xfrm>
            <a:prstGeom prst="ellipse">
              <a:avLst/>
            </a:prstGeom>
            <a:solidFill>
              <a:srgbClr val="D62728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 wrap="none">
              <a:noAutofit/>
            </a:bodyPr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Arial"/>
                </a:rPr>
                <a:t>4</a:t>
              </a:r>
            </a:p>
          </p:txBody>
        </p:sp>
        <p:sp>
          <p:nvSpPr>
            <p:cNvPr id="17" name="Injection note"/>
            <p:cNvSpPr txBox="1"/>
            <p:nvPr/>
          </p:nvSpPr>
          <p:spPr>
            <a:xfrm>
              <a:off x="8878824" y="2798064"/>
              <a:ext cx="1828800" cy="23774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100" b="0">
                  <a:solidFill>
                    <a:srgbClr val="D62728"/>
                  </a:solidFill>
                  <a:latin typeface="Arial"/>
                </a:rPr>
                <a:t>50% lowered</a:t>
              </a:r>
            </a:p>
          </p:txBody>
        </p:sp>
      </p:grpSp>
      <p:sp>
        <p:nvSpPr>
          <p:cNvPr id="18" name="Lane KET4_Square_4mm"/>
          <p:cNvSpPr txBox="1"/>
          <p:nvPr/>
        </p:nvSpPr>
        <p:spPr>
          <a:xfrm>
            <a:off x="274320" y="786383"/>
            <a:ext cx="2057400" cy="58521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r>
              <a:rPr sz="1500" b="0">
                <a:solidFill>
                  <a:srgbClr val="3D6FB6"/>
                </a:solidFill>
                <a:latin typeface="Segoe UI Symbol"/>
              </a:rPr>
              <a:t>■ </a:t>
            </a:r>
            <a:r>
              <a:rPr sz="1400" b="1">
                <a:solidFill>
                  <a:srgbClr val="2B2F36"/>
                </a:solidFill>
                <a:latin typeface="Arial"/>
              </a:rPr>
              <a:t>KET4_Square_4mm</a:t>
            </a:r>
          </a:p>
          <a:p>
            <a:r>
              <a:rPr sz="1200" b="0">
                <a:solidFill>
                  <a:srgbClr val="5D6673"/>
                </a:solidFill>
                <a:latin typeface="Arial"/>
              </a:rPr>
              <a:t>trimmed at M1</a:t>
            </a:r>
          </a:p>
        </p:txBody>
      </p:sp>
      <p:sp>
        <p:nvSpPr>
          <p:cNvPr id="19" name="Lane gear_small"/>
          <p:cNvSpPr txBox="1"/>
          <p:nvPr/>
        </p:nvSpPr>
        <p:spPr>
          <a:xfrm>
            <a:off x="274320" y="2103120"/>
            <a:ext cx="2057400" cy="58521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r>
              <a:rPr sz="1500" b="0">
                <a:solidFill>
                  <a:srgbClr val="E0843C"/>
                </a:solidFill>
                <a:latin typeface="Segoe UI Symbol"/>
              </a:rPr>
              <a:t>✹ </a:t>
            </a:r>
            <a:r>
              <a:rPr sz="1400" b="1">
                <a:solidFill>
                  <a:srgbClr val="2B2F36"/>
                </a:solidFill>
                <a:latin typeface="Arial"/>
              </a:rPr>
              <a:t>gear_small</a:t>
            </a:r>
          </a:p>
          <a:p>
            <a:r>
              <a:rPr sz="1200" b="0">
                <a:solidFill>
                  <a:srgbClr val="5D6673"/>
                </a:solidFill>
                <a:latin typeface="Arial"/>
              </a:rPr>
              <a:t>printed</a:t>
            </a:r>
          </a:p>
        </p:txBody>
      </p:sp>
      <p:sp>
        <p:nvSpPr>
          <p:cNvPr id="20" name="KUKA KMR deliver to M1"/>
          <p:cNvSpPr/>
          <p:nvPr/>
        </p:nvSpPr>
        <p:spPr>
          <a:xfrm>
            <a:off x="2423160" y="777239"/>
            <a:ext cx="1115568" cy="603504"/>
          </a:xfrm>
          <a:prstGeom prst="roundRect">
            <a:avLst>
              <a:gd name="adj" fmla="val 16000"/>
            </a:avLst>
          </a:prstGeom>
          <a:solidFill>
            <a:srgbClr val="FBE3C2"/>
          </a:solidFill>
          <a:ln w="19050">
            <a:solidFill>
              <a:srgbClr val="B866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ctr"/>
            <a:r>
              <a:rPr sz="1400" b="1">
                <a:solidFill>
                  <a:srgbClr val="2B2F36"/>
                </a:solidFill>
                <a:latin typeface="Arial"/>
              </a:rPr>
              <a:t>KUKA KMR</a:t>
            </a:r>
          </a:p>
          <a:p>
            <a:pPr algn="ctr"/>
            <a:r>
              <a:rPr sz="1200" b="0">
                <a:solidFill>
                  <a:srgbClr val="5D6673"/>
                </a:solidFill>
                <a:latin typeface="Arial"/>
              </a:rPr>
              <a:t>deliver to M1</a:t>
            </a:r>
          </a:p>
        </p:txBody>
      </p:sp>
      <p:sp>
        <p:nvSpPr>
          <p:cNvPr id="21" name="M1 trim (5 s)"/>
          <p:cNvSpPr/>
          <p:nvPr/>
        </p:nvSpPr>
        <p:spPr>
          <a:xfrm>
            <a:off x="3785615" y="777239"/>
            <a:ext cx="1115568" cy="603504"/>
          </a:xfrm>
          <a:prstGeom prst="roundRect">
            <a:avLst>
              <a:gd name="adj" fmla="val 16000"/>
            </a:avLst>
          </a:prstGeom>
          <a:solidFill>
            <a:srgbClr val="E3E6EB"/>
          </a:solidFill>
          <a:ln w="19050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ctr"/>
            <a:r>
              <a:rPr sz="1400" b="1">
                <a:solidFill>
                  <a:srgbClr val="2B2F36"/>
                </a:solidFill>
                <a:latin typeface="Arial"/>
              </a:rPr>
              <a:t>M1</a:t>
            </a:r>
          </a:p>
          <a:p>
            <a:pPr algn="ctr"/>
            <a:r>
              <a:rPr sz="1200" b="0">
                <a:solidFill>
                  <a:srgbClr val="5D6673"/>
                </a:solidFill>
                <a:latin typeface="Arial"/>
              </a:rPr>
              <a:t>trim (5 s)</a:t>
            </a:r>
          </a:p>
        </p:txBody>
      </p:sp>
      <p:sp>
        <p:nvSpPr>
          <p:cNvPr id="22" name="UR5e-1 pick"/>
          <p:cNvSpPr/>
          <p:nvPr/>
        </p:nvSpPr>
        <p:spPr>
          <a:xfrm>
            <a:off x="5148072" y="777239"/>
            <a:ext cx="1115568" cy="603504"/>
          </a:xfrm>
          <a:prstGeom prst="roundRect">
            <a:avLst>
              <a:gd name="adj" fmla="val 16000"/>
            </a:avLst>
          </a:prstGeom>
          <a:solidFill>
            <a:srgbClr val="D7EEE7"/>
          </a:solidFill>
          <a:ln w="19050">
            <a:solidFill>
              <a:srgbClr val="2A8C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ctr"/>
            <a:r>
              <a:rPr sz="1400" b="1">
                <a:solidFill>
                  <a:srgbClr val="2B2F36"/>
                </a:solidFill>
                <a:latin typeface="Arial"/>
              </a:rPr>
              <a:t>UR5e-1</a:t>
            </a:r>
          </a:p>
          <a:p>
            <a:pPr algn="ctr"/>
            <a:r>
              <a:rPr sz="1200" b="0">
                <a:solidFill>
                  <a:srgbClr val="5D6673"/>
                </a:solidFill>
                <a:latin typeface="Arial"/>
              </a:rPr>
              <a:t>pick</a:t>
            </a:r>
          </a:p>
        </p:txBody>
      </p:sp>
      <p:sp>
        <p:nvSpPr>
          <p:cNvPr id="23" name="UR5e-1 place"/>
          <p:cNvSpPr/>
          <p:nvPr/>
        </p:nvSpPr>
        <p:spPr>
          <a:xfrm>
            <a:off x="6510527" y="777239"/>
            <a:ext cx="1115568" cy="603504"/>
          </a:xfrm>
          <a:prstGeom prst="roundRect">
            <a:avLst>
              <a:gd name="adj" fmla="val 16000"/>
            </a:avLst>
          </a:prstGeom>
          <a:solidFill>
            <a:srgbClr val="D7EEE7"/>
          </a:solidFill>
          <a:ln w="19050">
            <a:solidFill>
              <a:srgbClr val="2A8C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ctr"/>
            <a:r>
              <a:rPr sz="1400" b="1">
                <a:solidFill>
                  <a:srgbClr val="2B2F36"/>
                </a:solidFill>
                <a:latin typeface="Arial"/>
              </a:rPr>
              <a:t>UR5e-1</a:t>
            </a:r>
          </a:p>
          <a:p>
            <a:pPr algn="ctr"/>
            <a:r>
              <a:rPr sz="1200" b="0">
                <a:solidFill>
                  <a:srgbClr val="5D6673"/>
                </a:solidFill>
                <a:latin typeface="Arial"/>
              </a:rPr>
              <a:t>place</a:t>
            </a:r>
          </a:p>
        </p:txBody>
      </p:sp>
      <p:sp>
        <p:nvSpPr>
          <p:cNvPr id="24" name="Conveyor to Buffer"/>
          <p:cNvSpPr/>
          <p:nvPr/>
        </p:nvSpPr>
        <p:spPr>
          <a:xfrm>
            <a:off x="7872983" y="777239"/>
            <a:ext cx="1115568" cy="603504"/>
          </a:xfrm>
          <a:prstGeom prst="roundRect">
            <a:avLst>
              <a:gd name="adj" fmla="val 16000"/>
            </a:avLst>
          </a:prstGeom>
          <a:solidFill>
            <a:srgbClr val="FBE3C2"/>
          </a:solidFill>
          <a:ln w="19050">
            <a:solidFill>
              <a:srgbClr val="B866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ctr"/>
            <a:r>
              <a:rPr sz="1400" b="1">
                <a:solidFill>
                  <a:srgbClr val="2B2F36"/>
                </a:solidFill>
                <a:latin typeface="Arial"/>
              </a:rPr>
              <a:t>Conveyor</a:t>
            </a:r>
          </a:p>
          <a:p>
            <a:pPr algn="ctr"/>
            <a:r>
              <a:rPr sz="1200" b="0">
                <a:solidFill>
                  <a:srgbClr val="5D6673"/>
                </a:solidFill>
                <a:latin typeface="Arial"/>
              </a:rPr>
              <a:t>to Buffer</a:t>
            </a:r>
          </a:p>
        </p:txBody>
      </p:sp>
      <p:sp>
        <p:nvSpPr>
          <p:cNvPr id="25" name="UR5e-3 assemble"/>
          <p:cNvSpPr/>
          <p:nvPr/>
        </p:nvSpPr>
        <p:spPr>
          <a:xfrm>
            <a:off x="9235440" y="777239"/>
            <a:ext cx="1115568" cy="603504"/>
          </a:xfrm>
          <a:prstGeom prst="roundRect">
            <a:avLst>
              <a:gd name="adj" fmla="val 16000"/>
            </a:avLst>
          </a:prstGeom>
          <a:solidFill>
            <a:srgbClr val="D7EEE7"/>
          </a:solidFill>
          <a:ln w="19050">
            <a:solidFill>
              <a:srgbClr val="2A8C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ctr"/>
            <a:r>
              <a:rPr sz="1400" b="1">
                <a:solidFill>
                  <a:srgbClr val="2B2F36"/>
                </a:solidFill>
                <a:latin typeface="Arial"/>
              </a:rPr>
              <a:t>UR5e-3</a:t>
            </a:r>
          </a:p>
          <a:p>
            <a:pPr algn="ctr"/>
            <a:r>
              <a:rPr sz="1200" b="0">
                <a:solidFill>
                  <a:srgbClr val="5D6673"/>
                </a:solidFill>
                <a:latin typeface="Arial"/>
              </a:rPr>
              <a:t>assemble</a:t>
            </a:r>
          </a:p>
        </p:txBody>
      </p:sp>
      <p:cxnSp>
        <p:nvCxnSpPr>
          <p:cNvPr id="26" name="Flow KUKA KMR deliver to M1 to M1 trim (5 s)"/>
          <p:cNvCxnSpPr>
            <a:stCxn id="20" idx="3"/>
            <a:endCxn id="21" idx="1"/>
          </p:cNvCxnSpPr>
          <p:nvPr/>
        </p:nvCxnSpPr>
        <p:spPr>
          <a:xfrm flipV="1">
            <a:off x="3538728" y="1078991"/>
            <a:ext cx="246887" cy="0"/>
          </a:xfrm>
          <a:prstGeom prst="line">
            <a:avLst/>
          </a:prstGeom>
          <a:ln w="25400">
            <a:solidFill>
              <a:srgbClr val="1F5F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Flow M1 trim (5 s) to UR5e-1 pick"/>
          <p:cNvCxnSpPr>
            <a:stCxn id="21" idx="3"/>
            <a:endCxn id="22" idx="1"/>
          </p:cNvCxnSpPr>
          <p:nvPr/>
        </p:nvCxnSpPr>
        <p:spPr>
          <a:xfrm flipV="1">
            <a:off x="4901183" y="1078991"/>
            <a:ext cx="246889" cy="0"/>
          </a:xfrm>
          <a:prstGeom prst="line">
            <a:avLst/>
          </a:prstGeom>
          <a:ln w="25400">
            <a:solidFill>
              <a:srgbClr val="1F5F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Flow UR5e-1 pick to UR5e-1 place"/>
          <p:cNvCxnSpPr>
            <a:stCxn id="22" idx="3"/>
            <a:endCxn id="23" idx="1"/>
          </p:cNvCxnSpPr>
          <p:nvPr/>
        </p:nvCxnSpPr>
        <p:spPr>
          <a:xfrm flipV="1">
            <a:off x="6263640" y="1078991"/>
            <a:ext cx="246887" cy="0"/>
          </a:xfrm>
          <a:prstGeom prst="line">
            <a:avLst/>
          </a:prstGeom>
          <a:ln w="25400">
            <a:solidFill>
              <a:srgbClr val="1F5F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Flow UR5e-1 place to Conveyor to Buffer"/>
          <p:cNvCxnSpPr>
            <a:stCxn id="23" idx="3"/>
            <a:endCxn id="24" idx="1"/>
          </p:cNvCxnSpPr>
          <p:nvPr/>
        </p:nvCxnSpPr>
        <p:spPr>
          <a:xfrm flipV="1">
            <a:off x="7626095" y="1078991"/>
            <a:ext cx="246888" cy="0"/>
          </a:xfrm>
          <a:prstGeom prst="line">
            <a:avLst/>
          </a:prstGeom>
          <a:ln w="25400">
            <a:solidFill>
              <a:srgbClr val="1F5F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Flow Conveyor to Buffer to UR5e-3 assemble"/>
          <p:cNvCxnSpPr>
            <a:stCxn id="24" idx="3"/>
            <a:endCxn id="25" idx="1"/>
          </p:cNvCxnSpPr>
          <p:nvPr/>
        </p:nvCxnSpPr>
        <p:spPr>
          <a:xfrm flipV="1">
            <a:off x="8988551" y="1078991"/>
            <a:ext cx="246889" cy="0"/>
          </a:xfrm>
          <a:prstGeom prst="line">
            <a:avLst/>
          </a:prstGeom>
          <a:ln w="25400">
            <a:solidFill>
              <a:srgbClr val="1F5F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Printer gear ready"/>
          <p:cNvSpPr/>
          <p:nvPr/>
        </p:nvSpPr>
        <p:spPr>
          <a:xfrm>
            <a:off x="6510527" y="2093976"/>
            <a:ext cx="1115568" cy="603504"/>
          </a:xfrm>
          <a:prstGeom prst="roundRect">
            <a:avLst>
              <a:gd name="adj" fmla="val 16000"/>
            </a:avLst>
          </a:prstGeom>
          <a:solidFill>
            <a:srgbClr val="E3E6EB"/>
          </a:solidFill>
          <a:ln w="19050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ctr"/>
            <a:r>
              <a:rPr sz="1400" b="1">
                <a:solidFill>
                  <a:srgbClr val="2B2F36"/>
                </a:solidFill>
                <a:latin typeface="Arial"/>
              </a:rPr>
              <a:t>Printer</a:t>
            </a:r>
          </a:p>
          <a:p>
            <a:pPr algn="ctr"/>
            <a:r>
              <a:rPr sz="1200" b="0">
                <a:solidFill>
                  <a:srgbClr val="5D6673"/>
                </a:solidFill>
                <a:latin typeface="Arial"/>
              </a:rPr>
              <a:t>gear ready</a:t>
            </a:r>
          </a:p>
        </p:txBody>
      </p:sp>
      <p:sp>
        <p:nvSpPr>
          <p:cNvPr id="32" name="UR5e-4 pick"/>
          <p:cNvSpPr/>
          <p:nvPr/>
        </p:nvSpPr>
        <p:spPr>
          <a:xfrm>
            <a:off x="7872983" y="2093976"/>
            <a:ext cx="1115568" cy="603504"/>
          </a:xfrm>
          <a:prstGeom prst="roundRect">
            <a:avLst>
              <a:gd name="adj" fmla="val 16000"/>
            </a:avLst>
          </a:prstGeom>
          <a:solidFill>
            <a:srgbClr val="D7EEE7"/>
          </a:solidFill>
          <a:ln w="19050">
            <a:solidFill>
              <a:srgbClr val="2A8C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ctr"/>
            <a:r>
              <a:rPr sz="1400" b="1">
                <a:solidFill>
                  <a:srgbClr val="2B2F36"/>
                </a:solidFill>
                <a:latin typeface="Arial"/>
              </a:rPr>
              <a:t>UR5e-4</a:t>
            </a:r>
          </a:p>
          <a:p>
            <a:pPr algn="ctr"/>
            <a:r>
              <a:rPr sz="1200" b="0">
                <a:solidFill>
                  <a:srgbClr val="5D6673"/>
                </a:solidFill>
                <a:latin typeface="Arial"/>
              </a:rPr>
              <a:t>pick</a:t>
            </a:r>
          </a:p>
        </p:txBody>
      </p:sp>
      <p:sp>
        <p:nvSpPr>
          <p:cNvPr id="33" name="UR5e-4 place"/>
          <p:cNvSpPr/>
          <p:nvPr/>
        </p:nvSpPr>
        <p:spPr>
          <a:xfrm>
            <a:off x="9235440" y="2093976"/>
            <a:ext cx="1115568" cy="603504"/>
          </a:xfrm>
          <a:prstGeom prst="roundRect">
            <a:avLst>
              <a:gd name="adj" fmla="val 16000"/>
            </a:avLst>
          </a:prstGeom>
          <a:solidFill>
            <a:srgbClr val="D7EEE7"/>
          </a:solidFill>
          <a:ln w="19050">
            <a:solidFill>
              <a:srgbClr val="2A8C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ctr"/>
            <a:r>
              <a:rPr sz="1400" b="1">
                <a:solidFill>
                  <a:srgbClr val="2B2F36"/>
                </a:solidFill>
                <a:latin typeface="Arial"/>
              </a:rPr>
              <a:t>UR5e-4</a:t>
            </a:r>
          </a:p>
          <a:p>
            <a:pPr algn="ctr"/>
            <a:r>
              <a:rPr sz="1200" b="0">
                <a:solidFill>
                  <a:srgbClr val="5D6673"/>
                </a:solidFill>
                <a:latin typeface="Arial"/>
              </a:rPr>
              <a:t>place</a:t>
            </a:r>
          </a:p>
        </p:txBody>
      </p:sp>
      <p:cxnSp>
        <p:nvCxnSpPr>
          <p:cNvPr id="34" name="Flow Printer gear ready to UR5e-4 pick"/>
          <p:cNvCxnSpPr>
            <a:stCxn id="31" idx="3"/>
            <a:endCxn id="32" idx="1"/>
          </p:cNvCxnSpPr>
          <p:nvPr/>
        </p:nvCxnSpPr>
        <p:spPr>
          <a:xfrm flipV="1">
            <a:off x="7626095" y="2395728"/>
            <a:ext cx="246888" cy="0"/>
          </a:xfrm>
          <a:prstGeom prst="line">
            <a:avLst/>
          </a:prstGeom>
          <a:ln w="25400">
            <a:solidFill>
              <a:srgbClr val="1F5F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Flow UR5e-4 pick to UR5e-4 place"/>
          <p:cNvCxnSpPr>
            <a:stCxn id="32" idx="3"/>
            <a:endCxn id="33" idx="1"/>
          </p:cNvCxnSpPr>
          <p:nvPr/>
        </p:nvCxnSpPr>
        <p:spPr>
          <a:xfrm flipV="1">
            <a:off x="8988551" y="2395728"/>
            <a:ext cx="246889" cy="0"/>
          </a:xfrm>
          <a:prstGeom prst="line">
            <a:avLst/>
          </a:prstGeom>
          <a:ln w="25400">
            <a:solidFill>
              <a:srgbClr val="1F5F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Assembly Board"/>
          <p:cNvSpPr/>
          <p:nvPr/>
        </p:nvSpPr>
        <p:spPr>
          <a:xfrm>
            <a:off x="10597896" y="777239"/>
            <a:ext cx="1115568" cy="19202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8575">
            <a:solidFill>
              <a:srgbClr val="2B2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ctr"/>
            <a:r>
              <a:rPr sz="1400" b="1">
                <a:solidFill>
                  <a:srgbClr val="2B2F36"/>
                </a:solidFill>
                <a:latin typeface="Arial"/>
              </a:rPr>
              <a:t>Assembly</a:t>
            </a:r>
          </a:p>
          <a:p>
            <a:pPr algn="ctr"/>
            <a:r>
              <a:rPr sz="1400" b="1">
                <a:solidFill>
                  <a:srgbClr val="2B2F36"/>
                </a:solidFill>
                <a:latin typeface="Arial"/>
              </a:rPr>
              <a:t>Board</a:t>
            </a:r>
          </a:p>
        </p:txBody>
      </p:sp>
      <p:cxnSp>
        <p:nvCxnSpPr>
          <p:cNvPr id="37" name="Flow UR5e-3 assemble to Assembly Board"/>
          <p:cNvCxnSpPr>
            <a:stCxn id="25" idx="3"/>
            <a:endCxn id="36" idx="1"/>
          </p:cNvCxnSpPr>
          <p:nvPr/>
        </p:nvCxnSpPr>
        <p:spPr>
          <a:xfrm>
            <a:off x="10351008" y="1078991"/>
            <a:ext cx="246888" cy="658368"/>
          </a:xfrm>
          <a:prstGeom prst="bentConnector3">
            <a:avLst/>
          </a:prstGeom>
          <a:ln w="25400">
            <a:solidFill>
              <a:srgbClr val="1F5F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Flow UR5e-4 place to Assembly Board"/>
          <p:cNvCxnSpPr>
            <a:stCxn id="33" idx="3"/>
            <a:endCxn id="36" idx="1"/>
          </p:cNvCxnSpPr>
          <p:nvPr/>
        </p:nvCxnSpPr>
        <p:spPr>
          <a:xfrm flipV="1">
            <a:off x="10351008" y="1737359"/>
            <a:ext cx="246888" cy="658369"/>
          </a:xfrm>
          <a:prstGeom prst="bentConnector3">
            <a:avLst/>
          </a:prstGeom>
          <a:ln w="25400">
            <a:solidFill>
              <a:srgbClr val="1F5F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Note"/>
          <p:cNvSpPr txBox="1"/>
          <p:nvPr/>
        </p:nvSpPr>
        <p:spPr>
          <a:xfrm>
            <a:off x="274320" y="3044952"/>
            <a:ext cx="5486400" cy="2743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100" b="0">
                <a:solidFill>
                  <a:srgbClr val="5D6673"/>
                </a:solidFill>
                <a:latin typeface="Arial"/>
              </a:rPr>
              <a:t>Each failure is injected once, in its own run.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