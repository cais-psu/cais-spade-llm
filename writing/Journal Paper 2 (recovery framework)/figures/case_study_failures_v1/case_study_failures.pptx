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71323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Failure 1 Conveyor breakdown"/>
          <p:cNvGrpSpPr/>
          <p:nvPr/>
        </p:nvGrpSpPr>
        <p:grpSpPr>
          <a:xfrm>
            <a:off x="274320" y="274320"/>
            <a:ext cx="5684367" cy="3154680"/>
            <a:chOff x="274320" y="274320"/>
            <a:chExt cx="5684367" cy="3154680"/>
          </a:xfrm>
        </p:grpSpPr>
        <p:sp>
          <p:nvSpPr>
            <p:cNvPr id="3" name="Panel frame"/>
            <p:cNvSpPr/>
            <p:nvPr/>
          </p:nvSpPr>
          <p:spPr>
            <a:xfrm>
              <a:off x="274320" y="274320"/>
              <a:ext cx="5684367" cy="315468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12700">
              <a:solidFill>
                <a:srgbClr val="D5DAE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Panel badge"/>
            <p:cNvSpPr/>
            <p:nvPr/>
          </p:nvSpPr>
          <p:spPr>
            <a:xfrm>
              <a:off x="420623" y="402335"/>
              <a:ext cx="292608" cy="292608"/>
            </a:xfrm>
            <a:prstGeom prst="ellipse">
              <a:avLst/>
            </a:prstGeom>
            <a:solidFill>
              <a:srgbClr val="D62728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 wrap="none">
              <a:noAutofit/>
            </a:bodyPr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Arial"/>
                </a:rPr>
                <a:t>1</a:t>
              </a:r>
            </a:p>
          </p:txBody>
        </p:sp>
        <p:sp>
          <p:nvSpPr>
            <p:cNvPr id="5" name="Panel title"/>
            <p:cNvSpPr txBox="1"/>
            <p:nvPr/>
          </p:nvSpPr>
          <p:spPr>
            <a:xfrm>
              <a:off x="804671" y="365760"/>
              <a:ext cx="5044287" cy="36576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600" b="1">
                  <a:solidFill>
                    <a:srgbClr val="2B2F36"/>
                  </a:solidFill>
                  <a:latin typeface="Arial"/>
                </a:rPr>
                <a:t>Conveyor breakdown</a:t>
              </a:r>
            </a:p>
          </p:txBody>
        </p:sp>
        <p:pic>
          <p:nvPicPr>
            <p:cNvPr id="6" name="Gazebo snapshot" descr="failure_1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11479" y="804671"/>
              <a:ext cx="3013124" cy="2103120"/>
            </a:xfrm>
            <a:prstGeom prst="rect">
              <a:avLst/>
            </a:prstGeom>
          </p:spPr>
        </p:pic>
        <p:sp>
          <p:nvSpPr>
            <p:cNvPr id="7" name="Card"/>
            <p:cNvSpPr/>
            <p:nvPr/>
          </p:nvSpPr>
          <p:spPr>
            <a:xfrm>
              <a:off x="3589195" y="804671"/>
              <a:ext cx="2232331" cy="2487168"/>
            </a:xfrm>
            <a:prstGeom prst="roundRect">
              <a:avLst>
                <a:gd name="adj" fmla="val 5000"/>
              </a:avLst>
            </a:prstGeom>
            <a:solidFill>
              <a:srgbClr val="F4F6F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Failed label"/>
            <p:cNvSpPr txBox="1"/>
            <p:nvPr/>
          </p:nvSpPr>
          <p:spPr>
            <a:xfrm>
              <a:off x="3717211" y="914399"/>
              <a:ext cx="731520" cy="32918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200" b="1">
                  <a:solidFill>
                    <a:srgbClr val="2B2F36"/>
                  </a:solidFill>
                  <a:latin typeface="Arial"/>
                </a:rPr>
                <a:t>Failed</a:t>
              </a:r>
            </a:p>
          </p:txBody>
        </p:sp>
        <p:sp>
          <p:nvSpPr>
            <p:cNvPr id="9" name="Failed resource"/>
            <p:cNvSpPr/>
            <p:nvPr/>
          </p:nvSpPr>
          <p:spPr>
            <a:xfrm>
              <a:off x="4375579" y="896111"/>
              <a:ext cx="1170432" cy="365760"/>
            </a:xfrm>
            <a:prstGeom prst="roundRect">
              <a:avLst>
                <a:gd name="adj" fmla="val 16000"/>
              </a:avLst>
            </a:prstGeom>
            <a:solidFill>
              <a:srgbClr val="FBE3C2"/>
            </a:solidFill>
            <a:ln w="31750">
              <a:solidFill>
                <a:srgbClr val="D6272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 wrap="none">
              <a:noAutofit/>
            </a:bodyPr>
            <a:lstStyle/>
            <a:p>
              <a:pPr algn="ctr"/>
              <a:r>
                <a:rPr sz="1400" b="1">
                  <a:solidFill>
                    <a:srgbClr val="2B2F36"/>
                  </a:solidFill>
                  <a:latin typeface="Arial"/>
                </a:rPr>
                <a:t>Conveyor</a:t>
              </a:r>
            </a:p>
          </p:txBody>
        </p:sp>
        <p:sp>
          <p:nvSpPr>
            <p:cNvPr id="10" name="Failure 1 details"/>
            <p:cNvSpPr txBox="1"/>
            <p:nvPr/>
          </p:nvSpPr>
          <p:spPr>
            <a:xfrm>
              <a:off x="3717211" y="1408176"/>
              <a:ext cx="1994587" cy="1810512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>
                <a:spcAft>
                  <a:spcPts val="500"/>
                </a:spcAft>
              </a:pPr>
              <a:r>
                <a:rPr sz="1200" b="1">
                  <a:solidFill>
                    <a:srgbClr val="2B2F36"/>
                  </a:solidFill>
                  <a:latin typeface="Arial"/>
                </a:rPr>
                <a:t>Injected  </a:t>
              </a:r>
              <a:r>
                <a:rPr sz="1200" b="0">
                  <a:solidFill>
                    <a:srgbClr val="5D6673"/>
                  </a:solidFill>
                  <a:latin typeface="Arial"/>
                </a:rPr>
                <a:t>UR5e-1 holds the trimmed peg, before release onto the Conveyor</a:t>
              </a:r>
            </a:p>
            <a:p>
              <a:pPr>
                <a:spcAft>
                  <a:spcPts val="500"/>
                </a:spcAft>
              </a:pPr>
              <a:r>
                <a:rPr sz="1200" b="1">
                  <a:solidFill>
                    <a:srgbClr val="2B2F36"/>
                  </a:solidFill>
                  <a:latin typeface="Arial"/>
                </a:rPr>
                <a:t>At failure  </a:t>
              </a:r>
              <a:r>
                <a:rPr sz="1200" b="0">
                  <a:solidFill>
                    <a:srgbClr val="5D6673"/>
                  </a:solidFill>
                  <a:latin typeface="Arial"/>
                </a:rPr>
                <a:t>KET4_Square_4mm in UR5e-1</a:t>
              </a:r>
              <a:br/>
              <a:r>
                <a:rPr sz="1200" b="0">
                  <a:solidFill>
                    <a:srgbClr val="5D6673"/>
                  </a:solidFill>
                  <a:latin typeface="Arial"/>
                </a:rPr>
                <a:t>gear_small in UR5e-4</a:t>
              </a:r>
            </a:p>
            <a:p>
              <a:pPr>
                <a:spcAft>
                  <a:spcPts val="500"/>
                </a:spcAft>
              </a:pPr>
              <a:r>
                <a:rPr sz="1200" b="1">
                  <a:solidFill>
                    <a:srgbClr val="2B2F36"/>
                  </a:solidFill>
                  <a:latin typeface="Arial"/>
                </a:rPr>
                <a:t>Disrupted  </a:t>
              </a:r>
              <a:r>
                <a:rPr sz="1200" b="0">
                  <a:solidFill>
                    <a:srgbClr val="5D6673"/>
                  </a:solidFill>
                  <a:latin typeface="Arial"/>
                </a:rPr>
                <a:t>transport to Buffer</a:t>
              </a:r>
            </a:p>
          </p:txBody>
        </p:sp>
      </p:grpSp>
      <p:grpSp>
        <p:nvGrpSpPr>
          <p:cNvPr id="11" name="Failure 2 ur5e-1 breakdown"/>
          <p:cNvGrpSpPr/>
          <p:nvPr/>
        </p:nvGrpSpPr>
        <p:grpSpPr>
          <a:xfrm>
            <a:off x="6233007" y="274320"/>
            <a:ext cx="5684367" cy="3154680"/>
            <a:chOff x="6233007" y="274320"/>
            <a:chExt cx="5684367" cy="3154680"/>
          </a:xfrm>
        </p:grpSpPr>
        <p:sp>
          <p:nvSpPr>
            <p:cNvPr id="12" name="Panel frame"/>
            <p:cNvSpPr/>
            <p:nvPr/>
          </p:nvSpPr>
          <p:spPr>
            <a:xfrm>
              <a:off x="6233007" y="274320"/>
              <a:ext cx="5684367" cy="315468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12700">
              <a:solidFill>
                <a:srgbClr val="D5DAE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Panel badge"/>
            <p:cNvSpPr/>
            <p:nvPr/>
          </p:nvSpPr>
          <p:spPr>
            <a:xfrm>
              <a:off x="6379311" y="402335"/>
              <a:ext cx="292608" cy="292608"/>
            </a:xfrm>
            <a:prstGeom prst="ellipse">
              <a:avLst/>
            </a:prstGeom>
            <a:solidFill>
              <a:srgbClr val="D62728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 wrap="none">
              <a:noAutofit/>
            </a:bodyPr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Arial"/>
                </a:rPr>
                <a:t>2</a:t>
              </a:r>
            </a:p>
          </p:txBody>
        </p:sp>
        <p:sp>
          <p:nvSpPr>
            <p:cNvPr id="14" name="Panel title"/>
            <p:cNvSpPr txBox="1"/>
            <p:nvPr/>
          </p:nvSpPr>
          <p:spPr>
            <a:xfrm>
              <a:off x="6763359" y="365760"/>
              <a:ext cx="5044287" cy="36576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600" b="1">
                  <a:solidFill>
                    <a:srgbClr val="2B2F36"/>
                  </a:solidFill>
                  <a:latin typeface="Arial"/>
                </a:rPr>
                <a:t>ur5e-1 breakdown</a:t>
              </a:r>
            </a:p>
          </p:txBody>
        </p:sp>
        <p:pic>
          <p:nvPicPr>
            <p:cNvPr id="15" name="Gazebo snapshot" descr="failure_2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70167" y="804671"/>
              <a:ext cx="3022812" cy="2103120"/>
            </a:xfrm>
            <a:prstGeom prst="rect">
              <a:avLst/>
            </a:prstGeom>
          </p:spPr>
        </p:pic>
        <p:sp>
          <p:nvSpPr>
            <p:cNvPr id="16" name="Card"/>
            <p:cNvSpPr/>
            <p:nvPr/>
          </p:nvSpPr>
          <p:spPr>
            <a:xfrm>
              <a:off x="9557571" y="804671"/>
              <a:ext cx="2222643" cy="2487168"/>
            </a:xfrm>
            <a:prstGeom prst="roundRect">
              <a:avLst>
                <a:gd name="adj" fmla="val 5000"/>
              </a:avLst>
            </a:prstGeom>
            <a:solidFill>
              <a:srgbClr val="F4F6F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Failed label"/>
            <p:cNvSpPr txBox="1"/>
            <p:nvPr/>
          </p:nvSpPr>
          <p:spPr>
            <a:xfrm>
              <a:off x="9685587" y="914399"/>
              <a:ext cx="731520" cy="32918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200" b="1">
                  <a:solidFill>
                    <a:srgbClr val="2B2F36"/>
                  </a:solidFill>
                  <a:latin typeface="Arial"/>
                </a:rPr>
                <a:t>Failed</a:t>
              </a:r>
            </a:p>
          </p:txBody>
        </p:sp>
        <p:sp>
          <p:nvSpPr>
            <p:cNvPr id="18" name="Failed resource"/>
            <p:cNvSpPr/>
            <p:nvPr/>
          </p:nvSpPr>
          <p:spPr>
            <a:xfrm>
              <a:off x="10343955" y="896111"/>
              <a:ext cx="950976" cy="365760"/>
            </a:xfrm>
            <a:prstGeom prst="roundRect">
              <a:avLst>
                <a:gd name="adj" fmla="val 16000"/>
              </a:avLst>
            </a:prstGeom>
            <a:solidFill>
              <a:srgbClr val="D7EEE7"/>
            </a:solidFill>
            <a:ln w="31750">
              <a:solidFill>
                <a:srgbClr val="D6272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 wrap="none">
              <a:noAutofit/>
            </a:bodyPr>
            <a:lstStyle/>
            <a:p>
              <a:pPr algn="ctr"/>
              <a:r>
                <a:rPr sz="1400" b="1">
                  <a:solidFill>
                    <a:srgbClr val="2B2F36"/>
                  </a:solidFill>
                  <a:latin typeface="Arial"/>
                </a:rPr>
                <a:t>UR5e-1</a:t>
              </a:r>
            </a:p>
          </p:txBody>
        </p:sp>
        <p:sp>
          <p:nvSpPr>
            <p:cNvPr id="19" name="Failure 2 details"/>
            <p:cNvSpPr txBox="1"/>
            <p:nvPr/>
          </p:nvSpPr>
          <p:spPr>
            <a:xfrm>
              <a:off x="9685587" y="1408176"/>
              <a:ext cx="1984899" cy="1810512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>
                <a:spcAft>
                  <a:spcPts val="500"/>
                </a:spcAft>
              </a:pPr>
              <a:r>
                <a:rPr sz="1200" b="1">
                  <a:solidFill>
                    <a:srgbClr val="2B2F36"/>
                  </a:solidFill>
                  <a:latin typeface="Arial"/>
                </a:rPr>
                <a:t>Injected  </a:t>
              </a:r>
              <a:r>
                <a:rPr sz="1200" b="0">
                  <a:solidFill>
                    <a:srgbClr val="5D6673"/>
                  </a:solidFill>
                  <a:latin typeface="Arial"/>
                </a:rPr>
                <a:t>M1 has finished; UR5e-1 has approached but not grasped</a:t>
              </a:r>
            </a:p>
            <a:p>
              <a:pPr>
                <a:spcAft>
                  <a:spcPts val="500"/>
                </a:spcAft>
              </a:pPr>
              <a:r>
                <a:rPr sz="1200" b="1">
                  <a:solidFill>
                    <a:srgbClr val="2B2F36"/>
                  </a:solidFill>
                  <a:latin typeface="Arial"/>
                </a:rPr>
                <a:t>At failure  </a:t>
              </a:r>
              <a:r>
                <a:rPr sz="1200" b="0">
                  <a:solidFill>
                    <a:srgbClr val="5D6673"/>
                  </a:solidFill>
                  <a:latin typeface="Arial"/>
                </a:rPr>
                <a:t>trimmed KET4_Square_4mm in M1</a:t>
              </a:r>
              <a:br/>
              <a:r>
                <a:rPr sz="1200" b="0">
                  <a:solidFill>
                    <a:srgbClr val="5D6673"/>
                  </a:solidFill>
                  <a:latin typeface="Arial"/>
                </a:rPr>
                <a:t>UR5e-1 stopped in M1's front access, gripper empty</a:t>
              </a:r>
            </a:p>
            <a:p>
              <a:pPr>
                <a:spcAft>
                  <a:spcPts val="500"/>
                </a:spcAft>
              </a:pPr>
              <a:r>
                <a:rPr sz="1200" b="1">
                  <a:solidFill>
                    <a:srgbClr val="2B2F36"/>
                  </a:solidFill>
                  <a:latin typeface="Arial"/>
                </a:rPr>
                <a:t>Disrupted  </a:t>
              </a:r>
              <a:r>
                <a:rPr sz="1200" b="0">
                  <a:solidFill>
                    <a:srgbClr val="5D6673"/>
                  </a:solidFill>
                  <a:latin typeface="Arial"/>
                </a:rPr>
                <a:t>M1 unloading</a:t>
              </a:r>
            </a:p>
          </p:txBody>
        </p:sp>
      </p:grpSp>
      <p:grpSp>
        <p:nvGrpSpPr>
          <p:cNvPr id="20" name="Failure 3 Machining breakdown during part processing"/>
          <p:cNvGrpSpPr/>
          <p:nvPr/>
        </p:nvGrpSpPr>
        <p:grpSpPr>
          <a:xfrm>
            <a:off x="274320" y="3703320"/>
            <a:ext cx="5684367" cy="3154680"/>
            <a:chOff x="274320" y="3703320"/>
            <a:chExt cx="5684367" cy="3154680"/>
          </a:xfrm>
        </p:grpSpPr>
        <p:sp>
          <p:nvSpPr>
            <p:cNvPr id="21" name="Panel frame"/>
            <p:cNvSpPr/>
            <p:nvPr/>
          </p:nvSpPr>
          <p:spPr>
            <a:xfrm>
              <a:off x="274320" y="3703320"/>
              <a:ext cx="5684367" cy="315468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12700">
              <a:solidFill>
                <a:srgbClr val="D5DAE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Panel badge"/>
            <p:cNvSpPr/>
            <p:nvPr/>
          </p:nvSpPr>
          <p:spPr>
            <a:xfrm>
              <a:off x="420623" y="3831335"/>
              <a:ext cx="292608" cy="292608"/>
            </a:xfrm>
            <a:prstGeom prst="ellipse">
              <a:avLst/>
            </a:prstGeom>
            <a:solidFill>
              <a:srgbClr val="D62728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 wrap="none">
              <a:noAutofit/>
            </a:bodyPr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Arial"/>
                </a:rPr>
                <a:t>3</a:t>
              </a:r>
            </a:p>
          </p:txBody>
        </p:sp>
        <p:sp>
          <p:nvSpPr>
            <p:cNvPr id="23" name="Panel title"/>
            <p:cNvSpPr txBox="1"/>
            <p:nvPr/>
          </p:nvSpPr>
          <p:spPr>
            <a:xfrm>
              <a:off x="804671" y="3794759"/>
              <a:ext cx="5044287" cy="36576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600" b="1">
                  <a:solidFill>
                    <a:srgbClr val="2B2F36"/>
                  </a:solidFill>
                  <a:latin typeface="Arial"/>
                </a:rPr>
                <a:t>Machining breakdown during part processing</a:t>
              </a:r>
            </a:p>
          </p:txBody>
        </p:sp>
        <p:pic>
          <p:nvPicPr>
            <p:cNvPr id="24" name="Gazebo snapshot" descr="failure_3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11479" y="4233672"/>
              <a:ext cx="3022812" cy="2103120"/>
            </a:xfrm>
            <a:prstGeom prst="rect">
              <a:avLst/>
            </a:prstGeom>
          </p:spPr>
        </p:pic>
        <p:sp>
          <p:nvSpPr>
            <p:cNvPr id="25" name="Card"/>
            <p:cNvSpPr/>
            <p:nvPr/>
          </p:nvSpPr>
          <p:spPr>
            <a:xfrm>
              <a:off x="3598884" y="4233672"/>
              <a:ext cx="2222643" cy="2487168"/>
            </a:xfrm>
            <a:prstGeom prst="roundRect">
              <a:avLst>
                <a:gd name="adj" fmla="val 5000"/>
              </a:avLst>
            </a:prstGeom>
            <a:solidFill>
              <a:srgbClr val="F4F6F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Failed label"/>
            <p:cNvSpPr txBox="1"/>
            <p:nvPr/>
          </p:nvSpPr>
          <p:spPr>
            <a:xfrm>
              <a:off x="3726900" y="4343400"/>
              <a:ext cx="731520" cy="32918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200" b="1">
                  <a:solidFill>
                    <a:srgbClr val="2B2F36"/>
                  </a:solidFill>
                  <a:latin typeface="Arial"/>
                </a:rPr>
                <a:t>Failed</a:t>
              </a:r>
            </a:p>
          </p:txBody>
        </p:sp>
        <p:sp>
          <p:nvSpPr>
            <p:cNvPr id="27" name="Failed resource"/>
            <p:cNvSpPr/>
            <p:nvPr/>
          </p:nvSpPr>
          <p:spPr>
            <a:xfrm>
              <a:off x="4385268" y="4325112"/>
              <a:ext cx="512064" cy="365760"/>
            </a:xfrm>
            <a:prstGeom prst="roundRect">
              <a:avLst>
                <a:gd name="adj" fmla="val 16000"/>
              </a:avLst>
            </a:prstGeom>
            <a:solidFill>
              <a:srgbClr val="E3E6EB"/>
            </a:solidFill>
            <a:ln w="31750">
              <a:solidFill>
                <a:srgbClr val="D6272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 wrap="none">
              <a:noAutofit/>
            </a:bodyPr>
            <a:lstStyle/>
            <a:p>
              <a:pPr algn="ctr"/>
              <a:r>
                <a:rPr sz="1400" b="1">
                  <a:solidFill>
                    <a:srgbClr val="2B2F36"/>
                  </a:solidFill>
                  <a:latin typeface="Arial"/>
                </a:rPr>
                <a:t>M1</a:t>
              </a:r>
            </a:p>
          </p:txBody>
        </p:sp>
        <p:sp>
          <p:nvSpPr>
            <p:cNvPr id="28" name="Failure 3 details"/>
            <p:cNvSpPr txBox="1"/>
            <p:nvPr/>
          </p:nvSpPr>
          <p:spPr>
            <a:xfrm>
              <a:off x="3726900" y="4837176"/>
              <a:ext cx="1984899" cy="1810511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>
                <a:spcAft>
                  <a:spcPts val="500"/>
                </a:spcAft>
              </a:pPr>
              <a:r>
                <a:rPr sz="1200" b="1">
                  <a:solidFill>
                    <a:srgbClr val="2B2F36"/>
                  </a:solidFill>
                  <a:latin typeface="Arial"/>
                </a:rPr>
                <a:t>Injected  </a:t>
              </a:r>
              <a:r>
                <a:rPr sz="1200" b="0">
                  <a:solidFill>
                    <a:srgbClr val="5D6673"/>
                  </a:solidFill>
                  <a:latin typeface="Arial"/>
                </a:rPr>
                <a:t>18% into M1's 5 s trim job</a:t>
              </a:r>
            </a:p>
            <a:p>
              <a:pPr>
                <a:spcAft>
                  <a:spcPts val="500"/>
                </a:spcAft>
              </a:pPr>
              <a:r>
                <a:rPr sz="1200" b="1">
                  <a:solidFill>
                    <a:srgbClr val="2B2F36"/>
                  </a:solidFill>
                  <a:latin typeface="Arial"/>
                </a:rPr>
                <a:t>At failure  </a:t>
              </a:r>
              <a:r>
                <a:rPr sz="1200" b="0">
                  <a:solidFill>
                    <a:srgbClr val="5D6673"/>
                  </a:solidFill>
                  <a:latin typeface="Arial"/>
                </a:rPr>
                <a:t>KET4_Square_4mm partly trimmed in M1</a:t>
              </a:r>
              <a:br/>
              <a:r>
                <a:rPr sz="1200" b="0">
                  <a:solidFill>
                    <a:srgbClr val="5D6673"/>
                  </a:solidFill>
                  <a:latin typeface="Arial"/>
                </a:rPr>
                <a:t>RGOCG4-50_Round_4mm still trimming in M2</a:t>
              </a:r>
            </a:p>
            <a:p>
              <a:pPr>
                <a:spcAft>
                  <a:spcPts val="500"/>
                </a:spcAft>
              </a:pPr>
              <a:r>
                <a:rPr sz="1200" b="1">
                  <a:solidFill>
                    <a:srgbClr val="2B2F36"/>
                  </a:solidFill>
                  <a:latin typeface="Arial"/>
                </a:rPr>
                <a:t>Disrupted  </a:t>
              </a:r>
              <a:r>
                <a:rPr sz="1200" b="0">
                  <a:solidFill>
                    <a:srgbClr val="5D6673"/>
                  </a:solidFill>
                  <a:latin typeface="Arial"/>
                </a:rPr>
                <a:t>square trimming at M1</a:t>
              </a:r>
            </a:p>
          </p:txBody>
        </p:sp>
      </p:grpSp>
      <p:grpSp>
        <p:nvGrpSpPr>
          <p:cNvPr id="29" name="Failure 4 Part slippage"/>
          <p:cNvGrpSpPr/>
          <p:nvPr/>
        </p:nvGrpSpPr>
        <p:grpSpPr>
          <a:xfrm>
            <a:off x="6233007" y="3703320"/>
            <a:ext cx="5684367" cy="3154680"/>
            <a:chOff x="6233007" y="3703320"/>
            <a:chExt cx="5684367" cy="3154680"/>
          </a:xfrm>
        </p:grpSpPr>
        <p:sp>
          <p:nvSpPr>
            <p:cNvPr id="30" name="Panel frame"/>
            <p:cNvSpPr/>
            <p:nvPr/>
          </p:nvSpPr>
          <p:spPr>
            <a:xfrm>
              <a:off x="6233007" y="3703320"/>
              <a:ext cx="5684367" cy="315468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12700">
              <a:solidFill>
                <a:srgbClr val="D5DAE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Panel badge"/>
            <p:cNvSpPr/>
            <p:nvPr/>
          </p:nvSpPr>
          <p:spPr>
            <a:xfrm>
              <a:off x="6379311" y="3831335"/>
              <a:ext cx="292608" cy="292608"/>
            </a:xfrm>
            <a:prstGeom prst="ellipse">
              <a:avLst/>
            </a:prstGeom>
            <a:solidFill>
              <a:srgbClr val="D62728"/>
            </a:solidFill>
            <a:ln w="190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 wrap="none">
              <a:noAutofit/>
            </a:bodyPr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Arial"/>
                </a:rPr>
                <a:t>4</a:t>
              </a:r>
            </a:p>
          </p:txBody>
        </p:sp>
        <p:sp>
          <p:nvSpPr>
            <p:cNvPr id="32" name="Panel title"/>
            <p:cNvSpPr txBox="1"/>
            <p:nvPr/>
          </p:nvSpPr>
          <p:spPr>
            <a:xfrm>
              <a:off x="6763359" y="3794759"/>
              <a:ext cx="5044287" cy="36576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600" b="1">
                  <a:solidFill>
                    <a:srgbClr val="2B2F36"/>
                  </a:solidFill>
                  <a:latin typeface="Arial"/>
                </a:rPr>
                <a:t>Part slippage</a:t>
              </a:r>
            </a:p>
          </p:txBody>
        </p:sp>
        <p:pic>
          <p:nvPicPr>
            <p:cNvPr id="33" name="Gazebo snapshot" descr="failure_4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370167" y="4233672"/>
              <a:ext cx="3013124" cy="2103120"/>
            </a:xfrm>
            <a:prstGeom prst="rect">
              <a:avLst/>
            </a:prstGeom>
          </p:spPr>
        </p:pic>
        <p:sp>
          <p:nvSpPr>
            <p:cNvPr id="34" name="Card"/>
            <p:cNvSpPr/>
            <p:nvPr/>
          </p:nvSpPr>
          <p:spPr>
            <a:xfrm>
              <a:off x="9547883" y="4233672"/>
              <a:ext cx="2232331" cy="2487168"/>
            </a:xfrm>
            <a:prstGeom prst="roundRect">
              <a:avLst>
                <a:gd name="adj" fmla="val 5000"/>
              </a:avLst>
            </a:prstGeom>
            <a:solidFill>
              <a:srgbClr val="F4F6F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Failed label"/>
            <p:cNvSpPr txBox="1"/>
            <p:nvPr/>
          </p:nvSpPr>
          <p:spPr>
            <a:xfrm>
              <a:off x="9675899" y="4343400"/>
              <a:ext cx="731520" cy="32918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200" b="1">
                  <a:solidFill>
                    <a:srgbClr val="2B2F36"/>
                  </a:solidFill>
                  <a:latin typeface="Arial"/>
                </a:rPr>
                <a:t>Failed</a:t>
              </a:r>
            </a:p>
          </p:txBody>
        </p:sp>
        <p:sp>
          <p:nvSpPr>
            <p:cNvPr id="36" name="Failed resource"/>
            <p:cNvSpPr/>
            <p:nvPr/>
          </p:nvSpPr>
          <p:spPr>
            <a:xfrm>
              <a:off x="10334267" y="4325112"/>
              <a:ext cx="950976" cy="365760"/>
            </a:xfrm>
            <a:prstGeom prst="roundRect">
              <a:avLst>
                <a:gd name="adj" fmla="val 16000"/>
              </a:avLst>
            </a:prstGeom>
            <a:solidFill>
              <a:srgbClr val="D7EEE7"/>
            </a:solidFill>
            <a:ln w="31750">
              <a:solidFill>
                <a:srgbClr val="D6272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lIns="0" rIns="0" tIns="0" bIns="0" wrap="none">
              <a:noAutofit/>
            </a:bodyPr>
            <a:lstStyle/>
            <a:p>
              <a:pPr algn="ctr"/>
              <a:r>
                <a:rPr sz="1400" b="1">
                  <a:solidFill>
                    <a:srgbClr val="2B2F36"/>
                  </a:solidFill>
                  <a:latin typeface="Arial"/>
                </a:rPr>
                <a:t>UR5e-4</a:t>
              </a:r>
            </a:p>
          </p:txBody>
        </p:sp>
        <p:sp>
          <p:nvSpPr>
            <p:cNvPr id="37" name="Failure 4 details"/>
            <p:cNvSpPr txBox="1"/>
            <p:nvPr/>
          </p:nvSpPr>
          <p:spPr>
            <a:xfrm>
              <a:off x="9675899" y="4837176"/>
              <a:ext cx="1994587" cy="1810511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>
                <a:spcAft>
                  <a:spcPts val="500"/>
                </a:spcAft>
              </a:pPr>
              <a:r>
                <a:rPr sz="1200" b="1">
                  <a:solidFill>
                    <a:srgbClr val="2B2F36"/>
                  </a:solidFill>
                  <a:latin typeface="Arial"/>
                </a:rPr>
                <a:t>Injected  </a:t>
              </a:r>
              <a:r>
                <a:rPr sz="1200" b="0">
                  <a:solidFill>
                    <a:srgbClr val="5D6673"/>
                  </a:solidFill>
                  <a:latin typeface="Arial"/>
                </a:rPr>
                <a:t>gear_small half lowered onto the Assembly Board</a:t>
              </a:r>
            </a:p>
            <a:p>
              <a:pPr>
                <a:spcAft>
                  <a:spcPts val="500"/>
                </a:spcAft>
              </a:pPr>
              <a:r>
                <a:rPr sz="1200" b="1">
                  <a:solidFill>
                    <a:srgbClr val="2B2F36"/>
                  </a:solidFill>
                  <a:latin typeface="Arial"/>
                </a:rPr>
                <a:t>At failure  </a:t>
              </a:r>
              <a:r>
                <a:rPr sz="1200" b="0">
                  <a:solidFill>
                    <a:srgbClr val="5D6673"/>
                  </a:solidFill>
                  <a:latin typeface="Arial"/>
                </a:rPr>
                <a:t>gear_small upright in UR5e-3's region</a:t>
              </a:r>
              <a:br/>
              <a:r>
                <a:rPr sz="1200" b="0">
                  <a:solidFill>
                    <a:srgbClr val="5D6673"/>
                  </a:solidFill>
                  <a:latin typeface="Arial"/>
                </a:rPr>
                <a:t>KET4_Square_4mm held by UR5e-3</a:t>
              </a:r>
            </a:p>
            <a:p>
              <a:pPr>
                <a:spcAft>
                  <a:spcPts val="500"/>
                </a:spcAft>
              </a:pPr>
              <a:r>
                <a:rPr sz="1200" b="1">
                  <a:solidFill>
                    <a:srgbClr val="2B2F36"/>
                  </a:solidFill>
                  <a:latin typeface="Arial"/>
                </a:rPr>
                <a:t>Disrupted  </a:t>
              </a:r>
              <a:r>
                <a:rPr sz="1200" b="0">
                  <a:solidFill>
                    <a:srgbClr val="5D6673"/>
                  </a:solidFill>
                  <a:latin typeface="Arial"/>
                </a:rPr>
                <a:t>gear_small placement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