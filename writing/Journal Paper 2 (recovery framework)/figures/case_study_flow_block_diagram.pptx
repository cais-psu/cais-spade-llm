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6480000" cy="2880000" type="custom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Case-study flow block diagram">
    <p:spTree>
      <p:nvGrpSpPr>
        <p:cNvPr id="1" name=""/>
        <p:cNvGrpSpPr/>
        <p:nvPr/>
      </p:nvGrpSpPr>
      <p:grpSpPr/>
      <p:cxnSp>
        <p:nvCxnSpPr>
          <p:cNvPr id="10" name="Assembly Board → Exit"/>
          <p:cNvCxnSpPr>
            <a:stCxn id="27" idx="3"/>
            <a:endCxn id="33" idx="1"/>
          </p:cNvCxnSpPr>
          <p:nvPr/>
        </p:nvCxnSpPr>
        <p:spPr>
          <a:xfrm>
            <a:off x="5508000" y="2340000"/>
            <a:ext cx="360000" cy="1"/>
          </a:xfrm>
          <a:prstGeom prst="line">
            <a:avLst/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cxnSp>
        <p:nvCxnSpPr>
          <p:cNvPr id="9" name="Printer → Assembly Board"/>
          <p:cNvCxnSpPr>
            <a:stCxn id="30" idx="3"/>
            <a:endCxn id="27" idx="1"/>
          </p:cNvCxnSpPr>
          <p:nvPr/>
        </p:nvCxnSpPr>
        <p:spPr>
          <a:xfrm>
            <a:off x="3690000" y="2340000"/>
            <a:ext cx="954000" cy="1"/>
          </a:xfrm>
          <a:prstGeom prst="line">
            <a:avLst/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cxnSp>
        <p:nvCxnSpPr>
          <p:cNvPr id="8" name="Buffer → Assembly Board"/>
          <p:cNvCxnSpPr>
            <a:stCxn id="24" idx="2"/>
            <a:endCxn id="27" idx="0"/>
          </p:cNvCxnSpPr>
          <p:nvPr/>
        </p:nvCxnSpPr>
        <p:spPr>
          <a:xfrm>
            <a:off x="5076000" y="1422000"/>
            <a:ext cx="1" cy="666000"/>
          </a:xfrm>
          <a:prstGeom prst="line">
            <a:avLst/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cxnSp>
        <p:nvCxnSpPr>
          <p:cNvPr id="7" name="Conveyor → Buffer"/>
          <p:cNvCxnSpPr>
            <a:stCxn id="21" idx="3"/>
            <a:endCxn id="24" idx="1"/>
          </p:cNvCxnSpPr>
          <p:nvPr/>
        </p:nvCxnSpPr>
        <p:spPr>
          <a:xfrm>
            <a:off x="4500000" y="1224000"/>
            <a:ext cx="216000" cy="1"/>
          </a:xfrm>
          <a:prstGeom prst="line">
            <a:avLst/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cxnSp>
        <p:nvCxnSpPr>
          <p:cNvPr id="6" name="M2 → Conveyor"/>
          <p:cNvCxnSpPr>
            <a:stCxn id="18" idx="3"/>
            <a:endCxn id="21" idx="1"/>
          </p:cNvCxnSpPr>
          <p:nvPr/>
        </p:nvCxnSpPr>
        <p:spPr>
          <a:xfrm flipV="1">
            <a:off x="2808000" y="1224000"/>
            <a:ext cx="900000" cy="576000"/>
          </a:xfrm>
          <a:prstGeom prst="bentConnector3">
            <a:avLst>
              <a:gd name="adj1" fmla="val 84000"/>
            </a:avLst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cxnSp>
        <p:nvCxnSpPr>
          <p:cNvPr id="5" name="M1 → Conveyor"/>
          <p:cNvCxnSpPr>
            <a:stCxn id="15" idx="3"/>
            <a:endCxn id="21" idx="1"/>
          </p:cNvCxnSpPr>
          <p:nvPr/>
        </p:nvCxnSpPr>
        <p:spPr>
          <a:xfrm>
            <a:off x="2808000" y="648000"/>
            <a:ext cx="900000" cy="576000"/>
          </a:xfrm>
          <a:prstGeom prst="bentConnector3">
            <a:avLst>
              <a:gd name="adj1" fmla="val 84000"/>
            </a:avLst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cxnSp>
        <p:nvCxnSpPr>
          <p:cNvPr id="4" name="Storage → M2"/>
          <p:cNvCxnSpPr>
            <a:stCxn id="12" idx="3"/>
            <a:endCxn id="18" idx="1"/>
          </p:cNvCxnSpPr>
          <p:nvPr/>
        </p:nvCxnSpPr>
        <p:spPr>
          <a:xfrm>
            <a:off x="792000" y="1224000"/>
            <a:ext cx="1296000" cy="576000"/>
          </a:xfrm>
          <a:prstGeom prst="bentConnector3">
            <a:avLst>
              <a:gd name="adj1" fmla="val 80556"/>
            </a:avLst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cxnSp>
        <p:nvCxnSpPr>
          <p:cNvPr id="3" name="Storage → M1"/>
          <p:cNvCxnSpPr>
            <a:stCxn id="12" idx="3"/>
            <a:endCxn id="15" idx="1"/>
          </p:cNvCxnSpPr>
          <p:nvPr/>
        </p:nvCxnSpPr>
        <p:spPr>
          <a:xfrm flipV="1">
            <a:off x="792000" y="648000"/>
            <a:ext cx="1296000" cy="576000"/>
          </a:xfrm>
          <a:prstGeom prst="bentConnector3">
            <a:avLst>
              <a:gd name="adj1" fmla="val 80556"/>
            </a:avLst>
          </a:prstGeom>
          <a:noFill/>
          <a:ln w="11430">
            <a:solidFill>
              <a:srgbClr val="47657D"/>
            </a:solidFill>
            <a:round/>
            <a:tailEnd type="triangle" w="med" len="med"/>
          </a:ln>
        </p:spPr>
      </p:cxnSp>
      <p:sp>
        <p:nvSpPr>
          <p:cNvPr id="12" name="Storage"/>
          <p:cNvSpPr/>
          <p:nvPr/>
        </p:nvSpPr>
        <p:spPr>
          <a:xfrm>
            <a:off x="72000" y="1026000"/>
            <a:ext cx="720000" cy="396000"/>
          </a:xfrm>
          <a:prstGeom prst="rect">
            <a:avLst/>
          </a:prstGeom>
          <a:solidFill>
            <a:srgbClr val="E6EFF6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Storage</a:t>
            </a:r>
            <a:endParaRPr lang="en-US" sz="900"/>
          </a:p>
        </p:txBody>
      </p:sp>
      <p:sp>
        <p:nvSpPr>
          <p:cNvPr id="15" name="M1"/>
          <p:cNvSpPr/>
          <p:nvPr/>
        </p:nvSpPr>
        <p:spPr>
          <a:xfrm>
            <a:off x="2088000" y="450000"/>
            <a:ext cx="720000" cy="396000"/>
          </a:xfrm>
          <a:prstGeom prst="rect">
            <a:avLst/>
          </a:prstGeom>
          <a:solidFill>
            <a:srgbClr val="F0F2F4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M1</a:t>
            </a:r>
            <a:endParaRPr lang="en-US" sz="900"/>
          </a:p>
        </p:txBody>
      </p:sp>
      <p:sp>
        <p:nvSpPr>
          <p:cNvPr id="18" name="M2"/>
          <p:cNvSpPr/>
          <p:nvPr/>
        </p:nvSpPr>
        <p:spPr>
          <a:xfrm>
            <a:off x="2088000" y="1602000"/>
            <a:ext cx="720000" cy="396000"/>
          </a:xfrm>
          <a:prstGeom prst="rect">
            <a:avLst/>
          </a:prstGeom>
          <a:solidFill>
            <a:srgbClr val="F0F2F4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M2</a:t>
            </a:r>
            <a:endParaRPr lang="en-US" sz="900"/>
          </a:p>
        </p:txBody>
      </p:sp>
      <p:sp>
        <p:nvSpPr>
          <p:cNvPr id="21" name="Conveyor"/>
          <p:cNvSpPr/>
          <p:nvPr/>
        </p:nvSpPr>
        <p:spPr>
          <a:xfrm>
            <a:off x="3708000" y="1026000"/>
            <a:ext cx="792000" cy="396000"/>
          </a:xfrm>
          <a:prstGeom prst="rect">
            <a:avLst/>
          </a:prstGeom>
          <a:solidFill>
            <a:srgbClr val="E6EFF6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Conveyor</a:t>
            </a:r>
            <a:endParaRPr lang="en-US" sz="900"/>
          </a:p>
        </p:txBody>
      </p:sp>
      <p:sp>
        <p:nvSpPr>
          <p:cNvPr id="24" name="Buffer"/>
          <p:cNvSpPr/>
          <p:nvPr/>
        </p:nvSpPr>
        <p:spPr>
          <a:xfrm>
            <a:off x="4716000" y="1026000"/>
            <a:ext cx="720000" cy="396000"/>
          </a:xfrm>
          <a:prstGeom prst="rect">
            <a:avLst/>
          </a:prstGeom>
          <a:solidFill>
            <a:srgbClr val="E6EFF6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Buffer</a:t>
            </a:r>
            <a:endParaRPr lang="en-US" sz="900"/>
          </a:p>
        </p:txBody>
      </p:sp>
      <p:sp>
        <p:nvSpPr>
          <p:cNvPr id="27" name="Assembly Board"/>
          <p:cNvSpPr/>
          <p:nvPr/>
        </p:nvSpPr>
        <p:spPr>
          <a:xfrm>
            <a:off x="4644000" y="2088000"/>
            <a:ext cx="864000" cy="504000"/>
          </a:xfrm>
          <a:prstGeom prst="rect">
            <a:avLst/>
          </a:prstGeom>
          <a:solidFill>
            <a:srgbClr val="FBF0E2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Assembly</a:t>
            </a:r>
            <a:endParaRPr lang="en-US" sz="900"/>
          </a:p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Board</a:t>
            </a:r>
            <a:endParaRPr lang="en-US" sz="900"/>
          </a:p>
        </p:txBody>
      </p:sp>
      <p:sp>
        <p:nvSpPr>
          <p:cNvPr id="30" name="Printer"/>
          <p:cNvSpPr/>
          <p:nvPr/>
        </p:nvSpPr>
        <p:spPr>
          <a:xfrm>
            <a:off x="2934000" y="2142000"/>
            <a:ext cx="756000" cy="396000"/>
          </a:xfrm>
          <a:prstGeom prst="rect">
            <a:avLst/>
          </a:prstGeom>
          <a:solidFill>
            <a:srgbClr val="F0F2F4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Printer</a:t>
            </a:r>
            <a:endParaRPr lang="en-US" sz="900"/>
          </a:p>
        </p:txBody>
      </p:sp>
      <p:sp>
        <p:nvSpPr>
          <p:cNvPr id="33" name="Exit"/>
          <p:cNvSpPr/>
          <p:nvPr/>
        </p:nvSpPr>
        <p:spPr>
          <a:xfrm>
            <a:off x="5868000" y="2142000"/>
            <a:ext cx="504000" cy="396000"/>
          </a:xfrm>
          <a:prstGeom prst="rect">
            <a:avLst/>
          </a:prstGeom>
          <a:solidFill>
            <a:srgbClr val="E6EFF6"/>
          </a:solidFill>
          <a:ln w="10795">
            <a:solidFill>
              <a:srgbClr val="334350"/>
            </a:solidFill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900" b="1" i="0">
                <a:solidFill>
                  <a:srgbClr val="334350"/>
                </a:solidFill>
                <a:latin typeface="Arial"/>
                <a:ea typeface="Arial"/>
                <a:cs typeface="Arial"/>
              </a:rPr>
              <a:t>Exit</a:t>
            </a:r>
            <a:endParaRPr lang="en-US" sz="900"/>
          </a:p>
        </p:txBody>
      </p:sp>
      <p:sp>
        <p:nvSpPr>
          <p:cNvPr id="36" name="KUKA KMR"/>
          <p:cNvSpPr txBox="1"/>
          <p:nvPr/>
        </p:nvSpPr>
        <p:spPr>
          <a:xfrm>
            <a:off x="846000" y="936000"/>
            <a:ext cx="900000" cy="180000"/>
          </a:xfrm>
          <a:prstGeom prst="rect">
            <a:avLst/>
          </a:prstGeom>
          <a:noFill/>
          <a:ln w="9144">
            <a:noFill/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50" b="1" i="0">
                <a:solidFill>
                  <a:srgbClr val="47657D"/>
                </a:solidFill>
                <a:latin typeface="Arial"/>
                <a:ea typeface="Arial"/>
                <a:cs typeface="Arial"/>
              </a:rPr>
              <a:t>KUKA KMR</a:t>
            </a:r>
            <a:endParaRPr lang="en-US" sz="850"/>
          </a:p>
        </p:txBody>
      </p:sp>
      <p:sp>
        <p:nvSpPr>
          <p:cNvPr id="38" name="UR5e-1"/>
          <p:cNvSpPr txBox="1"/>
          <p:nvPr/>
        </p:nvSpPr>
        <p:spPr>
          <a:xfrm>
            <a:off x="2826000" y="360000"/>
            <a:ext cx="684000" cy="180000"/>
          </a:xfrm>
          <a:prstGeom prst="rect">
            <a:avLst/>
          </a:prstGeom>
          <a:noFill/>
          <a:ln w="9144">
            <a:noFill/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50" b="1" i="0">
                <a:solidFill>
                  <a:srgbClr val="47657D"/>
                </a:solidFill>
                <a:latin typeface="Arial"/>
                <a:ea typeface="Arial"/>
                <a:cs typeface="Arial"/>
              </a:rPr>
              <a:t>UR5e-1</a:t>
            </a:r>
            <a:endParaRPr lang="en-US" sz="850"/>
          </a:p>
        </p:txBody>
      </p:sp>
      <p:sp>
        <p:nvSpPr>
          <p:cNvPr id="40" name="UR5e-2"/>
          <p:cNvSpPr txBox="1"/>
          <p:nvPr/>
        </p:nvSpPr>
        <p:spPr>
          <a:xfrm>
            <a:off x="2826000" y="1908000"/>
            <a:ext cx="684000" cy="180000"/>
          </a:xfrm>
          <a:prstGeom prst="rect">
            <a:avLst/>
          </a:prstGeom>
          <a:noFill/>
          <a:ln w="9144">
            <a:noFill/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50" b="1" i="0">
                <a:solidFill>
                  <a:srgbClr val="47657D"/>
                </a:solidFill>
                <a:latin typeface="Arial"/>
                <a:ea typeface="Arial"/>
                <a:cs typeface="Arial"/>
              </a:rPr>
              <a:t>UR5e-2</a:t>
            </a:r>
            <a:endParaRPr lang="en-US" sz="850"/>
          </a:p>
        </p:txBody>
      </p:sp>
      <p:sp>
        <p:nvSpPr>
          <p:cNvPr id="42" name="UR5e-3"/>
          <p:cNvSpPr txBox="1"/>
          <p:nvPr/>
        </p:nvSpPr>
        <p:spPr>
          <a:xfrm>
            <a:off x="5202000" y="1656000"/>
            <a:ext cx="684000" cy="180000"/>
          </a:xfrm>
          <a:prstGeom prst="rect">
            <a:avLst/>
          </a:prstGeom>
          <a:noFill/>
          <a:ln w="9144">
            <a:noFill/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50" b="1" i="0">
                <a:solidFill>
                  <a:srgbClr val="47657D"/>
                </a:solidFill>
                <a:latin typeface="Arial"/>
                <a:ea typeface="Arial"/>
                <a:cs typeface="Arial"/>
              </a:rPr>
              <a:t>UR5e-3</a:t>
            </a:r>
            <a:endParaRPr lang="en-US" sz="850"/>
          </a:p>
        </p:txBody>
      </p:sp>
      <p:sp>
        <p:nvSpPr>
          <p:cNvPr id="44" name="UR5e-4"/>
          <p:cNvSpPr txBox="1"/>
          <p:nvPr/>
        </p:nvSpPr>
        <p:spPr>
          <a:xfrm>
            <a:off x="3834000" y="2041200"/>
            <a:ext cx="684000" cy="180000"/>
          </a:xfrm>
          <a:prstGeom prst="rect">
            <a:avLst/>
          </a:prstGeom>
          <a:noFill/>
          <a:ln w="9144">
            <a:noFill/>
            <a:round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50" b="1" i="0">
                <a:solidFill>
                  <a:srgbClr val="47657D"/>
                </a:solidFill>
                <a:latin typeface="Arial"/>
                <a:ea typeface="Arial"/>
                <a:cs typeface="Arial"/>
              </a:rPr>
              <a:t>UR5e-4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CA native editable figure">
  <a:themeElements>
    <a:clrScheme name="CCA">
      <a:dk1>
        <a:srgbClr val="20242B"/>
      </a:dk1>
      <a:lt1>
        <a:srgbClr val="FFFFFF"/>
      </a:lt1>
      <a:dk2>
        <a:srgbClr val="394452"/>
      </a:dk2>
      <a:lt2>
        <a:srgbClr val="F4F6F8"/>
      </a:lt2>
      <a:accent1>
        <a:srgbClr val="6B21D9"/>
      </a:accent1>
      <a:accent2>
        <a:srgbClr val="2775C9"/>
      </a:accent2>
      <a:accent3>
        <a:srgbClr val="6B7280"/>
      </a:accent3>
      <a:accent4>
        <a:srgbClr val="DB3038"/>
      </a:accent4>
      <a:accent5>
        <a:srgbClr val="159447"/>
      </a:accent5>
      <a:accent6>
        <a:srgbClr val="EF9B22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C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