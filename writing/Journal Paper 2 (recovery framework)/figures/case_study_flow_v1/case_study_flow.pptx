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5577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orage"/>
          <p:cNvSpPr/>
          <p:nvPr/>
        </p:nvSpPr>
        <p:spPr>
          <a:xfrm>
            <a:off x="243687" y="274319"/>
            <a:ext cx="1298448" cy="969264"/>
          </a:xfrm>
          <a:prstGeom prst="roundRect">
            <a:avLst>
              <a:gd name="adj" fmla="val 13000"/>
            </a:avLst>
          </a:prstGeom>
          <a:solidFill>
            <a:srgbClr val="DCE8F5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Storage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raw pegs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3" name="KUKA KMR"/>
          <p:cNvSpPr/>
          <p:nvPr/>
        </p:nvSpPr>
        <p:spPr>
          <a:xfrm>
            <a:off x="243687" y="1627632"/>
            <a:ext cx="1298448" cy="969264"/>
          </a:xfrm>
          <a:prstGeom prst="roundRect">
            <a:avLst>
              <a:gd name="adj" fmla="val 13000"/>
            </a:avLst>
          </a:prstGeom>
          <a:solidFill>
            <a:srgbClr val="FBE3C2"/>
          </a:solidFill>
          <a:ln w="19050">
            <a:solidFill>
              <a:srgbClr val="B86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KUKA KMR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mobile robot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4" name="M1"/>
          <p:cNvSpPr/>
          <p:nvPr/>
        </p:nvSpPr>
        <p:spPr>
          <a:xfrm>
            <a:off x="1907895" y="274319"/>
            <a:ext cx="1371600" cy="969264"/>
          </a:xfrm>
          <a:prstGeom prst="roundRect">
            <a:avLst>
              <a:gd name="adj" fmla="val 13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M1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CNC trimming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5" name="M2"/>
          <p:cNvSpPr/>
          <p:nvPr/>
        </p:nvSpPr>
        <p:spPr>
          <a:xfrm>
            <a:off x="1907895" y="2980944"/>
            <a:ext cx="1371600" cy="969264"/>
          </a:xfrm>
          <a:prstGeom prst="roundRect">
            <a:avLst>
              <a:gd name="adj" fmla="val 13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M2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CNC trimming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6" name="UR5e-1"/>
          <p:cNvSpPr/>
          <p:nvPr/>
        </p:nvSpPr>
        <p:spPr>
          <a:xfrm>
            <a:off x="3645255" y="274319"/>
            <a:ext cx="1463040" cy="969264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UR5e-1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machine tending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7" name="UR5e-2"/>
          <p:cNvSpPr/>
          <p:nvPr/>
        </p:nvSpPr>
        <p:spPr>
          <a:xfrm>
            <a:off x="3645255" y="2980944"/>
            <a:ext cx="1463040" cy="969264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UR5e-2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machine tending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8" name="Conveyor"/>
          <p:cNvSpPr/>
          <p:nvPr/>
        </p:nvSpPr>
        <p:spPr>
          <a:xfrm>
            <a:off x="5474055" y="1627632"/>
            <a:ext cx="1143000" cy="969264"/>
          </a:xfrm>
          <a:prstGeom prst="roundRect">
            <a:avLst>
              <a:gd name="adj" fmla="val 13000"/>
            </a:avLst>
          </a:prstGeom>
          <a:solidFill>
            <a:srgbClr val="FBE3C2"/>
          </a:solidFill>
          <a:ln w="19050">
            <a:solidFill>
              <a:srgbClr val="B86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Conveyor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belt transport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9" name="Buffer"/>
          <p:cNvSpPr/>
          <p:nvPr/>
        </p:nvSpPr>
        <p:spPr>
          <a:xfrm>
            <a:off x="6982815" y="1627632"/>
            <a:ext cx="1143000" cy="969264"/>
          </a:xfrm>
          <a:prstGeom prst="roundRect">
            <a:avLst>
              <a:gd name="adj" fmla="val 13000"/>
            </a:avLst>
          </a:prstGeom>
          <a:solidFill>
            <a:srgbClr val="DCE8F5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Buffer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4 zones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10" name="Printer"/>
          <p:cNvSpPr/>
          <p:nvPr/>
        </p:nvSpPr>
        <p:spPr>
          <a:xfrm>
            <a:off x="6982815" y="4334255"/>
            <a:ext cx="1143000" cy="969264"/>
          </a:xfrm>
          <a:prstGeom prst="roundRect">
            <a:avLst>
              <a:gd name="adj" fmla="val 13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Printer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3D printing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E0843C"/>
                </a:solidFill>
                <a:latin typeface="Segoe UI Symbol"/>
              </a:rPr>
              <a:t>✹</a:t>
            </a:r>
            <a:r>
              <a:rPr sz="1200" b="1">
                <a:solidFill>
                  <a:srgbClr val="2B2F36"/>
                </a:solidFill>
                <a:latin typeface="Arial"/>
              </a:rPr>
              <a:t> ×3</a:t>
            </a:r>
          </a:p>
        </p:txBody>
      </p:sp>
      <p:sp>
        <p:nvSpPr>
          <p:cNvPr id="11" name="UR5e-3"/>
          <p:cNvSpPr/>
          <p:nvPr/>
        </p:nvSpPr>
        <p:spPr>
          <a:xfrm>
            <a:off x="8660739" y="1627632"/>
            <a:ext cx="1463040" cy="969264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UR5e-3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assembly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2B2F36"/>
                </a:solidFill>
                <a:latin typeface="Segoe UI Symbol"/>
              </a:rPr>
              <a:t>▣</a:t>
            </a:r>
            <a:r>
              <a:rPr sz="1200" b="1">
                <a:solidFill>
                  <a:srgbClr val="2B2F36"/>
                </a:solidFill>
                <a:latin typeface="Arial"/>
              </a:rPr>
              <a:t> ×1</a:t>
            </a:r>
          </a:p>
        </p:txBody>
      </p:sp>
      <p:sp>
        <p:nvSpPr>
          <p:cNvPr id="12" name="Assembly Board"/>
          <p:cNvSpPr/>
          <p:nvPr/>
        </p:nvSpPr>
        <p:spPr>
          <a:xfrm>
            <a:off x="8491575" y="2980944"/>
            <a:ext cx="1801368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28575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Assembly Board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assembly_board-v1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E0843C"/>
                </a:solidFill>
                <a:latin typeface="Segoe UI Symbol"/>
              </a:rPr>
              <a:t>✹</a:t>
            </a:r>
            <a:r>
              <a:rPr sz="1200" b="1">
                <a:solidFill>
                  <a:srgbClr val="2B2F36"/>
                </a:solidFill>
                <a:latin typeface="Arial"/>
              </a:rPr>
              <a:t> ×3</a:t>
            </a:r>
          </a:p>
        </p:txBody>
      </p:sp>
      <p:sp>
        <p:nvSpPr>
          <p:cNvPr id="13" name="UR5e-4"/>
          <p:cNvSpPr/>
          <p:nvPr/>
        </p:nvSpPr>
        <p:spPr>
          <a:xfrm>
            <a:off x="8660739" y="4334255"/>
            <a:ext cx="1463040" cy="969264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UR5e-4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gear assembly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E0843C"/>
                </a:solidFill>
                <a:latin typeface="Segoe UI Symbol"/>
              </a:rPr>
              <a:t>✹</a:t>
            </a:r>
            <a:r>
              <a:rPr sz="1200" b="1">
                <a:solidFill>
                  <a:srgbClr val="2B2F36"/>
                </a:solidFill>
                <a:latin typeface="Arial"/>
              </a:rPr>
              <a:t> ×3</a:t>
            </a:r>
          </a:p>
        </p:txBody>
      </p:sp>
      <p:sp>
        <p:nvSpPr>
          <p:cNvPr id="14" name="Exit"/>
          <p:cNvSpPr/>
          <p:nvPr/>
        </p:nvSpPr>
        <p:spPr>
          <a:xfrm>
            <a:off x="10658703" y="1627632"/>
            <a:ext cx="1289304" cy="969264"/>
          </a:xfrm>
          <a:prstGeom prst="roundRect">
            <a:avLst>
              <a:gd name="adj" fmla="val 13000"/>
            </a:avLst>
          </a:prstGeom>
          <a:solidFill>
            <a:srgbClr val="DCE8F5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Exit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finished product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2B2F36"/>
                </a:solidFill>
                <a:latin typeface="Segoe UI Symbol"/>
              </a:rPr>
              <a:t>▣</a:t>
            </a:r>
            <a:r>
              <a:rPr sz="1200" b="1">
                <a:solidFill>
                  <a:srgbClr val="2B2F36"/>
                </a:solidFill>
                <a:latin typeface="Arial"/>
              </a:rPr>
              <a:t> ×1</a:t>
            </a:r>
          </a:p>
        </p:txBody>
      </p:sp>
      <p:cxnSp>
        <p:nvCxnSpPr>
          <p:cNvPr id="15" name="Flow Storage to KUKA KMR"/>
          <p:cNvCxnSpPr>
            <a:stCxn id="2" idx="2"/>
            <a:endCxn id="3" idx="0"/>
          </p:cNvCxnSpPr>
          <p:nvPr/>
        </p:nvCxnSpPr>
        <p:spPr>
          <a:xfrm>
            <a:off x="892911" y="1243583"/>
            <a:ext cx="0" cy="384049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 KUKA KMR to M1"/>
          <p:cNvCxnSpPr>
            <a:stCxn id="3" idx="3"/>
            <a:endCxn id="4" idx="1"/>
          </p:cNvCxnSpPr>
          <p:nvPr/>
        </p:nvCxnSpPr>
        <p:spPr>
          <a:xfrm flipV="1">
            <a:off x="1542135" y="758951"/>
            <a:ext cx="365760" cy="1353313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 KUKA KMR to M2"/>
          <p:cNvCxnSpPr>
            <a:stCxn id="3" idx="3"/>
            <a:endCxn id="5" idx="1"/>
          </p:cNvCxnSpPr>
          <p:nvPr/>
        </p:nvCxnSpPr>
        <p:spPr>
          <a:xfrm>
            <a:off x="1542135" y="2112264"/>
            <a:ext cx="365760" cy="1353312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 M1 to UR5e-1"/>
          <p:cNvCxnSpPr>
            <a:stCxn id="4" idx="3"/>
            <a:endCxn id="6" idx="1"/>
          </p:cNvCxnSpPr>
          <p:nvPr/>
        </p:nvCxnSpPr>
        <p:spPr>
          <a:xfrm>
            <a:off x="3279495" y="758951"/>
            <a:ext cx="365760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 M2 to UR5e-2"/>
          <p:cNvCxnSpPr>
            <a:stCxn id="5" idx="3"/>
            <a:endCxn id="7" idx="1"/>
          </p:cNvCxnSpPr>
          <p:nvPr/>
        </p:nvCxnSpPr>
        <p:spPr>
          <a:xfrm flipV="1">
            <a:off x="3279495" y="3465576"/>
            <a:ext cx="365760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 UR5e-1 to Conveyor"/>
          <p:cNvCxnSpPr>
            <a:stCxn id="6" idx="3"/>
            <a:endCxn id="8" idx="1"/>
          </p:cNvCxnSpPr>
          <p:nvPr/>
        </p:nvCxnSpPr>
        <p:spPr>
          <a:xfrm>
            <a:off x="5108295" y="758951"/>
            <a:ext cx="365760" cy="1353313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 UR5e-2 to Conveyor"/>
          <p:cNvCxnSpPr>
            <a:stCxn id="7" idx="3"/>
            <a:endCxn id="8" idx="1"/>
          </p:cNvCxnSpPr>
          <p:nvPr/>
        </p:nvCxnSpPr>
        <p:spPr>
          <a:xfrm flipV="1">
            <a:off x="5108295" y="2112264"/>
            <a:ext cx="365760" cy="1353312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 Conveyor to Buffer"/>
          <p:cNvCxnSpPr>
            <a:stCxn id="8" idx="3"/>
            <a:endCxn id="9" idx="1"/>
          </p:cNvCxnSpPr>
          <p:nvPr/>
        </p:nvCxnSpPr>
        <p:spPr>
          <a:xfrm flipV="1">
            <a:off x="6617055" y="2112264"/>
            <a:ext cx="365760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 Buffer to UR5e-3"/>
          <p:cNvCxnSpPr>
            <a:stCxn id="9" idx="3"/>
            <a:endCxn id="11" idx="1"/>
          </p:cNvCxnSpPr>
          <p:nvPr/>
        </p:nvCxnSpPr>
        <p:spPr>
          <a:xfrm flipV="1">
            <a:off x="8125815" y="2112264"/>
            <a:ext cx="534924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 UR5e-3 to Assembly Board"/>
          <p:cNvCxnSpPr>
            <a:stCxn id="11" idx="2"/>
            <a:endCxn id="12" idx="0"/>
          </p:cNvCxnSpPr>
          <p:nvPr/>
        </p:nvCxnSpPr>
        <p:spPr>
          <a:xfrm flipH="1">
            <a:off x="9392259" y="2596896"/>
            <a:ext cx="0" cy="384048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 Printer to UR5e-4"/>
          <p:cNvCxnSpPr>
            <a:stCxn id="10" idx="3"/>
            <a:endCxn id="13" idx="1"/>
          </p:cNvCxnSpPr>
          <p:nvPr/>
        </p:nvCxnSpPr>
        <p:spPr>
          <a:xfrm flipV="1">
            <a:off x="8125815" y="4818887"/>
            <a:ext cx="534924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 UR5e-4 to Assembly Board"/>
          <p:cNvCxnSpPr>
            <a:stCxn id="13" idx="0"/>
            <a:endCxn id="12" idx="2"/>
          </p:cNvCxnSpPr>
          <p:nvPr/>
        </p:nvCxnSpPr>
        <p:spPr>
          <a:xfrm flipH="1" flipV="1">
            <a:off x="9392259" y="3950208"/>
            <a:ext cx="0" cy="384047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 Assembly Board to Exit"/>
          <p:cNvCxnSpPr>
            <a:stCxn id="12" idx="3"/>
            <a:endCxn id="14" idx="2"/>
          </p:cNvCxnSpPr>
          <p:nvPr/>
        </p:nvCxnSpPr>
        <p:spPr>
          <a:xfrm flipV="1">
            <a:off x="10292943" y="2596896"/>
            <a:ext cx="1010412" cy="868680"/>
          </a:xfrm>
          <a:prstGeom prst="bentConnector2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Label Exit transfer"/>
          <p:cNvSpPr txBox="1"/>
          <p:nvPr/>
        </p:nvSpPr>
        <p:spPr>
          <a:xfrm>
            <a:off x="10315803" y="2924556"/>
            <a:ext cx="914400" cy="2133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200" b="0">
                <a:solidFill>
                  <a:srgbClr val="5D6673"/>
                </a:solidFill>
                <a:latin typeface="Arial"/>
              </a:rPr>
              <a:t>by UR5e-3</a:t>
            </a:r>
          </a:p>
        </p:txBody>
      </p:sp>
      <p:grpSp>
        <p:nvGrpSpPr>
          <p:cNvPr id="29" name="Legend"/>
          <p:cNvGrpSpPr/>
          <p:nvPr/>
        </p:nvGrpSpPr>
        <p:grpSpPr>
          <a:xfrm>
            <a:off x="243687" y="4352544"/>
            <a:ext cx="7068312" cy="920495"/>
            <a:chOff x="243687" y="4352544"/>
            <a:chExt cx="7068312" cy="920495"/>
          </a:xfrm>
        </p:grpSpPr>
        <p:sp>
          <p:nvSpPr>
            <p:cNvPr id="30" name="Legend part KET square peg"/>
            <p:cNvSpPr txBox="1"/>
            <p:nvPr/>
          </p:nvSpPr>
          <p:spPr>
            <a:xfrm>
              <a:off x="243687" y="5059680"/>
              <a:ext cx="164592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00" b="0">
                  <a:solidFill>
                    <a:srgbClr val="3D6FB6"/>
                  </a:solidFill>
                  <a:latin typeface="Segoe UI Symbol"/>
                </a:rPr>
                <a:t>■</a:t>
              </a:r>
              <a:r>
                <a:rPr sz="1200" b="0">
                  <a:solidFill>
                    <a:srgbClr val="2B2F36"/>
                  </a:solidFill>
                  <a:latin typeface="Arial"/>
                </a:rPr>
                <a:t>  KET square peg</a:t>
              </a:r>
            </a:p>
          </p:txBody>
        </p:sp>
        <p:sp>
          <p:nvSpPr>
            <p:cNvPr id="31" name="Legend part RGOCG round peg"/>
            <p:cNvSpPr txBox="1"/>
            <p:nvPr/>
          </p:nvSpPr>
          <p:spPr>
            <a:xfrm>
              <a:off x="2072487" y="5059680"/>
              <a:ext cx="164592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00" b="0">
                  <a:solidFill>
                    <a:srgbClr val="8B5CB8"/>
                  </a:solidFill>
                  <a:latin typeface="Segoe UI Symbol"/>
                </a:rPr>
                <a:t>●</a:t>
              </a:r>
              <a:r>
                <a:rPr sz="1200" b="0">
                  <a:solidFill>
                    <a:srgbClr val="2B2F36"/>
                  </a:solidFill>
                  <a:latin typeface="Arial"/>
                </a:rPr>
                <a:t>  RGOCG round peg</a:t>
              </a:r>
            </a:p>
          </p:txBody>
        </p:sp>
        <p:sp>
          <p:nvSpPr>
            <p:cNvPr id="32" name="Legend part Printed gear"/>
            <p:cNvSpPr txBox="1"/>
            <p:nvPr/>
          </p:nvSpPr>
          <p:spPr>
            <a:xfrm>
              <a:off x="3855567" y="5059680"/>
              <a:ext cx="164592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00" b="0">
                  <a:solidFill>
                    <a:srgbClr val="E0843C"/>
                  </a:solidFill>
                  <a:latin typeface="Segoe UI Symbol"/>
                </a:rPr>
                <a:t>✹</a:t>
              </a:r>
              <a:r>
                <a:rPr sz="1200" b="0">
                  <a:solidFill>
                    <a:srgbClr val="2B2F36"/>
                  </a:solidFill>
                  <a:latin typeface="Arial"/>
                </a:rPr>
                <a:t>  Printed gear</a:t>
              </a:r>
            </a:p>
          </p:txBody>
        </p:sp>
        <p:sp>
          <p:nvSpPr>
            <p:cNvPr id="33" name="Legend part Finished board"/>
            <p:cNvSpPr txBox="1"/>
            <p:nvPr/>
          </p:nvSpPr>
          <p:spPr>
            <a:xfrm>
              <a:off x="5318607" y="5059680"/>
              <a:ext cx="164592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00" b="0">
                  <a:solidFill>
                    <a:srgbClr val="2B2F36"/>
                  </a:solidFill>
                  <a:latin typeface="Segoe UI Symbol"/>
                </a:rPr>
                <a:t>▣</a:t>
              </a:r>
              <a:r>
                <a:rPr sz="1200" b="0">
                  <a:solidFill>
                    <a:srgbClr val="2B2F36"/>
                  </a:solidFill>
                  <a:latin typeface="Arial"/>
                </a:rPr>
                <a:t>  Finished board</a:t>
              </a:r>
            </a:p>
          </p:txBody>
        </p:sp>
        <p:sp>
          <p:nvSpPr>
            <p:cNvPr id="34" name="Legend Storage / buffer"/>
            <p:cNvSpPr/>
            <p:nvPr/>
          </p:nvSpPr>
          <p:spPr>
            <a:xfrm>
              <a:off x="243687" y="4352544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DCE8F5"/>
            </a:solidFill>
            <a:ln w="1905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Legend text Storage / buffer"/>
            <p:cNvSpPr txBox="1"/>
            <p:nvPr/>
          </p:nvSpPr>
          <p:spPr>
            <a:xfrm>
              <a:off x="774039" y="4364736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Storage / buffer</a:t>
              </a:r>
            </a:p>
          </p:txBody>
        </p:sp>
        <p:sp>
          <p:nvSpPr>
            <p:cNvPr id="36" name="Legend Transport"/>
            <p:cNvSpPr/>
            <p:nvPr/>
          </p:nvSpPr>
          <p:spPr>
            <a:xfrm>
              <a:off x="2072487" y="4352544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FBE3C2"/>
            </a:solidFill>
            <a:ln w="19050">
              <a:solidFill>
                <a:srgbClr val="B866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Legend text Transport"/>
            <p:cNvSpPr txBox="1"/>
            <p:nvPr/>
          </p:nvSpPr>
          <p:spPr>
            <a:xfrm>
              <a:off x="2602839" y="4364736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Transport</a:t>
              </a:r>
            </a:p>
          </p:txBody>
        </p:sp>
        <p:sp>
          <p:nvSpPr>
            <p:cNvPr id="38" name="Legend Processing"/>
            <p:cNvSpPr/>
            <p:nvPr/>
          </p:nvSpPr>
          <p:spPr>
            <a:xfrm>
              <a:off x="3855567" y="4352544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E3E6EB"/>
            </a:solidFill>
            <a:ln w="19050">
              <a:solidFill>
                <a:srgbClr val="4A4F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Legend text Processing"/>
            <p:cNvSpPr txBox="1"/>
            <p:nvPr/>
          </p:nvSpPr>
          <p:spPr>
            <a:xfrm>
              <a:off x="4385919" y="4364736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Processing</a:t>
              </a:r>
            </a:p>
          </p:txBody>
        </p:sp>
        <p:sp>
          <p:nvSpPr>
            <p:cNvPr id="40" name="Legend Robot arm"/>
            <p:cNvSpPr/>
            <p:nvPr/>
          </p:nvSpPr>
          <p:spPr>
            <a:xfrm>
              <a:off x="5318607" y="4352544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D7EEE7"/>
            </a:solidFill>
            <a:ln w="19050">
              <a:solidFill>
                <a:srgbClr val="2A8C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Legend text Robot arm"/>
            <p:cNvSpPr txBox="1"/>
            <p:nvPr/>
          </p:nvSpPr>
          <p:spPr>
            <a:xfrm>
              <a:off x="5848959" y="4364736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Robot arm</a:t>
              </a:r>
            </a:p>
          </p:txBody>
        </p:sp>
        <p:sp>
          <p:nvSpPr>
            <p:cNvPr id="42" name="Legend Product"/>
            <p:cNvSpPr/>
            <p:nvPr/>
          </p:nvSpPr>
          <p:spPr>
            <a:xfrm>
              <a:off x="243687" y="4700016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8575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Legend text Product"/>
            <p:cNvSpPr txBox="1"/>
            <p:nvPr/>
          </p:nvSpPr>
          <p:spPr>
            <a:xfrm>
              <a:off x="774039" y="4712208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Product</a:t>
              </a:r>
            </a:p>
          </p:txBody>
        </p:sp>
        <p:cxnSp>
          <p:nvCxnSpPr>
            <p:cNvPr id="44" name="Legend part flow"/>
            <p:cNvCxnSpPr/>
            <p:nvPr/>
          </p:nvCxnSpPr>
          <p:spPr>
            <a:xfrm>
              <a:off x="2072487" y="4818888"/>
              <a:ext cx="402336" cy="0"/>
            </a:xfrm>
            <a:prstGeom prst="line">
              <a:avLst/>
            </a:prstGeom>
            <a:ln w="25400">
              <a:solidFill>
                <a:srgbClr val="1F5F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egend text Part flow"/>
            <p:cNvSpPr txBox="1"/>
            <p:nvPr/>
          </p:nvSpPr>
          <p:spPr>
            <a:xfrm>
              <a:off x="2602839" y="4712208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Part flow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orage"/>
          <p:cNvSpPr/>
          <p:nvPr/>
        </p:nvSpPr>
        <p:spPr>
          <a:xfrm>
            <a:off x="243687" y="274319"/>
            <a:ext cx="1298448" cy="969264"/>
          </a:xfrm>
          <a:prstGeom prst="roundRect">
            <a:avLst>
              <a:gd name="adj" fmla="val 13000"/>
            </a:avLst>
          </a:prstGeom>
          <a:solidFill>
            <a:srgbClr val="DCE8F5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Storage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raw pegs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3" name="KUKA KMR"/>
          <p:cNvSpPr/>
          <p:nvPr/>
        </p:nvSpPr>
        <p:spPr>
          <a:xfrm>
            <a:off x="243687" y="1627632"/>
            <a:ext cx="1298448" cy="969264"/>
          </a:xfrm>
          <a:prstGeom prst="roundRect">
            <a:avLst>
              <a:gd name="adj" fmla="val 13000"/>
            </a:avLst>
          </a:prstGeom>
          <a:solidFill>
            <a:srgbClr val="FBE3C2"/>
          </a:solidFill>
          <a:ln w="19050">
            <a:solidFill>
              <a:srgbClr val="B86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KUKA KMR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mobile robot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4" name="M1"/>
          <p:cNvSpPr/>
          <p:nvPr/>
        </p:nvSpPr>
        <p:spPr>
          <a:xfrm>
            <a:off x="1907895" y="274319"/>
            <a:ext cx="1371600" cy="969264"/>
          </a:xfrm>
          <a:prstGeom prst="roundRect">
            <a:avLst>
              <a:gd name="adj" fmla="val 13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M1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CNC trimming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5" name="M2"/>
          <p:cNvSpPr/>
          <p:nvPr/>
        </p:nvSpPr>
        <p:spPr>
          <a:xfrm>
            <a:off x="1907895" y="2980944"/>
            <a:ext cx="1371600" cy="969264"/>
          </a:xfrm>
          <a:prstGeom prst="roundRect">
            <a:avLst>
              <a:gd name="adj" fmla="val 13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M2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CNC trimming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6" name="UR5e-1"/>
          <p:cNvSpPr/>
          <p:nvPr/>
        </p:nvSpPr>
        <p:spPr>
          <a:xfrm>
            <a:off x="3645255" y="274319"/>
            <a:ext cx="1463040" cy="969264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UR5e-1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machine tending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7" name="UR5e-2"/>
          <p:cNvSpPr/>
          <p:nvPr/>
        </p:nvSpPr>
        <p:spPr>
          <a:xfrm>
            <a:off x="3645255" y="2980944"/>
            <a:ext cx="1463040" cy="969264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UR5e-2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machine tending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8" name="Conveyor"/>
          <p:cNvSpPr/>
          <p:nvPr/>
        </p:nvSpPr>
        <p:spPr>
          <a:xfrm>
            <a:off x="5474055" y="1627632"/>
            <a:ext cx="1143000" cy="969264"/>
          </a:xfrm>
          <a:prstGeom prst="roundRect">
            <a:avLst>
              <a:gd name="adj" fmla="val 13000"/>
            </a:avLst>
          </a:prstGeom>
          <a:solidFill>
            <a:srgbClr val="FBE3C2"/>
          </a:solidFill>
          <a:ln w="19050">
            <a:solidFill>
              <a:srgbClr val="B86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Conveyor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belt transport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9" name="Buffer"/>
          <p:cNvSpPr/>
          <p:nvPr/>
        </p:nvSpPr>
        <p:spPr>
          <a:xfrm>
            <a:off x="6982815" y="1627632"/>
            <a:ext cx="1143000" cy="969264"/>
          </a:xfrm>
          <a:prstGeom prst="roundRect">
            <a:avLst>
              <a:gd name="adj" fmla="val 13000"/>
            </a:avLst>
          </a:prstGeom>
          <a:solidFill>
            <a:srgbClr val="DCE8F5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Buffer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4 zones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</a:p>
        </p:txBody>
      </p:sp>
      <p:sp>
        <p:nvSpPr>
          <p:cNvPr id="10" name="Printer"/>
          <p:cNvSpPr/>
          <p:nvPr/>
        </p:nvSpPr>
        <p:spPr>
          <a:xfrm>
            <a:off x="6982815" y="4334255"/>
            <a:ext cx="1143000" cy="969264"/>
          </a:xfrm>
          <a:prstGeom prst="roundRect">
            <a:avLst>
              <a:gd name="adj" fmla="val 13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Printer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3D printing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E0843C"/>
                </a:solidFill>
                <a:latin typeface="Segoe UI Symbol"/>
              </a:rPr>
              <a:t>✹</a:t>
            </a:r>
            <a:r>
              <a:rPr sz="1200" b="1">
                <a:solidFill>
                  <a:srgbClr val="2B2F36"/>
                </a:solidFill>
                <a:latin typeface="Arial"/>
              </a:rPr>
              <a:t> ×3</a:t>
            </a:r>
          </a:p>
        </p:txBody>
      </p:sp>
      <p:sp>
        <p:nvSpPr>
          <p:cNvPr id="11" name="UR5e-3"/>
          <p:cNvSpPr/>
          <p:nvPr/>
        </p:nvSpPr>
        <p:spPr>
          <a:xfrm>
            <a:off x="8660739" y="1627632"/>
            <a:ext cx="1463040" cy="969264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UR5e-3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assembly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2B2F36"/>
                </a:solidFill>
                <a:latin typeface="Segoe UI Symbol"/>
              </a:rPr>
              <a:t>▣</a:t>
            </a:r>
            <a:r>
              <a:rPr sz="1200" b="1">
                <a:solidFill>
                  <a:srgbClr val="2B2F36"/>
                </a:solidFill>
                <a:latin typeface="Arial"/>
              </a:rPr>
              <a:t> ×1</a:t>
            </a:r>
          </a:p>
        </p:txBody>
      </p:sp>
      <p:sp>
        <p:nvSpPr>
          <p:cNvPr id="12" name="Assembly Board"/>
          <p:cNvSpPr/>
          <p:nvPr/>
        </p:nvSpPr>
        <p:spPr>
          <a:xfrm>
            <a:off x="8491575" y="2980944"/>
            <a:ext cx="1801368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28575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Assembly Board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assembly_board-v1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3D6FB6"/>
                </a:solidFill>
                <a:latin typeface="Segoe UI Symbol"/>
              </a:rPr>
              <a:t>■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8B5CB8"/>
                </a:solidFill>
                <a:latin typeface="Segoe UI Symbol"/>
              </a:rPr>
              <a:t>●</a:t>
            </a:r>
            <a:r>
              <a:rPr sz="1200" b="1">
                <a:solidFill>
                  <a:srgbClr val="2B2F36"/>
                </a:solidFill>
                <a:latin typeface="Arial"/>
              </a:rPr>
              <a:t> ×4</a:t>
            </a:r>
            <a:r>
              <a:rPr sz="1200" b="0">
                <a:solidFill>
                  <a:srgbClr val="2B2F36"/>
                </a:solidFill>
                <a:latin typeface="Arial"/>
              </a:rPr>
              <a:t>   </a:t>
            </a:r>
            <a:r>
              <a:rPr sz="1400" b="0">
                <a:solidFill>
                  <a:srgbClr val="E0843C"/>
                </a:solidFill>
                <a:latin typeface="Segoe UI Symbol"/>
              </a:rPr>
              <a:t>✹</a:t>
            </a:r>
            <a:r>
              <a:rPr sz="1200" b="1">
                <a:solidFill>
                  <a:srgbClr val="2B2F36"/>
                </a:solidFill>
                <a:latin typeface="Arial"/>
              </a:rPr>
              <a:t> ×3</a:t>
            </a:r>
          </a:p>
        </p:txBody>
      </p:sp>
      <p:sp>
        <p:nvSpPr>
          <p:cNvPr id="13" name="UR5e-4"/>
          <p:cNvSpPr/>
          <p:nvPr/>
        </p:nvSpPr>
        <p:spPr>
          <a:xfrm>
            <a:off x="8660739" y="4334255"/>
            <a:ext cx="1463040" cy="969264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UR5e-4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gear assembly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E0843C"/>
                </a:solidFill>
                <a:latin typeface="Segoe UI Symbol"/>
              </a:rPr>
              <a:t>✹</a:t>
            </a:r>
            <a:r>
              <a:rPr sz="1200" b="1">
                <a:solidFill>
                  <a:srgbClr val="2B2F36"/>
                </a:solidFill>
                <a:latin typeface="Arial"/>
              </a:rPr>
              <a:t> ×3</a:t>
            </a:r>
          </a:p>
        </p:txBody>
      </p:sp>
      <p:sp>
        <p:nvSpPr>
          <p:cNvPr id="14" name="Exit"/>
          <p:cNvSpPr/>
          <p:nvPr/>
        </p:nvSpPr>
        <p:spPr>
          <a:xfrm>
            <a:off x="10658703" y="1627632"/>
            <a:ext cx="1289304" cy="969264"/>
          </a:xfrm>
          <a:prstGeom prst="roundRect">
            <a:avLst>
              <a:gd name="adj" fmla="val 13000"/>
            </a:avLst>
          </a:prstGeom>
          <a:solidFill>
            <a:srgbClr val="DCE8F5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Exit</a:t>
            </a:r>
          </a:p>
          <a:p>
            <a:pPr algn="ctr"/>
            <a:r>
              <a:rPr sz="1200" b="0">
                <a:solidFill>
                  <a:srgbClr val="5D6673"/>
                </a:solidFill>
                <a:latin typeface="Arial"/>
              </a:rPr>
              <a:t>finished product</a:t>
            </a:r>
          </a:p>
          <a:p>
            <a:pPr algn="ctr">
              <a:spcBef>
                <a:spcPts val="300"/>
              </a:spcBef>
            </a:pPr>
            <a:r>
              <a:rPr sz="1400" b="0">
                <a:solidFill>
                  <a:srgbClr val="2B2F36"/>
                </a:solidFill>
                <a:latin typeface="Segoe UI Symbol"/>
              </a:rPr>
              <a:t>▣</a:t>
            </a:r>
            <a:r>
              <a:rPr sz="1200" b="1">
                <a:solidFill>
                  <a:srgbClr val="2B2F36"/>
                </a:solidFill>
                <a:latin typeface="Arial"/>
              </a:rPr>
              <a:t> ×1</a:t>
            </a:r>
          </a:p>
        </p:txBody>
      </p:sp>
      <p:cxnSp>
        <p:nvCxnSpPr>
          <p:cNvPr id="15" name="Flow Storage to KUKA KMR"/>
          <p:cNvCxnSpPr>
            <a:stCxn id="2" idx="2"/>
            <a:endCxn id="3" idx="0"/>
          </p:cNvCxnSpPr>
          <p:nvPr/>
        </p:nvCxnSpPr>
        <p:spPr>
          <a:xfrm>
            <a:off x="892911" y="1243583"/>
            <a:ext cx="0" cy="384049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 KUKA KMR to M1"/>
          <p:cNvCxnSpPr>
            <a:stCxn id="3" idx="3"/>
            <a:endCxn id="4" idx="1"/>
          </p:cNvCxnSpPr>
          <p:nvPr/>
        </p:nvCxnSpPr>
        <p:spPr>
          <a:xfrm flipV="1">
            <a:off x="1542135" y="758951"/>
            <a:ext cx="365760" cy="1353313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 KUKA KMR to M2"/>
          <p:cNvCxnSpPr>
            <a:stCxn id="3" idx="3"/>
            <a:endCxn id="5" idx="1"/>
          </p:cNvCxnSpPr>
          <p:nvPr/>
        </p:nvCxnSpPr>
        <p:spPr>
          <a:xfrm>
            <a:off x="1542135" y="2112264"/>
            <a:ext cx="365760" cy="1353312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 M1 to UR5e-1"/>
          <p:cNvCxnSpPr>
            <a:stCxn id="4" idx="3"/>
            <a:endCxn id="6" idx="1"/>
          </p:cNvCxnSpPr>
          <p:nvPr/>
        </p:nvCxnSpPr>
        <p:spPr>
          <a:xfrm>
            <a:off x="3279495" y="758951"/>
            <a:ext cx="365760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 M2 to UR5e-2"/>
          <p:cNvCxnSpPr>
            <a:stCxn id="5" idx="3"/>
            <a:endCxn id="7" idx="1"/>
          </p:cNvCxnSpPr>
          <p:nvPr/>
        </p:nvCxnSpPr>
        <p:spPr>
          <a:xfrm flipV="1">
            <a:off x="3279495" y="3465576"/>
            <a:ext cx="365760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 UR5e-1 to Conveyor"/>
          <p:cNvCxnSpPr>
            <a:stCxn id="6" idx="3"/>
            <a:endCxn id="8" idx="1"/>
          </p:cNvCxnSpPr>
          <p:nvPr/>
        </p:nvCxnSpPr>
        <p:spPr>
          <a:xfrm>
            <a:off x="5108295" y="758951"/>
            <a:ext cx="365760" cy="1353313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 UR5e-2 to Conveyor"/>
          <p:cNvCxnSpPr>
            <a:stCxn id="7" idx="3"/>
            <a:endCxn id="8" idx="1"/>
          </p:cNvCxnSpPr>
          <p:nvPr/>
        </p:nvCxnSpPr>
        <p:spPr>
          <a:xfrm flipV="1">
            <a:off x="5108295" y="2112264"/>
            <a:ext cx="365760" cy="1353312"/>
          </a:xfrm>
          <a:prstGeom prst="bentConnector3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 Conveyor to Buffer"/>
          <p:cNvCxnSpPr>
            <a:stCxn id="8" idx="3"/>
            <a:endCxn id="9" idx="1"/>
          </p:cNvCxnSpPr>
          <p:nvPr/>
        </p:nvCxnSpPr>
        <p:spPr>
          <a:xfrm flipV="1">
            <a:off x="6617055" y="2112264"/>
            <a:ext cx="365760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 Buffer to UR5e-3"/>
          <p:cNvCxnSpPr>
            <a:stCxn id="9" idx="3"/>
            <a:endCxn id="11" idx="1"/>
          </p:cNvCxnSpPr>
          <p:nvPr/>
        </p:nvCxnSpPr>
        <p:spPr>
          <a:xfrm flipV="1">
            <a:off x="8125815" y="2112264"/>
            <a:ext cx="534924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 UR5e-3 to Assembly Board"/>
          <p:cNvCxnSpPr>
            <a:stCxn id="11" idx="2"/>
            <a:endCxn id="12" idx="0"/>
          </p:cNvCxnSpPr>
          <p:nvPr/>
        </p:nvCxnSpPr>
        <p:spPr>
          <a:xfrm flipH="1">
            <a:off x="9392259" y="2596896"/>
            <a:ext cx="0" cy="384048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 Printer to UR5e-4"/>
          <p:cNvCxnSpPr>
            <a:stCxn id="10" idx="3"/>
            <a:endCxn id="13" idx="1"/>
          </p:cNvCxnSpPr>
          <p:nvPr/>
        </p:nvCxnSpPr>
        <p:spPr>
          <a:xfrm flipV="1">
            <a:off x="8125815" y="4818887"/>
            <a:ext cx="534924" cy="0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 UR5e-4 to Assembly Board"/>
          <p:cNvCxnSpPr>
            <a:stCxn id="13" idx="0"/>
            <a:endCxn id="12" idx="2"/>
          </p:cNvCxnSpPr>
          <p:nvPr/>
        </p:nvCxnSpPr>
        <p:spPr>
          <a:xfrm flipH="1" flipV="1">
            <a:off x="9392259" y="3950208"/>
            <a:ext cx="0" cy="384047"/>
          </a:xfrm>
          <a:prstGeom prst="line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 Assembly Board to Exit"/>
          <p:cNvCxnSpPr>
            <a:stCxn id="12" idx="3"/>
            <a:endCxn id="14" idx="2"/>
          </p:cNvCxnSpPr>
          <p:nvPr/>
        </p:nvCxnSpPr>
        <p:spPr>
          <a:xfrm flipV="1">
            <a:off x="10292943" y="2596896"/>
            <a:ext cx="1010412" cy="868680"/>
          </a:xfrm>
          <a:prstGeom prst="bentConnector2">
            <a:avLst/>
          </a:prstGeom>
          <a:ln w="2540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Label Exit transfer"/>
          <p:cNvSpPr txBox="1"/>
          <p:nvPr/>
        </p:nvSpPr>
        <p:spPr>
          <a:xfrm>
            <a:off x="10315803" y="2924556"/>
            <a:ext cx="914400" cy="2133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200" b="0">
                <a:solidFill>
                  <a:srgbClr val="5D6673"/>
                </a:solidFill>
                <a:latin typeface="Arial"/>
              </a:rPr>
              <a:t>by UR5e-3</a:t>
            </a:r>
          </a:p>
        </p:txBody>
      </p:sp>
      <p:grpSp>
        <p:nvGrpSpPr>
          <p:cNvPr id="29" name="Legend"/>
          <p:cNvGrpSpPr/>
          <p:nvPr/>
        </p:nvGrpSpPr>
        <p:grpSpPr>
          <a:xfrm>
            <a:off x="243687" y="4352544"/>
            <a:ext cx="7068312" cy="920495"/>
            <a:chOff x="243687" y="4352544"/>
            <a:chExt cx="7068312" cy="920495"/>
          </a:xfrm>
        </p:grpSpPr>
        <p:sp>
          <p:nvSpPr>
            <p:cNvPr id="30" name="Legend part KET square peg"/>
            <p:cNvSpPr txBox="1"/>
            <p:nvPr/>
          </p:nvSpPr>
          <p:spPr>
            <a:xfrm>
              <a:off x="243687" y="5059680"/>
              <a:ext cx="164592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00" b="0">
                  <a:solidFill>
                    <a:srgbClr val="3D6FB6"/>
                  </a:solidFill>
                  <a:latin typeface="Segoe UI Symbol"/>
                </a:rPr>
                <a:t>■</a:t>
              </a:r>
              <a:r>
                <a:rPr sz="1200" b="0">
                  <a:solidFill>
                    <a:srgbClr val="2B2F36"/>
                  </a:solidFill>
                  <a:latin typeface="Arial"/>
                </a:rPr>
                <a:t>  KET square peg</a:t>
              </a:r>
            </a:p>
          </p:txBody>
        </p:sp>
        <p:sp>
          <p:nvSpPr>
            <p:cNvPr id="31" name="Legend part RGOCG round peg"/>
            <p:cNvSpPr txBox="1"/>
            <p:nvPr/>
          </p:nvSpPr>
          <p:spPr>
            <a:xfrm>
              <a:off x="2072487" y="5059680"/>
              <a:ext cx="164592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00" b="0">
                  <a:solidFill>
                    <a:srgbClr val="8B5CB8"/>
                  </a:solidFill>
                  <a:latin typeface="Segoe UI Symbol"/>
                </a:rPr>
                <a:t>●</a:t>
              </a:r>
              <a:r>
                <a:rPr sz="1200" b="0">
                  <a:solidFill>
                    <a:srgbClr val="2B2F36"/>
                  </a:solidFill>
                  <a:latin typeface="Arial"/>
                </a:rPr>
                <a:t>  RGOCG round peg</a:t>
              </a:r>
            </a:p>
          </p:txBody>
        </p:sp>
        <p:sp>
          <p:nvSpPr>
            <p:cNvPr id="32" name="Legend part Printed gear"/>
            <p:cNvSpPr txBox="1"/>
            <p:nvPr/>
          </p:nvSpPr>
          <p:spPr>
            <a:xfrm>
              <a:off x="3855567" y="5059680"/>
              <a:ext cx="164592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00" b="0">
                  <a:solidFill>
                    <a:srgbClr val="E0843C"/>
                  </a:solidFill>
                  <a:latin typeface="Segoe UI Symbol"/>
                </a:rPr>
                <a:t>✹</a:t>
              </a:r>
              <a:r>
                <a:rPr sz="1200" b="0">
                  <a:solidFill>
                    <a:srgbClr val="2B2F36"/>
                  </a:solidFill>
                  <a:latin typeface="Arial"/>
                </a:rPr>
                <a:t>  Printed gear</a:t>
              </a:r>
            </a:p>
          </p:txBody>
        </p:sp>
        <p:sp>
          <p:nvSpPr>
            <p:cNvPr id="33" name="Legend part Finished board"/>
            <p:cNvSpPr txBox="1"/>
            <p:nvPr/>
          </p:nvSpPr>
          <p:spPr>
            <a:xfrm>
              <a:off x="5318607" y="5059680"/>
              <a:ext cx="164592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00" b="0">
                  <a:solidFill>
                    <a:srgbClr val="2B2F36"/>
                  </a:solidFill>
                  <a:latin typeface="Segoe UI Symbol"/>
                </a:rPr>
                <a:t>▣</a:t>
              </a:r>
              <a:r>
                <a:rPr sz="1200" b="0">
                  <a:solidFill>
                    <a:srgbClr val="2B2F36"/>
                  </a:solidFill>
                  <a:latin typeface="Arial"/>
                </a:rPr>
                <a:t>  Finished board</a:t>
              </a:r>
            </a:p>
          </p:txBody>
        </p:sp>
        <p:sp>
          <p:nvSpPr>
            <p:cNvPr id="34" name="Legend Storage / buffer"/>
            <p:cNvSpPr/>
            <p:nvPr/>
          </p:nvSpPr>
          <p:spPr>
            <a:xfrm>
              <a:off x="243687" y="4352544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DCE8F5"/>
            </a:solidFill>
            <a:ln w="1905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Legend text Storage / buffer"/>
            <p:cNvSpPr txBox="1"/>
            <p:nvPr/>
          </p:nvSpPr>
          <p:spPr>
            <a:xfrm>
              <a:off x="774039" y="4364736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Storage / buffer</a:t>
              </a:r>
            </a:p>
          </p:txBody>
        </p:sp>
        <p:sp>
          <p:nvSpPr>
            <p:cNvPr id="36" name="Legend Transport"/>
            <p:cNvSpPr/>
            <p:nvPr/>
          </p:nvSpPr>
          <p:spPr>
            <a:xfrm>
              <a:off x="2072487" y="4352544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FBE3C2"/>
            </a:solidFill>
            <a:ln w="19050">
              <a:solidFill>
                <a:srgbClr val="B866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Legend text Transport"/>
            <p:cNvSpPr txBox="1"/>
            <p:nvPr/>
          </p:nvSpPr>
          <p:spPr>
            <a:xfrm>
              <a:off x="2602839" y="4364736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Transport</a:t>
              </a:r>
            </a:p>
          </p:txBody>
        </p:sp>
        <p:sp>
          <p:nvSpPr>
            <p:cNvPr id="38" name="Legend Processing"/>
            <p:cNvSpPr/>
            <p:nvPr/>
          </p:nvSpPr>
          <p:spPr>
            <a:xfrm>
              <a:off x="3855567" y="4352544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E3E6EB"/>
            </a:solidFill>
            <a:ln w="19050">
              <a:solidFill>
                <a:srgbClr val="4A4F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Legend text Processing"/>
            <p:cNvSpPr txBox="1"/>
            <p:nvPr/>
          </p:nvSpPr>
          <p:spPr>
            <a:xfrm>
              <a:off x="4385919" y="4364736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Processing</a:t>
              </a:r>
            </a:p>
          </p:txBody>
        </p:sp>
        <p:sp>
          <p:nvSpPr>
            <p:cNvPr id="40" name="Legend Robot arm"/>
            <p:cNvSpPr/>
            <p:nvPr/>
          </p:nvSpPr>
          <p:spPr>
            <a:xfrm>
              <a:off x="5318607" y="4352544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D7EEE7"/>
            </a:solidFill>
            <a:ln w="19050">
              <a:solidFill>
                <a:srgbClr val="2A8C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Legend text Robot arm"/>
            <p:cNvSpPr txBox="1"/>
            <p:nvPr/>
          </p:nvSpPr>
          <p:spPr>
            <a:xfrm>
              <a:off x="5848959" y="4364736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Robot arm</a:t>
              </a:r>
            </a:p>
          </p:txBody>
        </p:sp>
        <p:sp>
          <p:nvSpPr>
            <p:cNvPr id="42" name="Legend Product"/>
            <p:cNvSpPr/>
            <p:nvPr/>
          </p:nvSpPr>
          <p:spPr>
            <a:xfrm>
              <a:off x="243687" y="4700016"/>
              <a:ext cx="402336" cy="237744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8575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Legend text Product"/>
            <p:cNvSpPr txBox="1"/>
            <p:nvPr/>
          </p:nvSpPr>
          <p:spPr>
            <a:xfrm>
              <a:off x="774039" y="4712208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Product</a:t>
              </a:r>
            </a:p>
          </p:txBody>
        </p:sp>
        <p:cxnSp>
          <p:nvCxnSpPr>
            <p:cNvPr id="44" name="Legend part flow"/>
            <p:cNvCxnSpPr/>
            <p:nvPr/>
          </p:nvCxnSpPr>
          <p:spPr>
            <a:xfrm>
              <a:off x="2072487" y="4818888"/>
              <a:ext cx="402336" cy="0"/>
            </a:xfrm>
            <a:prstGeom prst="line">
              <a:avLst/>
            </a:prstGeom>
            <a:ln w="25400">
              <a:solidFill>
                <a:srgbClr val="1F5F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egend text Part flow"/>
            <p:cNvSpPr txBox="1"/>
            <p:nvPr/>
          </p:nvSpPr>
          <p:spPr>
            <a:xfrm>
              <a:off x="2602839" y="4712208"/>
              <a:ext cx="146304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Part flow</a:t>
              </a:r>
            </a:p>
          </p:txBody>
        </p:sp>
      </p:grpSp>
      <p:grpSp>
        <p:nvGrpSpPr>
          <p:cNvPr id="46" name="Failure markers"/>
          <p:cNvGrpSpPr/>
          <p:nvPr/>
        </p:nvGrpSpPr>
        <p:grpSpPr>
          <a:xfrm>
            <a:off x="3124047" y="173735"/>
            <a:ext cx="6643116" cy="4096512"/>
            <a:chOff x="3124047" y="173735"/>
            <a:chExt cx="6643116" cy="4096512"/>
          </a:xfrm>
        </p:grpSpPr>
        <p:sp>
          <p:nvSpPr>
            <p:cNvPr id="47" name="Failure 1 Conveyor breakdown"/>
            <p:cNvSpPr/>
            <p:nvPr/>
          </p:nvSpPr>
          <p:spPr>
            <a:xfrm>
              <a:off x="6461607" y="1527048"/>
              <a:ext cx="256032" cy="256032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48" name="Failure 2 ur5e-1 breakdown"/>
            <p:cNvSpPr/>
            <p:nvPr/>
          </p:nvSpPr>
          <p:spPr>
            <a:xfrm>
              <a:off x="4952847" y="173735"/>
              <a:ext cx="256032" cy="256032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49" name="Failure 3 Machining breakdown during part processing"/>
            <p:cNvSpPr/>
            <p:nvPr/>
          </p:nvSpPr>
          <p:spPr>
            <a:xfrm>
              <a:off x="3124047" y="173735"/>
              <a:ext cx="256032" cy="256032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3</a:t>
              </a:r>
            </a:p>
          </p:txBody>
        </p:sp>
        <p:sp>
          <p:nvSpPr>
            <p:cNvPr id="50" name="Failure 4 Part slippage"/>
            <p:cNvSpPr/>
            <p:nvPr/>
          </p:nvSpPr>
          <p:spPr>
            <a:xfrm>
              <a:off x="9511131" y="4014215"/>
              <a:ext cx="256032" cy="256032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51" name="Failure scenarios legend"/>
          <p:cNvGrpSpPr/>
          <p:nvPr/>
        </p:nvGrpSpPr>
        <p:grpSpPr>
          <a:xfrm>
            <a:off x="5474055" y="314198"/>
            <a:ext cx="7187184" cy="901953"/>
            <a:chOff x="5474055" y="314198"/>
            <a:chExt cx="7187184" cy="901953"/>
          </a:xfrm>
        </p:grpSpPr>
        <p:sp>
          <p:nvSpPr>
            <p:cNvPr id="52" name="Failure scenarios title"/>
            <p:cNvSpPr txBox="1"/>
            <p:nvPr/>
          </p:nvSpPr>
          <p:spPr>
            <a:xfrm>
              <a:off x="5474055" y="314198"/>
              <a:ext cx="2011680" cy="2311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300" b="1">
                  <a:solidFill>
                    <a:srgbClr val="2B2F36"/>
                  </a:solidFill>
                  <a:latin typeface="Arial"/>
                </a:rPr>
                <a:t>Failure scenarios</a:t>
              </a:r>
            </a:p>
          </p:txBody>
        </p:sp>
        <p:sp>
          <p:nvSpPr>
            <p:cNvPr id="53" name="Failure legend badge 1"/>
            <p:cNvSpPr/>
            <p:nvPr/>
          </p:nvSpPr>
          <p:spPr>
            <a:xfrm>
              <a:off x="5483199" y="667512"/>
              <a:ext cx="219456" cy="219456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54" name="Failure legend text 1"/>
            <p:cNvSpPr txBox="1"/>
            <p:nvPr/>
          </p:nvSpPr>
          <p:spPr>
            <a:xfrm>
              <a:off x="5803239" y="670560"/>
              <a:ext cx="320040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Conveyor breakdown</a:t>
              </a:r>
            </a:p>
          </p:txBody>
        </p:sp>
        <p:sp>
          <p:nvSpPr>
            <p:cNvPr id="55" name="Failure legend badge 2"/>
            <p:cNvSpPr/>
            <p:nvPr/>
          </p:nvSpPr>
          <p:spPr>
            <a:xfrm>
              <a:off x="9140799" y="667512"/>
              <a:ext cx="219456" cy="219456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56" name="Failure legend text 2"/>
            <p:cNvSpPr txBox="1"/>
            <p:nvPr/>
          </p:nvSpPr>
          <p:spPr>
            <a:xfrm>
              <a:off x="9460839" y="670560"/>
              <a:ext cx="320040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ur5e-1 breakdown</a:t>
              </a:r>
            </a:p>
          </p:txBody>
        </p:sp>
        <p:sp>
          <p:nvSpPr>
            <p:cNvPr id="57" name="Failure legend badge 3"/>
            <p:cNvSpPr/>
            <p:nvPr/>
          </p:nvSpPr>
          <p:spPr>
            <a:xfrm>
              <a:off x="5483199" y="996695"/>
              <a:ext cx="219456" cy="219456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3</a:t>
              </a:r>
            </a:p>
          </p:txBody>
        </p:sp>
        <p:sp>
          <p:nvSpPr>
            <p:cNvPr id="58" name="Failure legend text 3"/>
            <p:cNvSpPr txBox="1"/>
            <p:nvPr/>
          </p:nvSpPr>
          <p:spPr>
            <a:xfrm>
              <a:off x="5803239" y="999743"/>
              <a:ext cx="320040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Machining breakdown during part processing</a:t>
              </a:r>
            </a:p>
          </p:txBody>
        </p:sp>
        <p:sp>
          <p:nvSpPr>
            <p:cNvPr id="59" name="Failure legend badge 4"/>
            <p:cNvSpPr/>
            <p:nvPr/>
          </p:nvSpPr>
          <p:spPr>
            <a:xfrm>
              <a:off x="9140799" y="996695"/>
              <a:ext cx="219456" cy="219456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rial"/>
                </a:rPr>
                <a:t>4</a:t>
              </a:r>
            </a:p>
          </p:txBody>
        </p:sp>
        <p:sp>
          <p:nvSpPr>
            <p:cNvPr id="60" name="Failure legend text 4"/>
            <p:cNvSpPr txBox="1"/>
            <p:nvPr/>
          </p:nvSpPr>
          <p:spPr>
            <a:xfrm>
              <a:off x="9460839" y="999743"/>
              <a:ext cx="3200400" cy="2133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Part slippage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zebo view" descr="gazebo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708"/>
            <a:ext cx="12191695" cy="4998423"/>
          </a:xfrm>
          <a:prstGeom prst="rect">
            <a:avLst/>
          </a:prstGeom>
        </p:spPr>
      </p:pic>
      <p:sp>
        <p:nvSpPr>
          <p:cNvPr id="3" name="Label KUKA KMR"/>
          <p:cNvSpPr/>
          <p:nvPr/>
        </p:nvSpPr>
        <p:spPr>
          <a:xfrm>
            <a:off x="1097424" y="478327"/>
            <a:ext cx="2049096" cy="514417"/>
          </a:xfrm>
          <a:prstGeom prst="roundRect">
            <a:avLst>
              <a:gd name="adj" fmla="val 13000"/>
            </a:avLst>
          </a:prstGeom>
          <a:solidFill>
            <a:srgbClr val="FBE3C2"/>
          </a:solidFill>
          <a:ln w="19050">
            <a:solidFill>
              <a:srgbClr val="B86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KUKA KMR</a:t>
            </a:r>
          </a:p>
        </p:txBody>
      </p:sp>
      <p:sp>
        <p:nvSpPr>
          <p:cNvPr id="4" name="Label M1"/>
          <p:cNvSpPr/>
          <p:nvPr/>
        </p:nvSpPr>
        <p:spPr>
          <a:xfrm>
            <a:off x="3609496" y="426886"/>
            <a:ext cx="728758" cy="522991"/>
          </a:xfrm>
          <a:prstGeom prst="roundRect">
            <a:avLst>
              <a:gd name="adj" fmla="val 13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M1</a:t>
            </a:r>
          </a:p>
        </p:txBody>
      </p:sp>
      <p:sp>
        <p:nvSpPr>
          <p:cNvPr id="5" name="Label M2"/>
          <p:cNvSpPr/>
          <p:nvPr/>
        </p:nvSpPr>
        <p:spPr>
          <a:xfrm>
            <a:off x="6121568" y="426886"/>
            <a:ext cx="728758" cy="522991"/>
          </a:xfrm>
          <a:prstGeom prst="roundRect">
            <a:avLst>
              <a:gd name="adj" fmla="val 13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M2</a:t>
            </a:r>
          </a:p>
        </p:txBody>
      </p:sp>
      <p:sp>
        <p:nvSpPr>
          <p:cNvPr id="6" name="Label UR5e-1"/>
          <p:cNvSpPr/>
          <p:nvPr/>
        </p:nvSpPr>
        <p:spPr>
          <a:xfrm>
            <a:off x="4166781" y="1892976"/>
            <a:ext cx="1303191" cy="514417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UR5e-1</a:t>
            </a:r>
          </a:p>
        </p:txBody>
      </p:sp>
      <p:sp>
        <p:nvSpPr>
          <p:cNvPr id="7" name="Label UR5e-2"/>
          <p:cNvSpPr/>
          <p:nvPr/>
        </p:nvSpPr>
        <p:spPr>
          <a:xfrm>
            <a:off x="6850326" y="1627193"/>
            <a:ext cx="1294617" cy="514417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UR5e-2</a:t>
            </a:r>
          </a:p>
        </p:txBody>
      </p:sp>
      <p:sp>
        <p:nvSpPr>
          <p:cNvPr id="8" name="Label UR5e-3"/>
          <p:cNvSpPr/>
          <p:nvPr/>
        </p:nvSpPr>
        <p:spPr>
          <a:xfrm>
            <a:off x="9139484" y="1627193"/>
            <a:ext cx="1294617" cy="522991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UR5e-3</a:t>
            </a:r>
          </a:p>
        </p:txBody>
      </p:sp>
      <p:sp>
        <p:nvSpPr>
          <p:cNvPr id="9" name="Label Buffer"/>
          <p:cNvSpPr/>
          <p:nvPr/>
        </p:nvSpPr>
        <p:spPr>
          <a:xfrm>
            <a:off x="7836293" y="2184479"/>
            <a:ext cx="1208881" cy="505843"/>
          </a:xfrm>
          <a:prstGeom prst="roundRect">
            <a:avLst>
              <a:gd name="adj" fmla="val 13000"/>
            </a:avLst>
          </a:prstGeom>
          <a:solidFill>
            <a:srgbClr val="DCE8F5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Buffer</a:t>
            </a:r>
          </a:p>
        </p:txBody>
      </p:sp>
      <p:sp>
        <p:nvSpPr>
          <p:cNvPr id="10" name="Label Exit"/>
          <p:cNvSpPr/>
          <p:nvPr/>
        </p:nvSpPr>
        <p:spPr>
          <a:xfrm>
            <a:off x="10339792" y="2390246"/>
            <a:ext cx="934525" cy="522991"/>
          </a:xfrm>
          <a:prstGeom prst="roundRect">
            <a:avLst>
              <a:gd name="adj" fmla="val 13000"/>
            </a:avLst>
          </a:prstGeom>
          <a:solidFill>
            <a:srgbClr val="DCE8F5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Exit</a:t>
            </a:r>
          </a:p>
        </p:txBody>
      </p:sp>
      <p:sp>
        <p:nvSpPr>
          <p:cNvPr id="11" name="Label Storage"/>
          <p:cNvSpPr/>
          <p:nvPr/>
        </p:nvSpPr>
        <p:spPr>
          <a:xfrm>
            <a:off x="120030" y="2681749"/>
            <a:ext cx="1689004" cy="522991"/>
          </a:xfrm>
          <a:prstGeom prst="roundRect">
            <a:avLst>
              <a:gd name="adj" fmla="val 13000"/>
            </a:avLst>
          </a:prstGeom>
          <a:solidFill>
            <a:srgbClr val="DCE8F5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Storage</a:t>
            </a:r>
          </a:p>
        </p:txBody>
      </p:sp>
      <p:sp>
        <p:nvSpPr>
          <p:cNvPr id="12" name="Label Conveyor"/>
          <p:cNvSpPr/>
          <p:nvPr/>
        </p:nvSpPr>
        <p:spPr>
          <a:xfrm>
            <a:off x="4449711" y="3230461"/>
            <a:ext cx="1680430" cy="522991"/>
          </a:xfrm>
          <a:prstGeom prst="roundRect">
            <a:avLst>
              <a:gd name="adj" fmla="val 13000"/>
            </a:avLst>
          </a:prstGeom>
          <a:solidFill>
            <a:srgbClr val="FBE3C2"/>
          </a:solidFill>
          <a:ln w="19050">
            <a:solidFill>
              <a:srgbClr val="B86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Conveyor</a:t>
            </a:r>
          </a:p>
        </p:txBody>
      </p:sp>
      <p:sp>
        <p:nvSpPr>
          <p:cNvPr id="13" name="Label Assembly Board"/>
          <p:cNvSpPr/>
          <p:nvPr/>
        </p:nvSpPr>
        <p:spPr>
          <a:xfrm>
            <a:off x="7570511" y="3247608"/>
            <a:ext cx="1560399" cy="90880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28575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Assembly</a:t>
            </a:r>
          </a:p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Board</a:t>
            </a:r>
          </a:p>
        </p:txBody>
      </p:sp>
      <p:sp>
        <p:nvSpPr>
          <p:cNvPr id="14" name="Label Printer"/>
          <p:cNvSpPr/>
          <p:nvPr/>
        </p:nvSpPr>
        <p:spPr>
          <a:xfrm>
            <a:off x="10708458" y="3521964"/>
            <a:ext cx="1303191" cy="522991"/>
          </a:xfrm>
          <a:prstGeom prst="roundRect">
            <a:avLst>
              <a:gd name="adj" fmla="val 13000"/>
            </a:avLst>
          </a:prstGeom>
          <a:solidFill>
            <a:srgbClr val="E3E6EB"/>
          </a:solidFill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Printer</a:t>
            </a:r>
          </a:p>
        </p:txBody>
      </p:sp>
      <p:sp>
        <p:nvSpPr>
          <p:cNvPr id="15" name="Label UR5e-4"/>
          <p:cNvSpPr/>
          <p:nvPr/>
        </p:nvSpPr>
        <p:spPr>
          <a:xfrm>
            <a:off x="9045174" y="4190707"/>
            <a:ext cx="1294617" cy="514417"/>
          </a:xfrm>
          <a:prstGeom prst="roundRect">
            <a:avLst>
              <a:gd name="adj" fmla="val 13000"/>
            </a:avLst>
          </a:prstGeom>
          <a:solidFill>
            <a:srgbClr val="D7EEE7"/>
          </a:solidFill>
          <a:ln w="1905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600" b="1">
                <a:solidFill>
                  <a:srgbClr val="2B2F36"/>
                </a:solidFill>
                <a:latin typeface="Arial"/>
              </a:rPr>
              <a:t>UR5e-4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