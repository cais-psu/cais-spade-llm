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duration: 45 seconds.</a:t>
            </a:r>
          </a:p>
          <a:p/>
          <a:p>
            <a:r>
              <a:t>Phase 4 turns an assembly requirement into a grounded product goal and an arm assignment. PA means ProductAgent. It investigates what the user wants, which observed objects are relevant, how the product is currently configured, and what relationship should hold after assembly. The output links those claims to their evidence and records which arm passed the required position checks. I will explain the implemented flow using the saved requirement, “assemble medium gear.” In that run, PA selected xarm6. That selection is backed by modeled position planning. Primitive order, robot targets and later execution belong to subsequent stages. The central question for these ten minutes is how the system connects a short requirement to evidence that a downstream RobotAgent can use.</a:t>
            </a:r>
          </a:p>
          <a:p/>
          <a:p>
            <a:r>
              <a:t>Sources relative to cais_spade_llm/spec2primitives/:</a:t>
            </a:r>
          </a:p>
          <a:p>
            <a:r>
              <a:t>- Implemented phase boundaries: IMPLEMENTATION_PLAN.md:5</a:t>
            </a:r>
          </a:p>
          <a:p>
            <a:r>
              <a:t>- PA orchestration: agents/pa/production_grounding.py:1481</a:t>
            </a:r>
          </a:p>
          <a:p>
            <a:r>
              <a:t>- Saved completion: contexts/interaction_116f33c8cce64d33b0066891bf228572/interaction_record/context_completion_0001.json</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duration: 60 seconds.</a:t>
            </a:r>
          </a:p>
          <a:p/>
          <a:p>
            <a:r>
              <a:t>The implementation divides Phase 4 into five boundaries. Phase 4.0 supplies the PPR TBox and initializes an interaction ABox. The TBox is the supplied vocabulary and its constraints; the ABox contains facts for this interaction. PA creates instances under that vocabulary rather than discovering a new schema. Phase 4.1 makes approved document pages available and supports questions authored by PA. Phase 4.2 provides CAD and RGB-D evidence: segmentation, morphology, measurements, layout and calibrated locations. Phase 4.3 defines typed evidence, provenance and validation contracts across the investigation. Phase 4.4 combines a complete target_feature proposal, deterministic checks, pairwise assembly relationships and required arm assignment. These labels describe implementation boundaries, rather than a fixed sequence of model tool calls. Phase 5 begins from the completed grounding and captures context from the exact selected RA before composing primitive_steps.</a:t>
            </a:r>
          </a:p>
          <a:p/>
          <a:p>
            <a:r>
              <a:t>Sources relative to cais_spade_llm/spec2primitives/:</a:t>
            </a:r>
          </a:p>
          <a:p>
            <a:r>
              <a:t>- Implemented phase table: IMPLEMENTATION_PLAN.md:5</a:t>
            </a:r>
          </a:p>
          <a:p>
            <a:r>
              <a:t>- Interaction entry point: agents/pa/context_interaction.py:64</a:t>
            </a:r>
          </a:p>
          <a:p>
            <a:r>
              <a:t>- Selected-RA handoff: agents/ra/context_handoff.py:304</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duration: 75 seconds.</a:t>
            </a:r>
          </a:p>
          <a:p/>
          <a:p>
            <a:r>
              <a:t>The production entry point creates an evidence investigation and presents approved source handles to PA. PA chooses among four tools. retrieve obtains a document index, CAD measurements or an observation bundle. query_document asks a task-specific question about approved document pages. compare_cad_size reports candidate measurements against a selected CAD file. analyze_candidate_layout measures relationships among selected candidates in the same view. PA can use several operations before submitting one complete target_feature. The configured investigation limits are twenty-four evidence operations and six proposals. These are ceilings, not a required number of calls. Correctable unissued references or missing state locations can trigger feedback and another proposal while retaining the pinned observation. Some invalid outputs stop immediately; unchanged failures stop as no progress. Genuine requirement ambiguity can request user clarification. In the saved example PA used nine evidence operations and one proposal. The host does not prescribe that evidence order.</a:t>
            </a:r>
          </a:p>
          <a:p/>
          <a:p>
            <a:r>
              <a:t>Sources relative to cais_spade_llm/spec2primitives/:</a:t>
            </a:r>
          </a:p>
          <a:p>
            <a:r>
              <a:t>- Investigation and bounded correction: agents/pa/production_grounding.py:1481</a:t>
            </a:r>
          </a:p>
          <a:p>
            <a:r>
              <a:t>- Configured budgets: config/model_runtime.json:2</a:t>
            </a:r>
          </a:p>
          <a:p>
            <a:r>
              <a:t>- Saved tool usage: contexts/interaction_116f33c8cce64d33b0066891bf228572/interaction_record/turn_0001.json</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duration: 75 seconds.</a:t>
            </a:r>
          </a:p>
          <a:p/>
          <a:p>
            <a:r>
              <a:t>Each evidence stream supplies a different part of the grounding problem. Document retrieval creates a source index with page text, rendered images and provenance. A document VLM answers PA's question with citations and uncertainty. CAD preprocessing measures the approved mesh, with units converted for geometry calculations. The active size comparison returns measurements for every evaluated candidate; it does not select a winner. RGB-D preprocessing deprojects valid depth, and neutral segmentation yields candidate bounds and centroids. An observation VLM describes candidate morphology and uncertainty without assigning task roles. The layout tool reports same-view positions, displacements, distances and collinearity. Approved calibration later maps selected observations into the frame used for arm checks. PA combines these facts to interpret identity and task role. Document relationships alone do not establish current installation. Source and candidate presentation handles are randomized and retained for audit; simulator object identities and evaluator answers are excluded from recognition.</a:t>
            </a:r>
          </a:p>
          <a:p/>
          <a:p>
            <a:r>
              <a:t>Sources relative to cais_spade_llm/spec2primitives/:</a:t>
            </a:r>
          </a:p>
          <a:p>
            <a:r>
              <a:t>- Active evidence production: agents/pa/production_grounding.py:1709</a:t>
            </a:r>
          </a:p>
          <a:p>
            <a:r>
              <a:t>- Document tools: tools/document_evidence/README.md:3</a:t>
            </a:r>
          </a:p>
          <a:p>
            <a:r>
              <a:t>- Perception tools: tools/rgb_d_cad_grounding/README.md:3</a:t>
            </a:r>
          </a:p>
          <a:p>
            <a:r>
              <a:t>- Recognition evidence boundary: AGENTS.md:156</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duration: 60 seconds.</a:t>
            </a:r>
          </a:p>
          <a:p/>
          <a:p>
            <a:r>
              <a:t>There are two responsibilities here. PA interprets the evidence: which candidate is the required part, which observed reference has the destination role, what the current and desired states mean, and whether the requirement is covered. The host validates the proposal's structure, allowed ontology terms, exact references, typed values and evidence hashes. It also requires coordinate-bearing state values in both states for the planning consumer. A rejected target proposal never contributes its proposed assertions. Supported correction preserves the observation and returns generic feedback, without giving PA the task answer. Source uncertainty is derived from typed evidence and retained with accepted claims. The current production path has no second independent semantic reviewer. Consequently, a deterministic pass establishes the checked contracts and evidence lineage. Semantic correctness and model performance still require separate evaluation. A later arm-assignment failure can leave the grounded product visible while preventing completion.</a:t>
            </a:r>
          </a:p>
          <a:p/>
          <a:p>
            <a:r>
              <a:t>Sources relative to cais_spade_llm/spec2primitives/:</a:t>
            </a:r>
          </a:p>
          <a:p>
            <a:r>
              <a:t>- Proposal validation: agents/pa/ontology_grounding.py:305</a:t>
            </a:r>
          </a:p>
          <a:p>
            <a:r>
              <a:t>- Evidence-preserving commit: agents/pa/ontology_grounding.py:433</a:t>
            </a:r>
          </a:p>
          <a:p>
            <a:r>
              <a:t>- Correction and incomplete outcomes: agents/pa/production_grounding.py:1570</a:t>
            </a:r>
          </a:p>
          <a:p>
            <a:r>
              <a:t>- Current reviewer boundary: IMPLEMENTATION_PLAN.md:43</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duration: 75 seconds.</a:t>
            </a:r>
          </a:p>
          <a:p/>
          <a:p>
            <a:r>
              <a:t>This example comes from a saved interaction, rather than a new experiment conducted for this presentation. On the left is the saved candidate crop that PA bound as the medium gear. The center image is the observed assembly workspace. PA's saved current-state statement says the medium gear is separate from its intended middle gear shaft on the gear plate. The desired state describes the required mounted relationship. Its coordinate-bearing value is named “observed middle gear shaft destination reference.” The saved statement explicitly distinguishes that observed shaft reference from a measured final gear pose. PA retrieved document, observation and CAD evidence; compared candidate sizes; asked which shaft should receive the medium gear; and requested same-view layout evidence. That trace contains nine evidence operations and one target proposal. These images show the observations associated with the saved interpretation. They do not show a completed assembly. The trace is useful for explaining behavior, while an independent evaluator would still need to assess whether the interpretation is correct.</a:t>
            </a:r>
          </a:p>
          <a:p/>
          <a:p>
            <a:r>
              <a:t>Sources relative to cais_spade_llm/spec2primitives/:</a:t>
            </a:r>
          </a:p>
          <a:p>
            <a:r>
              <a:t>- Saved target_feature: contexts/interaction_116f33c8cce64d33b0066891bf228572/products/grounding/ontology_grounding/proposal_0001.json</a:t>
            </a:r>
          </a:p>
          <a:p>
            <a:r>
              <a:t>- Saved investigation counts: contexts/interaction_116f33c8cce64d33b0066891bf228572/interaction_record/turn_0001.json</a:t>
            </a:r>
          </a:p>
          <a:p>
            <a:r>
              <a:t>- PA document question: contexts/interaction_116f33c8cce64d33b0066891bf228572/interaction_record/tool_call_0008.json</a:t>
            </a:r>
          </a:p>
          <a:p>
            <a:r>
              <a:t>- PA layout request: contexts/interaction_116f33c8cce64d33b0066891bf228572/interaction_record/tool_call_0009.json</a:t>
            </a:r>
          </a:p>
          <a:p>
            <a:r>
              <a:t>- Saved gear crop: contexts/interaction_116f33c8cce64d33b0066891bf228572/products/grounding/rgb_d_cad_grounding/observation_review_0001/view_0003_candidate_0003_0002.png</a:t>
            </a:r>
          </a:p>
          <a:p>
            <a:r>
              <a:t>- Saved workspace RGB: contexts/interaction_116f33c8cce64d33b0066891bf228572/products/observations/observation_0002/cam_assembly_rgb.png</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duration: 60 seconds.</a:t>
            </a:r>
          </a:p>
          <a:p/>
          <a:p>
            <a:r>
              <a:t>The ontology preserves a pairwise representation. In this saved proposal, the owning Assembly is named “gear plate assembly.” It has an AssemblyFeatureAssociation relating exactly two AssemblyFeature endpoints: “medium gear central bore” and “middle gear shaft mounting surface.” The association's state_names contains desired_state, which says this is the intended relationship. Each endpoint has its own observation binding. In this saved run the gear endpoint binds to a current_state value, and the shaft endpoint binds to the desired_state destination reference. Relationship membership and endpoint bindings are separate concepts; the general contract also permits both endpoint observations to come from current_state. Multiple relationships create separate pairwise association individuals. The host preserves exact names and reuses owners only by exact identity. These assertions describe the product and the required relationship. They do not prescribe approach, grasp, lift or insertion order; RA determines primitive order later.</a:t>
            </a:r>
          </a:p>
          <a:p/>
          <a:p>
            <a:r>
              <a:t>Sources relative to cais_spade_llm/spec2primitives/:</a:t>
            </a:r>
          </a:p>
          <a:p>
            <a:r>
              <a:t>- Fixed terms and state membership: ASSEMBLY_ONTOLOGY.md:5</a:t>
            </a:r>
          </a:p>
          <a:p>
            <a:r>
              <a:t>- Saved pairwise association: contexts/interaction_116f33c8cce64d33b0066891bf228572/products/grounding/ontology_grounding/proposal_0001.json</a:t>
            </a:r>
          </a:p>
          <a:p>
            <a:r>
              <a:t>- Pairwise contract regression: tests/test_pa_completion.py:1179</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duration: 90 seconds.</a:t>
            </a:r>
          </a:p>
          <a:p/>
          <a:p>
            <a:r>
              <a:t>Once the target is committed, allocation gathers every grounded coordinate-bearing value in current_state and desired_state. PA must check every configured capable arm against those same locations. This saved example has two current references and one desired reference; the desired shaft is also a current reference, so the sets contain a repeated physical location. The owned MoveIt adapter calls GetMotionPlan using the configured planning group and end-effector link, live robot state and the available collision scene. The position tolerance is five millimeters and tool orientation is unconstrained. No RobotAgent is activated and no motion is executed during these checks. Both xarm6 and ur5e returned accepted checks. Their recorded mean base-to-current-location distances were 0.549 and 0.627 meters, respectively. PA selected xarm6. Distance is advisory straight-line evidence, not path length or execution time. A farther accepted arm needs supporting task evidence; equal or unavailable distances supply no preference. Rejected or unavailable planning cannot be overridden by proximity. Omitted arm checks get one correction attempt. A planning failure means no plan was validated by that search, rather than a proof of mathematical unreachability.</a:t>
            </a:r>
          </a:p>
          <a:p/>
          <a:p>
            <a:r>
              <a:t>Sources relative to cais_spade_llm/spec2primitives/:</a:t>
            </a:r>
          </a:p>
          <a:p>
            <a:r>
              <a:t>- Allocation orchestration: agents/pa/production_grounding.py:1790</a:t>
            </a:r>
          </a:p>
          <a:p>
            <a:r>
              <a:t>- PA selection policy: agents/pa/production_grounding.py:2394</a:t>
            </a:r>
          </a:p>
          <a:p>
            <a:r>
              <a:t>- MoveIt request: adapters/moveit_plan_only.py:146</a:t>
            </a:r>
          </a:p>
          <a:p>
            <a:r>
              <a:t>- Proximity calculation: agents/pa/resource_proximity.py:75</a:t>
            </a:r>
          </a:p>
          <a:p>
            <a:r>
              <a:t>- xarm6 check and distance: contexts/interaction_116f33c8cce64d33b0066891bf228572/interaction_record/allocation_tool_call_0001.json</a:t>
            </a:r>
          </a:p>
          <a:p>
            <a:r>
              <a:t>- ur5e check and distance: contexts/interaction_116f33c8cce64d33b0066891bf228572/interaction_record/allocation_tool_call_0002.json</a:t>
            </a:r>
          </a:p>
          <a:p>
            <a:r>
              <a:t>- Saved arm selection: contexts/interaction_116f33c8cce64d33b0066891bf228572/products/grounding/resource_selection/selection_0001/resource_selection_record.json</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duration: 60 seconds.</a:t>
            </a:r>
          </a:p>
          <a:p/>
          <a:p>
            <a:r>
              <a:t>A successful Phase 4 result packages the accepted target proposal, source and typed evidence, selected arm, all-arm check lineage, assignment delta and final product context. The completion writer pins references and hashes so recovery can check that the evidence chain still matches. An incomplete assignment cannot authorize the next stage. In the saved completion, validation_scope is moveit_state_location_reachability, motion_validation_performed is true, and motion_executed is false. The next explicit boundary activates or reuses only the exact selected RA and captures its context. RA then authors primitive_steps and obtains the targets needed by those operations within Phase 5's bounded process. The defensible claim for Phase 4 is an evidence-linked product context with an arm assignment supported by modeled position planning. Grasping, attached-part motion, insertion, force and manufacturing tolerances are outside those position checks. Execution and independent outcome observation are needed before claiming assembly success.</a:t>
            </a:r>
          </a:p>
          <a:p/>
          <a:p>
            <a:r>
              <a:t>Sources relative to cais_spade_llm/spec2primitives/:</a:t>
            </a:r>
          </a:p>
          <a:p>
            <a:r>
              <a:t>- Completion writer: agents/pa/grounding_contracts.py:1705</a:t>
            </a:r>
          </a:p>
          <a:p>
            <a:r>
              <a:t>- Completion recovery: agents/pa/grounding_contracts.py:2076</a:t>
            </a:r>
          </a:p>
          <a:p>
            <a:r>
              <a:t>- Saved completion fields: contexts/interaction_116f33c8cce64d33b0066891bf228572/interaction_record/context_completion_0001.json</a:t>
            </a:r>
          </a:p>
          <a:p>
            <a:r>
              <a:t>- Next boundary: selected RA: agents/ra/context_handoff.py:304</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PHASE 4  /  PURPOSE</a:t>
            </a:r>
          </a:p>
        </p:txBody>
      </p:sp>
      <p:sp>
        <p:nvSpPr>
          <p:cNvPr id="3" name="TextBox 2"/>
          <p:cNvSpPr txBox="1"/>
          <p:nvPr/>
        </p:nvSpPr>
        <p:spPr>
          <a:xfrm>
            <a:off x="548640" y="832104"/>
            <a:ext cx="11091672" cy="914400"/>
          </a:xfrm>
          <a:prstGeom prst="rect">
            <a:avLst/>
          </a:prstGeom>
          <a:noFill/>
        </p:spPr>
        <p:txBody>
          <a:bodyPr wrap="none" lIns="0" rIns="0" tIns="0" bIns="0">
            <a:spAutoFit/>
          </a:bodyPr>
          <a:lstStyle/>
          <a:p>
            <a:pPr algn="l">
              <a:lnSpc>
                <a:spcPts val="3840"/>
              </a:lnSpc>
              <a:spcBef>
                <a:spcPts val="0"/>
              </a:spcBef>
              <a:spcAft>
                <a:spcPts val="0"/>
              </a:spcAft>
            </a:pPr>
            <a:r>
              <a:rPr sz="3000" b="1">
                <a:solidFill>
                  <a:srgbClr val="182C3A"/>
                </a:solidFill>
                <a:latin typeface="Arial"/>
              </a:rPr>
              <a:t>Phase 4: ground the product,</a:t>
            </a:r>
          </a:p>
          <a:p>
            <a:pPr algn="l">
              <a:lnSpc>
                <a:spcPts val="3840"/>
              </a:lnSpc>
              <a:spcBef>
                <a:spcPts val="0"/>
              </a:spcBef>
              <a:spcAft>
                <a:spcPts val="0"/>
              </a:spcAft>
            </a:pPr>
            <a:r>
              <a:rPr sz="3000" b="1">
                <a:solidFill>
                  <a:srgbClr val="182C3A"/>
                </a:solidFill>
                <a:latin typeface="Arial"/>
              </a:rPr>
              <a:t>then assign an arm</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8700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Current code + saved trace • 09 Sep 2026 • Sources in speaker notes</a:t>
            </a:r>
          </a:p>
        </p:txBody>
      </p:sp>
      <p:sp>
        <p:nvSpPr>
          <p:cNvPr id="6" name="TextBox 5"/>
          <p:cNvSpPr txBox="1"/>
          <p:nvPr/>
        </p:nvSpPr>
        <p:spPr>
          <a:xfrm>
            <a:off x="11009376" y="6483096"/>
            <a:ext cx="630936"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01 / 09</a:t>
            </a:r>
          </a:p>
        </p:txBody>
      </p:sp>
      <p:sp>
        <p:nvSpPr>
          <p:cNvPr id="7" name="TextBox 6"/>
          <p:cNvSpPr txBox="1"/>
          <p:nvPr/>
        </p:nvSpPr>
        <p:spPr>
          <a:xfrm>
            <a:off x="576072" y="2039112"/>
            <a:ext cx="10698480" cy="502920"/>
          </a:xfrm>
          <a:prstGeom prst="rect">
            <a:avLst/>
          </a:prstGeom>
          <a:noFill/>
        </p:spPr>
        <p:txBody>
          <a:bodyPr wrap="none" lIns="0" rIns="0" tIns="0" bIns="0">
            <a:spAutoFit/>
          </a:bodyPr>
          <a:lstStyle/>
          <a:p>
            <a:pPr algn="l">
              <a:lnSpc>
                <a:spcPts val="2816"/>
              </a:lnSpc>
              <a:spcBef>
                <a:spcPts val="0"/>
              </a:spcBef>
              <a:spcAft>
                <a:spcPts val="0"/>
              </a:spcAft>
            </a:pPr>
            <a:r>
              <a:rPr sz="2200" b="0">
                <a:solidFill>
                  <a:srgbClr val="52616A"/>
                </a:solidFill>
                <a:latin typeface="Arial"/>
              </a:rPr>
              <a:t>Connect an assembly requirement to observed facts and a supported assignment.</a:t>
            </a:r>
          </a:p>
        </p:txBody>
      </p:sp>
      <p:sp>
        <p:nvSpPr>
          <p:cNvPr id="8" name="Rectangle 7"/>
          <p:cNvSpPr/>
          <p:nvPr/>
        </p:nvSpPr>
        <p:spPr>
          <a:xfrm>
            <a:off x="548640" y="2907792"/>
            <a:ext cx="3529584" cy="2103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118104"/>
            <a:ext cx="3163824" cy="246888"/>
          </a:xfrm>
          <a:prstGeom prst="rect">
            <a:avLst/>
          </a:prstGeom>
          <a:noFill/>
        </p:spPr>
        <p:txBody>
          <a:bodyPr wrap="none" lIns="0" rIns="0" tIns="0" bIns="0">
            <a:spAutoFit/>
          </a:bodyPr>
          <a:lstStyle/>
          <a:p>
            <a:pPr algn="l">
              <a:lnSpc>
                <a:spcPts val="1536"/>
              </a:lnSpc>
              <a:spcBef>
                <a:spcPts val="0"/>
              </a:spcBef>
              <a:spcAft>
                <a:spcPts val="0"/>
              </a:spcAft>
            </a:pPr>
            <a:r>
              <a:rPr sz="1200" b="1">
                <a:solidFill>
                  <a:srgbClr val="087F82"/>
                </a:solidFill>
                <a:latin typeface="Arial"/>
              </a:rPr>
              <a:t>INPUT</a:t>
            </a:r>
          </a:p>
        </p:txBody>
      </p:sp>
      <p:sp>
        <p:nvSpPr>
          <p:cNvPr id="10" name="TextBox 9"/>
          <p:cNvSpPr txBox="1"/>
          <p:nvPr/>
        </p:nvSpPr>
        <p:spPr>
          <a:xfrm>
            <a:off x="731520" y="3602736"/>
            <a:ext cx="3163824" cy="960120"/>
          </a:xfrm>
          <a:prstGeom prst="rect">
            <a:avLst/>
          </a:prstGeom>
          <a:noFill/>
        </p:spPr>
        <p:txBody>
          <a:bodyPr wrap="none" lIns="0" rIns="0" tIns="0" bIns="0">
            <a:spAutoFit/>
          </a:bodyPr>
          <a:lstStyle/>
          <a:p>
            <a:pPr algn="l">
              <a:lnSpc>
                <a:spcPts val="2432"/>
              </a:lnSpc>
              <a:spcBef>
                <a:spcPts val="0"/>
              </a:spcBef>
              <a:spcAft>
                <a:spcPts val="0"/>
              </a:spcAft>
            </a:pPr>
            <a:r>
              <a:rPr sz="1900" b="1">
                <a:solidFill>
                  <a:srgbClr val="182C3A"/>
                </a:solidFill>
                <a:latin typeface="Arial"/>
              </a:rPr>
              <a:t>“assemble medium gear.”</a:t>
            </a:r>
          </a:p>
        </p:txBody>
      </p:sp>
      <p:sp>
        <p:nvSpPr>
          <p:cNvPr id="11" name="TextBox 10"/>
          <p:cNvSpPr txBox="1"/>
          <p:nvPr/>
        </p:nvSpPr>
        <p:spPr>
          <a:xfrm>
            <a:off x="731520" y="4617720"/>
            <a:ext cx="3163824" cy="201168"/>
          </a:xfrm>
          <a:prstGeom prst="rect">
            <a:avLst/>
          </a:prstGeom>
          <a:noFill/>
        </p:spPr>
        <p:txBody>
          <a:bodyPr wrap="none" lIns="0" rIns="0" tIns="0" bIns="0">
            <a:spAutoFit/>
          </a:bodyPr>
          <a:lstStyle/>
          <a:p>
            <a:pPr algn="l">
              <a:lnSpc>
                <a:spcPts val="1536"/>
              </a:lnSpc>
              <a:spcBef>
                <a:spcPts val="0"/>
              </a:spcBef>
              <a:spcAft>
                <a:spcPts val="0"/>
              </a:spcAft>
            </a:pPr>
            <a:r>
              <a:rPr sz="1200" b="0">
                <a:solidFill>
                  <a:srgbClr val="52616A"/>
                </a:solidFill>
                <a:latin typeface="Arial"/>
              </a:rPr>
              <a:t>Requirement + approved evidence</a:t>
            </a:r>
          </a:p>
        </p:txBody>
      </p:sp>
      <p:sp>
        <p:nvSpPr>
          <p:cNvPr id="12" name="Rectangle 11"/>
          <p:cNvSpPr/>
          <p:nvPr/>
        </p:nvSpPr>
        <p:spPr>
          <a:xfrm>
            <a:off x="4325112" y="2907792"/>
            <a:ext cx="3529584" cy="2103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3118104"/>
            <a:ext cx="3163824" cy="246888"/>
          </a:xfrm>
          <a:prstGeom prst="rect">
            <a:avLst/>
          </a:prstGeom>
          <a:noFill/>
        </p:spPr>
        <p:txBody>
          <a:bodyPr wrap="none" lIns="0" rIns="0" tIns="0" bIns="0">
            <a:spAutoFit/>
          </a:bodyPr>
          <a:lstStyle/>
          <a:p>
            <a:pPr algn="l">
              <a:lnSpc>
                <a:spcPts val="1536"/>
              </a:lnSpc>
              <a:spcBef>
                <a:spcPts val="0"/>
              </a:spcBef>
              <a:spcAft>
                <a:spcPts val="0"/>
              </a:spcAft>
            </a:pPr>
            <a:r>
              <a:rPr sz="1200" b="1">
                <a:solidFill>
                  <a:srgbClr val="087F82"/>
                </a:solidFill>
                <a:latin typeface="Arial"/>
              </a:rPr>
              <a:t>PA INVESTIGATION</a:t>
            </a:r>
          </a:p>
        </p:txBody>
      </p:sp>
      <p:sp>
        <p:nvSpPr>
          <p:cNvPr id="14" name="TextBox 13"/>
          <p:cNvSpPr txBox="1"/>
          <p:nvPr/>
        </p:nvSpPr>
        <p:spPr>
          <a:xfrm>
            <a:off x="4507992" y="3602736"/>
            <a:ext cx="3163824" cy="960120"/>
          </a:xfrm>
          <a:prstGeom prst="rect">
            <a:avLst/>
          </a:prstGeom>
          <a:noFill/>
        </p:spPr>
        <p:txBody>
          <a:bodyPr wrap="none" lIns="0" rIns="0" tIns="0" bIns="0">
            <a:spAutoFit/>
          </a:bodyPr>
          <a:lstStyle/>
          <a:p>
            <a:pPr algn="l">
              <a:lnSpc>
                <a:spcPts val="2432"/>
              </a:lnSpc>
              <a:spcBef>
                <a:spcPts val="0"/>
              </a:spcBef>
              <a:spcAft>
                <a:spcPts val="0"/>
              </a:spcAft>
            </a:pPr>
            <a:r>
              <a:rPr sz="1900" b="1">
                <a:solidFill>
                  <a:srgbClr val="182C3A"/>
                </a:solidFill>
                <a:latin typeface="Arial"/>
              </a:rPr>
              <a:t>What is here?</a:t>
            </a:r>
          </a:p>
          <a:p>
            <a:pPr algn="l">
              <a:lnSpc>
                <a:spcPts val="2432"/>
              </a:lnSpc>
              <a:spcBef>
                <a:spcPts val="0"/>
              </a:spcBef>
              <a:spcAft>
                <a:spcPts val="0"/>
              </a:spcAft>
            </a:pPr>
            <a:r>
              <a:rPr sz="1900" b="1">
                <a:solidFill>
                  <a:srgbClr val="182C3A"/>
                </a:solidFill>
                <a:latin typeface="Arial"/>
              </a:rPr>
              <a:t>What should be</a:t>
            </a:r>
          </a:p>
          <a:p>
            <a:pPr algn="l">
              <a:lnSpc>
                <a:spcPts val="2432"/>
              </a:lnSpc>
              <a:spcBef>
                <a:spcPts val="0"/>
              </a:spcBef>
              <a:spcAft>
                <a:spcPts val="0"/>
              </a:spcAft>
            </a:pPr>
            <a:r>
              <a:rPr sz="1900" b="1">
                <a:solidFill>
                  <a:srgbClr val="182C3A"/>
                </a:solidFill>
                <a:latin typeface="Arial"/>
              </a:rPr>
              <a:t>assembled?</a:t>
            </a:r>
          </a:p>
        </p:txBody>
      </p:sp>
      <p:sp>
        <p:nvSpPr>
          <p:cNvPr id="15" name="TextBox 14"/>
          <p:cNvSpPr txBox="1"/>
          <p:nvPr/>
        </p:nvSpPr>
        <p:spPr>
          <a:xfrm>
            <a:off x="4507992" y="4617720"/>
            <a:ext cx="3163824" cy="201168"/>
          </a:xfrm>
          <a:prstGeom prst="rect">
            <a:avLst/>
          </a:prstGeom>
          <a:noFill/>
        </p:spPr>
        <p:txBody>
          <a:bodyPr wrap="none" lIns="0" rIns="0" tIns="0" bIns="0">
            <a:spAutoFit/>
          </a:bodyPr>
          <a:lstStyle/>
          <a:p>
            <a:pPr algn="l">
              <a:lnSpc>
                <a:spcPts val="1536"/>
              </a:lnSpc>
              <a:spcBef>
                <a:spcPts val="0"/>
              </a:spcBef>
              <a:spcAft>
                <a:spcPts val="0"/>
              </a:spcAft>
            </a:pPr>
            <a:r>
              <a:rPr sz="1200" b="0">
                <a:solidFill>
                  <a:srgbClr val="52616A"/>
                </a:solidFill>
                <a:latin typeface="Arial"/>
              </a:rPr>
              <a:t>Current state + desired relationship</a:t>
            </a:r>
          </a:p>
        </p:txBody>
      </p:sp>
      <p:sp>
        <p:nvSpPr>
          <p:cNvPr id="16" name="Rectangle 15"/>
          <p:cNvSpPr/>
          <p:nvPr/>
        </p:nvSpPr>
        <p:spPr>
          <a:xfrm>
            <a:off x="8110727" y="2907792"/>
            <a:ext cx="3529584" cy="210312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7" y="3118104"/>
            <a:ext cx="3163824" cy="246888"/>
          </a:xfrm>
          <a:prstGeom prst="rect">
            <a:avLst/>
          </a:prstGeom>
          <a:noFill/>
        </p:spPr>
        <p:txBody>
          <a:bodyPr wrap="none" lIns="0" rIns="0" tIns="0" bIns="0">
            <a:spAutoFit/>
          </a:bodyPr>
          <a:lstStyle/>
          <a:p>
            <a:pPr algn="l">
              <a:lnSpc>
                <a:spcPts val="1536"/>
              </a:lnSpc>
              <a:spcBef>
                <a:spcPts val="0"/>
              </a:spcBef>
              <a:spcAft>
                <a:spcPts val="0"/>
              </a:spcAft>
            </a:pPr>
            <a:r>
              <a:rPr sz="1200" b="1">
                <a:solidFill>
                  <a:srgbClr val="087F82"/>
                </a:solidFill>
                <a:latin typeface="Arial"/>
              </a:rPr>
              <a:t>OUTPUT</a:t>
            </a:r>
          </a:p>
        </p:txBody>
      </p:sp>
      <p:sp>
        <p:nvSpPr>
          <p:cNvPr id="18" name="TextBox 17"/>
          <p:cNvSpPr txBox="1"/>
          <p:nvPr/>
        </p:nvSpPr>
        <p:spPr>
          <a:xfrm>
            <a:off x="8293607" y="3602736"/>
            <a:ext cx="3163824" cy="960120"/>
          </a:xfrm>
          <a:prstGeom prst="rect">
            <a:avLst/>
          </a:prstGeom>
          <a:noFill/>
        </p:spPr>
        <p:txBody>
          <a:bodyPr wrap="none" lIns="0" rIns="0" tIns="0" bIns="0">
            <a:spAutoFit/>
          </a:bodyPr>
          <a:lstStyle/>
          <a:p>
            <a:pPr algn="l">
              <a:lnSpc>
                <a:spcPts val="2432"/>
              </a:lnSpc>
              <a:spcBef>
                <a:spcPts val="0"/>
              </a:spcBef>
              <a:spcAft>
                <a:spcPts val="0"/>
              </a:spcAft>
            </a:pPr>
            <a:r>
              <a:rPr sz="1900" b="1">
                <a:solidFill>
                  <a:srgbClr val="182C3A"/>
                </a:solidFill>
                <a:latin typeface="Arial"/>
              </a:rPr>
              <a:t>Grounded product</a:t>
            </a:r>
          </a:p>
          <a:p>
            <a:pPr algn="l">
              <a:lnSpc>
                <a:spcPts val="2432"/>
              </a:lnSpc>
              <a:spcBef>
                <a:spcPts val="0"/>
              </a:spcBef>
              <a:spcAft>
                <a:spcPts val="0"/>
              </a:spcAft>
            </a:pPr>
            <a:r>
              <a:rPr sz="1900" b="1">
                <a:solidFill>
                  <a:srgbClr val="182C3A"/>
                </a:solidFill>
                <a:latin typeface="Arial"/>
              </a:rPr>
              <a:t>context + selected arm</a:t>
            </a:r>
          </a:p>
        </p:txBody>
      </p:sp>
      <p:sp>
        <p:nvSpPr>
          <p:cNvPr id="19" name="TextBox 18"/>
          <p:cNvSpPr txBox="1"/>
          <p:nvPr/>
        </p:nvSpPr>
        <p:spPr>
          <a:xfrm>
            <a:off x="8293607" y="4617720"/>
            <a:ext cx="3163824" cy="201168"/>
          </a:xfrm>
          <a:prstGeom prst="rect">
            <a:avLst/>
          </a:prstGeom>
          <a:noFill/>
        </p:spPr>
        <p:txBody>
          <a:bodyPr wrap="none" lIns="0" rIns="0" tIns="0" bIns="0">
            <a:spAutoFit/>
          </a:bodyPr>
          <a:lstStyle/>
          <a:p>
            <a:pPr algn="l">
              <a:lnSpc>
                <a:spcPts val="1536"/>
              </a:lnSpc>
              <a:spcBef>
                <a:spcPts val="0"/>
              </a:spcBef>
              <a:spcAft>
                <a:spcPts val="0"/>
              </a:spcAft>
            </a:pPr>
            <a:r>
              <a:rPr sz="1200" b="0">
                <a:solidFill>
                  <a:srgbClr val="52616A"/>
                </a:solidFill>
                <a:latin typeface="Arial"/>
              </a:rPr>
              <a:t>Evidence, ontology and position checks</a:t>
            </a:r>
          </a:p>
        </p:txBody>
      </p:sp>
      <p:cxnSp>
        <p:nvCxnSpPr>
          <p:cNvPr id="20" name="Connector 19"/>
          <p:cNvCxnSpPr/>
          <p:nvPr/>
        </p:nvCxnSpPr>
        <p:spPr>
          <a:xfrm>
            <a:off x="4096512" y="3968496"/>
            <a:ext cx="210312" cy="0"/>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872983" y="3968496"/>
            <a:ext cx="210313" cy="0"/>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85216" y="5577840"/>
            <a:ext cx="10881360" cy="457200"/>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52616A"/>
                </a:solidFill>
                <a:latin typeface="Arial"/>
              </a:rPr>
              <a:t>10-minute technical walkthrough • PA = ProductAgent • RA = RobotAgent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PHASE 4  /  IMPLEMENTATION MAP</a:t>
            </a:r>
          </a:p>
        </p:txBody>
      </p:sp>
      <p:sp>
        <p:nvSpPr>
          <p:cNvPr id="3" name="TextBox 2"/>
          <p:cNvSpPr txBox="1"/>
          <p:nvPr/>
        </p:nvSpPr>
        <p:spPr>
          <a:xfrm>
            <a:off x="548640" y="832104"/>
            <a:ext cx="11091672" cy="585216"/>
          </a:xfrm>
          <a:prstGeom prst="rect">
            <a:avLst/>
          </a:prstGeom>
          <a:noFill/>
        </p:spPr>
        <p:txBody>
          <a:bodyPr wrap="none" lIns="0" rIns="0" tIns="0" bIns="0">
            <a:spAutoFit/>
          </a:bodyPr>
          <a:lstStyle/>
          <a:p>
            <a:pPr algn="l">
              <a:lnSpc>
                <a:spcPts val="3840"/>
              </a:lnSpc>
              <a:spcBef>
                <a:spcPts val="0"/>
              </a:spcBef>
              <a:spcAft>
                <a:spcPts val="0"/>
              </a:spcAft>
            </a:pPr>
            <a:r>
              <a:rPr sz="3000" b="1">
                <a:solidFill>
                  <a:srgbClr val="182C3A"/>
                </a:solidFill>
                <a:latin typeface="Arial"/>
              </a:rPr>
              <a:t>Phase 4 builds a grounded product context</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8700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Current code + saved trace • 09 Sep 2026 • Sources in speaker notes</a:t>
            </a:r>
          </a:p>
        </p:txBody>
      </p:sp>
      <p:sp>
        <p:nvSpPr>
          <p:cNvPr id="6" name="TextBox 5"/>
          <p:cNvSpPr txBox="1"/>
          <p:nvPr/>
        </p:nvSpPr>
        <p:spPr>
          <a:xfrm>
            <a:off x="11009376" y="6483096"/>
            <a:ext cx="630936"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02 / 09</a:t>
            </a:r>
          </a:p>
        </p:txBody>
      </p:sp>
      <p:sp>
        <p:nvSpPr>
          <p:cNvPr id="7" name="Rectangle 6"/>
          <p:cNvSpPr/>
          <p:nvPr/>
        </p:nvSpPr>
        <p:spPr>
          <a:xfrm>
            <a:off x="548640" y="1975104"/>
            <a:ext cx="2121408" cy="2788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2194560"/>
            <a:ext cx="1810512" cy="566928"/>
          </a:xfrm>
          <a:prstGeom prst="rect">
            <a:avLst/>
          </a:prstGeom>
          <a:noFill/>
        </p:spPr>
        <p:txBody>
          <a:bodyPr wrap="none" lIns="0" rIns="0" tIns="0" bIns="0">
            <a:spAutoFit/>
          </a:bodyPr>
          <a:lstStyle/>
          <a:p>
            <a:pPr algn="l">
              <a:lnSpc>
                <a:spcPts val="4096"/>
              </a:lnSpc>
              <a:spcBef>
                <a:spcPts val="0"/>
              </a:spcBef>
              <a:spcAft>
                <a:spcPts val="0"/>
              </a:spcAft>
            </a:pPr>
            <a:r>
              <a:rPr sz="3200" b="1">
                <a:solidFill>
                  <a:srgbClr val="087F82"/>
                </a:solidFill>
                <a:latin typeface="Arial"/>
              </a:rPr>
              <a:t>4.0</a:t>
            </a:r>
          </a:p>
        </p:txBody>
      </p:sp>
      <p:sp>
        <p:nvSpPr>
          <p:cNvPr id="9" name="TextBox 8"/>
          <p:cNvSpPr txBox="1"/>
          <p:nvPr/>
        </p:nvSpPr>
        <p:spPr>
          <a:xfrm>
            <a:off x="704088" y="2935224"/>
            <a:ext cx="1810512" cy="594360"/>
          </a:xfrm>
          <a:prstGeom prst="rect">
            <a:avLst/>
          </a:prstGeom>
          <a:noFill/>
        </p:spPr>
        <p:txBody>
          <a:bodyPr wrap="none" lIns="0" rIns="0" tIns="0" bIns="0">
            <a:spAutoFit/>
          </a:bodyPr>
          <a:lstStyle/>
          <a:p>
            <a:pPr algn="l">
              <a:lnSpc>
                <a:spcPts val="2304"/>
              </a:lnSpc>
              <a:spcBef>
                <a:spcPts val="0"/>
              </a:spcBef>
              <a:spcAft>
                <a:spcPts val="0"/>
              </a:spcAft>
            </a:pPr>
            <a:r>
              <a:rPr sz="1800" b="1">
                <a:solidFill>
                  <a:srgbClr val="182C3A"/>
                </a:solidFill>
                <a:latin typeface="Arial"/>
              </a:rPr>
              <a:t>Ontology</a:t>
            </a:r>
          </a:p>
          <a:p>
            <a:pPr algn="l">
              <a:lnSpc>
                <a:spcPts val="2304"/>
              </a:lnSpc>
              <a:spcBef>
                <a:spcPts val="0"/>
              </a:spcBef>
              <a:spcAft>
                <a:spcPts val="0"/>
              </a:spcAft>
            </a:pPr>
            <a:r>
              <a:rPr sz="1800" b="1">
                <a:solidFill>
                  <a:srgbClr val="182C3A"/>
                </a:solidFill>
                <a:latin typeface="Arial"/>
              </a:rPr>
              <a:t>foundation</a:t>
            </a:r>
          </a:p>
        </p:txBody>
      </p:sp>
      <p:sp>
        <p:nvSpPr>
          <p:cNvPr id="10" name="TextBox 9"/>
          <p:cNvSpPr txBox="1"/>
          <p:nvPr/>
        </p:nvSpPr>
        <p:spPr>
          <a:xfrm>
            <a:off x="704088" y="3767328"/>
            <a:ext cx="1810512" cy="868680"/>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52616A"/>
                </a:solidFill>
                <a:latin typeface="Arial"/>
              </a:rPr>
              <a:t>Supplied PPR TBox</a:t>
            </a:r>
          </a:p>
          <a:p>
            <a:pPr algn="l">
              <a:lnSpc>
                <a:spcPts val="1792"/>
              </a:lnSpc>
              <a:spcBef>
                <a:spcPts val="0"/>
              </a:spcBef>
              <a:spcAft>
                <a:spcPts val="0"/>
              </a:spcAft>
            </a:pPr>
            <a:r>
              <a:rPr sz="1400" b="0">
                <a:solidFill>
                  <a:srgbClr val="52616A"/>
                </a:solidFill>
                <a:latin typeface="Arial"/>
              </a:rPr>
              <a:t>Interaction ABox</a:t>
            </a:r>
          </a:p>
          <a:p>
            <a:pPr algn="l">
              <a:lnSpc>
                <a:spcPts val="1792"/>
              </a:lnSpc>
              <a:spcBef>
                <a:spcPts val="0"/>
              </a:spcBef>
              <a:spcAft>
                <a:spcPts val="0"/>
              </a:spcAft>
            </a:pPr>
            <a:r>
              <a:rPr sz="1400" b="0">
                <a:solidFill>
                  <a:srgbClr val="52616A"/>
                </a:solidFill>
                <a:latin typeface="Arial"/>
              </a:rPr>
              <a:t>Workcell authorities</a:t>
            </a:r>
          </a:p>
        </p:txBody>
      </p:sp>
      <p:sp>
        <p:nvSpPr>
          <p:cNvPr id="11" name="Rectangle 10"/>
          <p:cNvSpPr/>
          <p:nvPr/>
        </p:nvSpPr>
        <p:spPr>
          <a:xfrm>
            <a:off x="2788920" y="1975104"/>
            <a:ext cx="2121408" cy="2788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44368" y="2194560"/>
            <a:ext cx="1810512" cy="566928"/>
          </a:xfrm>
          <a:prstGeom prst="rect">
            <a:avLst/>
          </a:prstGeom>
          <a:noFill/>
        </p:spPr>
        <p:txBody>
          <a:bodyPr wrap="none" lIns="0" rIns="0" tIns="0" bIns="0">
            <a:spAutoFit/>
          </a:bodyPr>
          <a:lstStyle/>
          <a:p>
            <a:pPr algn="l">
              <a:lnSpc>
                <a:spcPts val="4096"/>
              </a:lnSpc>
              <a:spcBef>
                <a:spcPts val="0"/>
              </a:spcBef>
              <a:spcAft>
                <a:spcPts val="0"/>
              </a:spcAft>
            </a:pPr>
            <a:r>
              <a:rPr sz="3200" b="1">
                <a:solidFill>
                  <a:srgbClr val="087F82"/>
                </a:solidFill>
                <a:latin typeface="Arial"/>
              </a:rPr>
              <a:t>4.1</a:t>
            </a:r>
          </a:p>
        </p:txBody>
      </p:sp>
      <p:sp>
        <p:nvSpPr>
          <p:cNvPr id="13" name="TextBox 12"/>
          <p:cNvSpPr txBox="1"/>
          <p:nvPr/>
        </p:nvSpPr>
        <p:spPr>
          <a:xfrm>
            <a:off x="2944368" y="2935224"/>
            <a:ext cx="1810512" cy="594360"/>
          </a:xfrm>
          <a:prstGeom prst="rect">
            <a:avLst/>
          </a:prstGeom>
          <a:noFill/>
        </p:spPr>
        <p:txBody>
          <a:bodyPr wrap="none" lIns="0" rIns="0" tIns="0" bIns="0">
            <a:spAutoFit/>
          </a:bodyPr>
          <a:lstStyle/>
          <a:p>
            <a:pPr algn="l">
              <a:lnSpc>
                <a:spcPts val="2304"/>
              </a:lnSpc>
              <a:spcBef>
                <a:spcPts val="0"/>
              </a:spcBef>
              <a:spcAft>
                <a:spcPts val="0"/>
              </a:spcAft>
            </a:pPr>
            <a:r>
              <a:rPr sz="1800" b="1">
                <a:solidFill>
                  <a:srgbClr val="182C3A"/>
                </a:solidFill>
                <a:latin typeface="Arial"/>
              </a:rPr>
              <a:t>Document</a:t>
            </a:r>
          </a:p>
          <a:p>
            <a:pPr algn="l">
              <a:lnSpc>
                <a:spcPts val="2304"/>
              </a:lnSpc>
              <a:spcBef>
                <a:spcPts val="0"/>
              </a:spcBef>
              <a:spcAft>
                <a:spcPts val="0"/>
              </a:spcAft>
            </a:pPr>
            <a:r>
              <a:rPr sz="1800" b="1">
                <a:solidFill>
                  <a:srgbClr val="182C3A"/>
                </a:solidFill>
                <a:latin typeface="Arial"/>
              </a:rPr>
              <a:t>evidence</a:t>
            </a:r>
          </a:p>
        </p:txBody>
      </p:sp>
      <p:sp>
        <p:nvSpPr>
          <p:cNvPr id="14" name="TextBox 13"/>
          <p:cNvSpPr txBox="1"/>
          <p:nvPr/>
        </p:nvSpPr>
        <p:spPr>
          <a:xfrm>
            <a:off x="2944368" y="3767328"/>
            <a:ext cx="1810512" cy="868680"/>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52616A"/>
                </a:solidFill>
                <a:latin typeface="Arial"/>
              </a:rPr>
              <a:t>Approved page index</a:t>
            </a:r>
          </a:p>
          <a:p>
            <a:pPr algn="l">
              <a:lnSpc>
                <a:spcPts val="1792"/>
              </a:lnSpc>
              <a:spcBef>
                <a:spcPts val="0"/>
              </a:spcBef>
              <a:spcAft>
                <a:spcPts val="0"/>
              </a:spcAft>
            </a:pPr>
            <a:r>
              <a:rPr sz="1400" b="0">
                <a:solidFill>
                  <a:srgbClr val="52616A"/>
                </a:solidFill>
                <a:latin typeface="Arial"/>
              </a:rPr>
              <a:t>PA-authored queries</a:t>
            </a:r>
          </a:p>
          <a:p>
            <a:pPr algn="l">
              <a:lnSpc>
                <a:spcPts val="1792"/>
              </a:lnSpc>
              <a:spcBef>
                <a:spcPts val="0"/>
              </a:spcBef>
              <a:spcAft>
                <a:spcPts val="0"/>
              </a:spcAft>
            </a:pPr>
            <a:r>
              <a:rPr sz="1400" b="0">
                <a:solidFill>
                  <a:srgbClr val="52616A"/>
                </a:solidFill>
                <a:latin typeface="Arial"/>
              </a:rPr>
              <a:t>Cited interpretations</a:t>
            </a:r>
          </a:p>
        </p:txBody>
      </p:sp>
      <p:sp>
        <p:nvSpPr>
          <p:cNvPr id="15" name="Rectangle 14"/>
          <p:cNvSpPr/>
          <p:nvPr/>
        </p:nvSpPr>
        <p:spPr>
          <a:xfrm>
            <a:off x="5029200" y="1975104"/>
            <a:ext cx="2121408" cy="2788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2194560"/>
            <a:ext cx="1810512" cy="566928"/>
          </a:xfrm>
          <a:prstGeom prst="rect">
            <a:avLst/>
          </a:prstGeom>
          <a:noFill/>
        </p:spPr>
        <p:txBody>
          <a:bodyPr wrap="none" lIns="0" rIns="0" tIns="0" bIns="0">
            <a:spAutoFit/>
          </a:bodyPr>
          <a:lstStyle/>
          <a:p>
            <a:pPr algn="l">
              <a:lnSpc>
                <a:spcPts val="4096"/>
              </a:lnSpc>
              <a:spcBef>
                <a:spcPts val="0"/>
              </a:spcBef>
              <a:spcAft>
                <a:spcPts val="0"/>
              </a:spcAft>
            </a:pPr>
            <a:r>
              <a:rPr sz="3200" b="1">
                <a:solidFill>
                  <a:srgbClr val="087F82"/>
                </a:solidFill>
                <a:latin typeface="Arial"/>
              </a:rPr>
              <a:t>4.2</a:t>
            </a:r>
          </a:p>
        </p:txBody>
      </p:sp>
      <p:sp>
        <p:nvSpPr>
          <p:cNvPr id="17" name="TextBox 16"/>
          <p:cNvSpPr txBox="1"/>
          <p:nvPr/>
        </p:nvSpPr>
        <p:spPr>
          <a:xfrm>
            <a:off x="5184648" y="2935224"/>
            <a:ext cx="1810512" cy="594360"/>
          </a:xfrm>
          <a:prstGeom prst="rect">
            <a:avLst/>
          </a:prstGeom>
          <a:noFill/>
        </p:spPr>
        <p:txBody>
          <a:bodyPr wrap="none" lIns="0" rIns="0" tIns="0" bIns="0">
            <a:spAutoFit/>
          </a:bodyPr>
          <a:lstStyle/>
          <a:p>
            <a:pPr algn="l">
              <a:lnSpc>
                <a:spcPts val="2304"/>
              </a:lnSpc>
              <a:spcBef>
                <a:spcPts val="0"/>
              </a:spcBef>
              <a:spcAft>
                <a:spcPts val="0"/>
              </a:spcAft>
            </a:pPr>
            <a:r>
              <a:rPr sz="1800" b="1">
                <a:solidFill>
                  <a:srgbClr val="182C3A"/>
                </a:solidFill>
                <a:latin typeface="Arial"/>
              </a:rPr>
              <a:t>CAD + RGB-D</a:t>
            </a:r>
          </a:p>
        </p:txBody>
      </p:sp>
      <p:sp>
        <p:nvSpPr>
          <p:cNvPr id="18" name="TextBox 17"/>
          <p:cNvSpPr txBox="1"/>
          <p:nvPr/>
        </p:nvSpPr>
        <p:spPr>
          <a:xfrm>
            <a:off x="5184648" y="3767328"/>
            <a:ext cx="1810512" cy="868680"/>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52616A"/>
                </a:solidFill>
                <a:latin typeface="Arial"/>
              </a:rPr>
              <a:t>Observed candidates</a:t>
            </a:r>
          </a:p>
          <a:p>
            <a:pPr algn="l">
              <a:lnSpc>
                <a:spcPts val="1792"/>
              </a:lnSpc>
              <a:spcBef>
                <a:spcPts val="0"/>
              </a:spcBef>
              <a:spcAft>
                <a:spcPts val="0"/>
              </a:spcAft>
            </a:pPr>
            <a:r>
              <a:rPr sz="1400" b="0">
                <a:solidFill>
                  <a:srgbClr val="52616A"/>
                </a:solidFill>
                <a:latin typeface="Arial"/>
              </a:rPr>
              <a:t>Morphology + size</a:t>
            </a:r>
          </a:p>
          <a:p>
            <a:pPr algn="l">
              <a:lnSpc>
                <a:spcPts val="1792"/>
              </a:lnSpc>
              <a:spcBef>
                <a:spcPts val="0"/>
              </a:spcBef>
              <a:spcAft>
                <a:spcPts val="0"/>
              </a:spcAft>
            </a:pPr>
            <a:r>
              <a:rPr sz="1400" b="0">
                <a:solidFill>
                  <a:srgbClr val="52616A"/>
                </a:solidFill>
                <a:latin typeface="Arial"/>
              </a:rPr>
              <a:t>Calibrated locations</a:t>
            </a:r>
          </a:p>
        </p:txBody>
      </p:sp>
      <p:sp>
        <p:nvSpPr>
          <p:cNvPr id="19" name="Rectangle 18"/>
          <p:cNvSpPr/>
          <p:nvPr/>
        </p:nvSpPr>
        <p:spPr>
          <a:xfrm>
            <a:off x="7269480" y="1975104"/>
            <a:ext cx="2121408" cy="2788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24928" y="2194560"/>
            <a:ext cx="1810512" cy="566928"/>
          </a:xfrm>
          <a:prstGeom prst="rect">
            <a:avLst/>
          </a:prstGeom>
          <a:noFill/>
        </p:spPr>
        <p:txBody>
          <a:bodyPr wrap="none" lIns="0" rIns="0" tIns="0" bIns="0">
            <a:spAutoFit/>
          </a:bodyPr>
          <a:lstStyle/>
          <a:p>
            <a:pPr algn="l">
              <a:lnSpc>
                <a:spcPts val="4096"/>
              </a:lnSpc>
              <a:spcBef>
                <a:spcPts val="0"/>
              </a:spcBef>
              <a:spcAft>
                <a:spcPts val="0"/>
              </a:spcAft>
            </a:pPr>
            <a:r>
              <a:rPr sz="3200" b="1">
                <a:solidFill>
                  <a:srgbClr val="087F82"/>
                </a:solidFill>
                <a:latin typeface="Arial"/>
              </a:rPr>
              <a:t>4.3</a:t>
            </a:r>
          </a:p>
        </p:txBody>
      </p:sp>
      <p:sp>
        <p:nvSpPr>
          <p:cNvPr id="21" name="TextBox 20"/>
          <p:cNvSpPr txBox="1"/>
          <p:nvPr/>
        </p:nvSpPr>
        <p:spPr>
          <a:xfrm>
            <a:off x="7424928" y="2935224"/>
            <a:ext cx="1810512" cy="594360"/>
          </a:xfrm>
          <a:prstGeom prst="rect">
            <a:avLst/>
          </a:prstGeom>
          <a:noFill/>
        </p:spPr>
        <p:txBody>
          <a:bodyPr wrap="none" lIns="0" rIns="0" tIns="0" bIns="0">
            <a:spAutoFit/>
          </a:bodyPr>
          <a:lstStyle/>
          <a:p>
            <a:pPr algn="l">
              <a:lnSpc>
                <a:spcPts val="2304"/>
              </a:lnSpc>
              <a:spcBef>
                <a:spcPts val="0"/>
              </a:spcBef>
              <a:spcAft>
                <a:spcPts val="0"/>
              </a:spcAft>
            </a:pPr>
            <a:r>
              <a:rPr sz="1800" b="1">
                <a:solidFill>
                  <a:srgbClr val="182C3A"/>
                </a:solidFill>
                <a:latin typeface="Arial"/>
              </a:rPr>
              <a:t>Evidence</a:t>
            </a:r>
          </a:p>
          <a:p>
            <a:pPr algn="l">
              <a:lnSpc>
                <a:spcPts val="2304"/>
              </a:lnSpc>
              <a:spcBef>
                <a:spcPts val="0"/>
              </a:spcBef>
              <a:spcAft>
                <a:spcPts val="0"/>
              </a:spcAft>
            </a:pPr>
            <a:r>
              <a:rPr sz="1800" b="1">
                <a:solidFill>
                  <a:srgbClr val="182C3A"/>
                </a:solidFill>
                <a:latin typeface="Arial"/>
              </a:rPr>
              <a:t>contracts</a:t>
            </a:r>
          </a:p>
        </p:txBody>
      </p:sp>
      <p:sp>
        <p:nvSpPr>
          <p:cNvPr id="22" name="TextBox 21"/>
          <p:cNvSpPr txBox="1"/>
          <p:nvPr/>
        </p:nvSpPr>
        <p:spPr>
          <a:xfrm>
            <a:off x="7424928" y="3767328"/>
            <a:ext cx="1810512" cy="868680"/>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52616A"/>
                </a:solidFill>
                <a:latin typeface="Arial"/>
              </a:rPr>
              <a:t>Typed records</a:t>
            </a:r>
          </a:p>
          <a:p>
            <a:pPr algn="l">
              <a:lnSpc>
                <a:spcPts val="1792"/>
              </a:lnSpc>
              <a:spcBef>
                <a:spcPts val="0"/>
              </a:spcBef>
              <a:spcAft>
                <a:spcPts val="0"/>
              </a:spcAft>
            </a:pPr>
            <a:r>
              <a:rPr sz="1400" b="0">
                <a:solidFill>
                  <a:srgbClr val="52616A"/>
                </a:solidFill>
                <a:latin typeface="Arial"/>
              </a:rPr>
              <a:t>Exact references</a:t>
            </a:r>
          </a:p>
          <a:p>
            <a:pPr algn="l">
              <a:lnSpc>
                <a:spcPts val="1792"/>
              </a:lnSpc>
              <a:spcBef>
                <a:spcPts val="0"/>
              </a:spcBef>
              <a:spcAft>
                <a:spcPts val="0"/>
              </a:spcAft>
            </a:pPr>
            <a:r>
              <a:rPr sz="1400" b="0">
                <a:solidFill>
                  <a:srgbClr val="52616A"/>
                </a:solidFill>
                <a:latin typeface="Arial"/>
              </a:rPr>
              <a:t>Hashes + uncertainty</a:t>
            </a:r>
          </a:p>
        </p:txBody>
      </p:sp>
      <p:sp>
        <p:nvSpPr>
          <p:cNvPr id="23" name="Rectangle 22"/>
          <p:cNvSpPr/>
          <p:nvPr/>
        </p:nvSpPr>
        <p:spPr>
          <a:xfrm>
            <a:off x="9509760" y="1975104"/>
            <a:ext cx="2121408" cy="278892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65208" y="2194560"/>
            <a:ext cx="1810512" cy="566928"/>
          </a:xfrm>
          <a:prstGeom prst="rect">
            <a:avLst/>
          </a:prstGeom>
          <a:noFill/>
        </p:spPr>
        <p:txBody>
          <a:bodyPr wrap="none" lIns="0" rIns="0" tIns="0" bIns="0">
            <a:spAutoFit/>
          </a:bodyPr>
          <a:lstStyle/>
          <a:p>
            <a:pPr algn="l">
              <a:lnSpc>
                <a:spcPts val="4096"/>
              </a:lnSpc>
              <a:spcBef>
                <a:spcPts val="0"/>
              </a:spcBef>
              <a:spcAft>
                <a:spcPts val="0"/>
              </a:spcAft>
            </a:pPr>
            <a:r>
              <a:rPr sz="3200" b="1">
                <a:solidFill>
                  <a:srgbClr val="087F82"/>
                </a:solidFill>
                <a:latin typeface="Arial"/>
              </a:rPr>
              <a:t>4.4</a:t>
            </a:r>
          </a:p>
        </p:txBody>
      </p:sp>
      <p:sp>
        <p:nvSpPr>
          <p:cNvPr id="25" name="TextBox 24"/>
          <p:cNvSpPr txBox="1"/>
          <p:nvPr/>
        </p:nvSpPr>
        <p:spPr>
          <a:xfrm>
            <a:off x="9665208" y="2935224"/>
            <a:ext cx="1810512" cy="594360"/>
          </a:xfrm>
          <a:prstGeom prst="rect">
            <a:avLst/>
          </a:prstGeom>
          <a:noFill/>
        </p:spPr>
        <p:txBody>
          <a:bodyPr wrap="none" lIns="0" rIns="0" tIns="0" bIns="0">
            <a:spAutoFit/>
          </a:bodyPr>
          <a:lstStyle/>
          <a:p>
            <a:pPr algn="l">
              <a:lnSpc>
                <a:spcPts val="2304"/>
              </a:lnSpc>
              <a:spcBef>
                <a:spcPts val="0"/>
              </a:spcBef>
              <a:spcAft>
                <a:spcPts val="0"/>
              </a:spcAft>
            </a:pPr>
            <a:r>
              <a:rPr sz="1800" b="1">
                <a:solidFill>
                  <a:srgbClr val="182C3A"/>
                </a:solidFill>
                <a:latin typeface="Arial"/>
              </a:rPr>
              <a:t>Goal +</a:t>
            </a:r>
          </a:p>
          <a:p>
            <a:pPr algn="l">
              <a:lnSpc>
                <a:spcPts val="2304"/>
              </a:lnSpc>
              <a:spcBef>
                <a:spcPts val="0"/>
              </a:spcBef>
              <a:spcAft>
                <a:spcPts val="0"/>
              </a:spcAft>
            </a:pPr>
            <a:r>
              <a:rPr sz="1800" b="1">
                <a:solidFill>
                  <a:srgbClr val="182C3A"/>
                </a:solidFill>
                <a:latin typeface="Arial"/>
              </a:rPr>
              <a:t>assignment</a:t>
            </a:r>
          </a:p>
        </p:txBody>
      </p:sp>
      <p:sp>
        <p:nvSpPr>
          <p:cNvPr id="26" name="TextBox 25"/>
          <p:cNvSpPr txBox="1"/>
          <p:nvPr/>
        </p:nvSpPr>
        <p:spPr>
          <a:xfrm>
            <a:off x="9665208" y="3767328"/>
            <a:ext cx="1810512" cy="868680"/>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52616A"/>
                </a:solidFill>
                <a:latin typeface="Arial"/>
              </a:rPr>
              <a:t>target_feature</a:t>
            </a:r>
          </a:p>
          <a:p>
            <a:pPr algn="l">
              <a:lnSpc>
                <a:spcPts val="1792"/>
              </a:lnSpc>
              <a:spcBef>
                <a:spcPts val="0"/>
              </a:spcBef>
              <a:spcAft>
                <a:spcPts val="0"/>
              </a:spcAft>
            </a:pPr>
            <a:r>
              <a:rPr sz="1400" b="0">
                <a:solidFill>
                  <a:srgbClr val="52616A"/>
                </a:solidFill>
                <a:latin typeface="Arial"/>
              </a:rPr>
              <a:t>Pairwise relationships</a:t>
            </a:r>
          </a:p>
          <a:p>
            <a:pPr algn="l">
              <a:lnSpc>
                <a:spcPts val="1792"/>
              </a:lnSpc>
              <a:spcBef>
                <a:spcPts val="0"/>
              </a:spcBef>
              <a:spcAft>
                <a:spcPts val="0"/>
              </a:spcAft>
            </a:pPr>
            <a:r>
              <a:rPr sz="1400" b="0">
                <a:solidFill>
                  <a:srgbClr val="52616A"/>
                </a:solidFill>
                <a:latin typeface="Arial"/>
              </a:rPr>
              <a:t>MoveIt arm checks</a:t>
            </a:r>
          </a:p>
        </p:txBody>
      </p:sp>
      <p:sp>
        <p:nvSpPr>
          <p:cNvPr id="27" name="TextBox 26"/>
          <p:cNvSpPr txBox="1"/>
          <p:nvPr/>
        </p:nvSpPr>
        <p:spPr>
          <a:xfrm>
            <a:off x="594360" y="5020056"/>
            <a:ext cx="10991088" cy="420624"/>
          </a:xfrm>
          <a:prstGeom prst="rect">
            <a:avLst/>
          </a:prstGeom>
          <a:noFill/>
        </p:spPr>
        <p:txBody>
          <a:bodyPr wrap="none" lIns="0" rIns="0" tIns="0" bIns="0">
            <a:spAutoFit/>
          </a:bodyPr>
          <a:lstStyle/>
          <a:p>
            <a:pPr algn="l">
              <a:lnSpc>
                <a:spcPts val="2560"/>
              </a:lnSpc>
              <a:spcBef>
                <a:spcPts val="0"/>
              </a:spcBef>
              <a:spcAft>
                <a:spcPts val="0"/>
              </a:spcAft>
            </a:pPr>
            <a:r>
              <a:rPr sz="2000" b="0">
                <a:solidFill>
                  <a:srgbClr val="182C3A"/>
                </a:solidFill>
                <a:latin typeface="Arial"/>
              </a:rPr>
              <a:t>PA chooses the evidence order. Phase 4.3 contracts apply throughout.</a:t>
            </a:r>
          </a:p>
        </p:txBody>
      </p:sp>
      <p:sp>
        <p:nvSpPr>
          <p:cNvPr id="28" name="Rectangle 27"/>
          <p:cNvSpPr/>
          <p:nvPr/>
        </p:nvSpPr>
        <p:spPr>
          <a:xfrm>
            <a:off x="548640" y="5641848"/>
            <a:ext cx="11091672" cy="475488"/>
          </a:xfrm>
          <a:prstGeom prst="rect">
            <a:avLst/>
          </a:prstGeom>
          <a:solidFill>
            <a:srgbClr val="18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5751576"/>
            <a:ext cx="10680192" cy="228600"/>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FFFFFF"/>
                </a:solidFill>
                <a:latin typeface="Arial"/>
              </a:rPr>
              <a:t>HANDOFF TO PHASE 5     Selected RA context → primitive_steps → bounded validation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PHASE 4  /  CONTROL FLOW</a:t>
            </a:r>
          </a:p>
        </p:txBody>
      </p:sp>
      <p:sp>
        <p:nvSpPr>
          <p:cNvPr id="3" name="TextBox 2"/>
          <p:cNvSpPr txBox="1"/>
          <p:nvPr/>
        </p:nvSpPr>
        <p:spPr>
          <a:xfrm>
            <a:off x="548640" y="832104"/>
            <a:ext cx="11091672" cy="585216"/>
          </a:xfrm>
          <a:prstGeom prst="rect">
            <a:avLst/>
          </a:prstGeom>
          <a:noFill/>
        </p:spPr>
        <p:txBody>
          <a:bodyPr wrap="none" lIns="0" rIns="0" tIns="0" bIns="0">
            <a:spAutoFit/>
          </a:bodyPr>
          <a:lstStyle/>
          <a:p>
            <a:pPr algn="l">
              <a:lnSpc>
                <a:spcPts val="3840"/>
              </a:lnSpc>
              <a:spcBef>
                <a:spcPts val="0"/>
              </a:spcBef>
              <a:spcAft>
                <a:spcPts val="0"/>
              </a:spcAft>
            </a:pPr>
            <a:r>
              <a:rPr sz="3000" b="1">
                <a:solidFill>
                  <a:srgbClr val="182C3A"/>
                </a:solidFill>
                <a:latin typeface="Arial"/>
              </a:rPr>
              <a:t>PA decides what evidence to request next</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8700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Current code + saved trace • 09 Sep 2026 • Sources in speaker notes</a:t>
            </a:r>
          </a:p>
        </p:txBody>
      </p:sp>
      <p:sp>
        <p:nvSpPr>
          <p:cNvPr id="6" name="TextBox 5"/>
          <p:cNvSpPr txBox="1"/>
          <p:nvPr/>
        </p:nvSpPr>
        <p:spPr>
          <a:xfrm>
            <a:off x="11009376" y="6483096"/>
            <a:ext cx="630936"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03 / 09</a:t>
            </a:r>
          </a:p>
        </p:txBody>
      </p:sp>
      <p:sp>
        <p:nvSpPr>
          <p:cNvPr id="7" name="Rectangle 6"/>
          <p:cNvSpPr/>
          <p:nvPr/>
        </p:nvSpPr>
        <p:spPr>
          <a:xfrm>
            <a:off x="548640" y="1883664"/>
            <a:ext cx="2880360" cy="2176272"/>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03120"/>
            <a:ext cx="2514600" cy="384048"/>
          </a:xfrm>
          <a:prstGeom prst="rect">
            <a:avLst/>
          </a:prstGeom>
          <a:noFill/>
        </p:spPr>
        <p:txBody>
          <a:bodyPr wrap="none" lIns="0" rIns="0" tIns="0" bIns="0">
            <a:spAutoFit/>
          </a:bodyPr>
          <a:lstStyle/>
          <a:p>
            <a:pPr algn="l">
              <a:lnSpc>
                <a:spcPts val="2944"/>
              </a:lnSpc>
              <a:spcBef>
                <a:spcPts val="0"/>
              </a:spcBef>
              <a:spcAft>
                <a:spcPts val="0"/>
              </a:spcAft>
            </a:pPr>
            <a:r>
              <a:rPr sz="2300" b="1">
                <a:solidFill>
                  <a:srgbClr val="087F82"/>
                </a:solidFill>
                <a:latin typeface="Arial"/>
              </a:rPr>
              <a:t>PA</a:t>
            </a:r>
          </a:p>
        </p:txBody>
      </p:sp>
      <p:sp>
        <p:nvSpPr>
          <p:cNvPr id="9" name="TextBox 8"/>
          <p:cNvSpPr txBox="1"/>
          <p:nvPr/>
        </p:nvSpPr>
        <p:spPr>
          <a:xfrm>
            <a:off x="731520" y="2852928"/>
            <a:ext cx="2514600" cy="914400"/>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Choose the next question</a:t>
            </a:r>
          </a:p>
          <a:p>
            <a:pPr algn="l">
              <a:lnSpc>
                <a:spcPts val="2176"/>
              </a:lnSpc>
              <a:spcBef>
                <a:spcPts val="0"/>
              </a:spcBef>
              <a:spcAft>
                <a:spcPts val="0"/>
              </a:spcAft>
            </a:pPr>
            <a:r>
              <a:rPr sz="1700" b="0">
                <a:solidFill>
                  <a:srgbClr val="182C3A"/>
                </a:solidFill>
                <a:latin typeface="Arial"/>
              </a:rPr>
              <a:t>and evidence source</a:t>
            </a:r>
          </a:p>
        </p:txBody>
      </p:sp>
      <p:sp>
        <p:nvSpPr>
          <p:cNvPr id="10" name="Rectangle 9"/>
          <p:cNvSpPr/>
          <p:nvPr/>
        </p:nvSpPr>
        <p:spPr>
          <a:xfrm>
            <a:off x="3657600" y="1883664"/>
            <a:ext cx="3913632" cy="21762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0" y="2103120"/>
            <a:ext cx="3547872" cy="384048"/>
          </a:xfrm>
          <a:prstGeom prst="rect">
            <a:avLst/>
          </a:prstGeom>
          <a:noFill/>
        </p:spPr>
        <p:txBody>
          <a:bodyPr wrap="none" lIns="0" rIns="0" tIns="0" bIns="0">
            <a:spAutoFit/>
          </a:bodyPr>
          <a:lstStyle/>
          <a:p>
            <a:pPr algn="l">
              <a:lnSpc>
                <a:spcPts val="2944"/>
              </a:lnSpc>
              <a:spcBef>
                <a:spcPts val="0"/>
              </a:spcBef>
              <a:spcAft>
                <a:spcPts val="0"/>
              </a:spcAft>
            </a:pPr>
            <a:r>
              <a:rPr sz="2300" b="1">
                <a:solidFill>
                  <a:srgbClr val="087F82"/>
                </a:solidFill>
                <a:latin typeface="Arial"/>
              </a:rPr>
              <a:t>Evidence tools</a:t>
            </a:r>
          </a:p>
        </p:txBody>
      </p:sp>
      <p:sp>
        <p:nvSpPr>
          <p:cNvPr id="12" name="TextBox 11"/>
          <p:cNvSpPr txBox="1"/>
          <p:nvPr/>
        </p:nvSpPr>
        <p:spPr>
          <a:xfrm>
            <a:off x="3840480" y="2852928"/>
            <a:ext cx="3547872" cy="914400"/>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retrieve  •  query_document</a:t>
            </a:r>
          </a:p>
          <a:p>
            <a:pPr algn="l">
              <a:lnSpc>
                <a:spcPts val="2176"/>
              </a:lnSpc>
              <a:spcBef>
                <a:spcPts val="0"/>
              </a:spcBef>
              <a:spcAft>
                <a:spcPts val="0"/>
              </a:spcAft>
            </a:pPr>
            <a:r>
              <a:rPr sz="1700" b="0">
                <a:solidFill>
                  <a:srgbClr val="182C3A"/>
                </a:solidFill>
                <a:latin typeface="Arial"/>
              </a:rPr>
              <a:t>compare_cad_size</a:t>
            </a:r>
          </a:p>
          <a:p>
            <a:pPr algn="l">
              <a:lnSpc>
                <a:spcPts val="2176"/>
              </a:lnSpc>
              <a:spcBef>
                <a:spcPts val="0"/>
              </a:spcBef>
              <a:spcAft>
                <a:spcPts val="0"/>
              </a:spcAft>
            </a:pPr>
            <a:r>
              <a:rPr sz="1700" b="0">
                <a:solidFill>
                  <a:srgbClr val="182C3A"/>
                </a:solidFill>
                <a:latin typeface="Arial"/>
              </a:rPr>
              <a:t>analyze_candidate_layout</a:t>
            </a:r>
          </a:p>
        </p:txBody>
      </p:sp>
      <p:sp>
        <p:nvSpPr>
          <p:cNvPr id="13" name="Rectangle 12"/>
          <p:cNvSpPr/>
          <p:nvPr/>
        </p:nvSpPr>
        <p:spPr>
          <a:xfrm>
            <a:off x="7818120" y="1883664"/>
            <a:ext cx="3822191" cy="21762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01000" y="2103120"/>
            <a:ext cx="3456432" cy="384048"/>
          </a:xfrm>
          <a:prstGeom prst="rect">
            <a:avLst/>
          </a:prstGeom>
          <a:noFill/>
        </p:spPr>
        <p:txBody>
          <a:bodyPr wrap="none" lIns="0" rIns="0" tIns="0" bIns="0">
            <a:spAutoFit/>
          </a:bodyPr>
          <a:lstStyle/>
          <a:p>
            <a:pPr algn="l">
              <a:lnSpc>
                <a:spcPts val="2944"/>
              </a:lnSpc>
              <a:spcBef>
                <a:spcPts val="0"/>
              </a:spcBef>
              <a:spcAft>
                <a:spcPts val="0"/>
              </a:spcAft>
            </a:pPr>
            <a:r>
              <a:rPr sz="2300" b="1">
                <a:solidFill>
                  <a:srgbClr val="087F82"/>
                </a:solidFill>
                <a:latin typeface="Arial"/>
              </a:rPr>
              <a:t>PA proposal</a:t>
            </a:r>
          </a:p>
        </p:txBody>
      </p:sp>
      <p:sp>
        <p:nvSpPr>
          <p:cNvPr id="15" name="TextBox 14"/>
          <p:cNvSpPr txBox="1"/>
          <p:nvPr/>
        </p:nvSpPr>
        <p:spPr>
          <a:xfrm>
            <a:off x="8001000" y="2852928"/>
            <a:ext cx="3456432" cy="914400"/>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target_feature</a:t>
            </a:r>
          </a:p>
          <a:p>
            <a:pPr algn="l">
              <a:lnSpc>
                <a:spcPts val="2176"/>
              </a:lnSpc>
              <a:spcBef>
                <a:spcPts val="0"/>
              </a:spcBef>
              <a:spcAft>
                <a:spcPts val="0"/>
              </a:spcAft>
            </a:pPr>
            <a:r>
              <a:rPr sz="1700" b="0">
                <a:solidFill>
                  <a:srgbClr val="182C3A"/>
                </a:solidFill>
                <a:latin typeface="Arial"/>
              </a:rPr>
              <a:t>Current + desired states</a:t>
            </a:r>
          </a:p>
          <a:p>
            <a:pPr algn="l">
              <a:lnSpc>
                <a:spcPts val="2176"/>
              </a:lnSpc>
              <a:spcBef>
                <a:spcPts val="0"/>
              </a:spcBef>
              <a:spcAft>
                <a:spcPts val="0"/>
              </a:spcAft>
            </a:pPr>
            <a:r>
              <a:rPr sz="1700" b="0">
                <a:solidFill>
                  <a:srgbClr val="182C3A"/>
                </a:solidFill>
                <a:latin typeface="Arial"/>
              </a:rPr>
              <a:t>Assembly relationships</a:t>
            </a:r>
          </a:p>
        </p:txBody>
      </p:sp>
      <p:cxnSp>
        <p:nvCxnSpPr>
          <p:cNvPr id="16" name="Connector 15"/>
          <p:cNvCxnSpPr/>
          <p:nvPr/>
        </p:nvCxnSpPr>
        <p:spPr>
          <a:xfrm>
            <a:off x="3456432" y="2825496"/>
            <a:ext cx="182880" cy="0"/>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3456432" y="3154680"/>
            <a:ext cx="182880" cy="0"/>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598664" y="2825496"/>
            <a:ext cx="201167" cy="0"/>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729216" y="4078224"/>
            <a:ext cx="0" cy="429768"/>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818120" y="4544568"/>
            <a:ext cx="3822191" cy="804672"/>
          </a:xfrm>
          <a:prstGeom prst="rect">
            <a:avLst/>
          </a:prstGeom>
          <a:solidFill>
            <a:srgbClr val="18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10144" y="4782312"/>
            <a:ext cx="3438144" cy="329184"/>
          </a:xfrm>
          <a:prstGeom prst="rect">
            <a:avLst/>
          </a:prstGeom>
          <a:noFill/>
        </p:spPr>
        <p:txBody>
          <a:bodyPr wrap="none" lIns="0" rIns="0" tIns="0" bIns="0">
            <a:spAutoFit/>
          </a:bodyPr>
          <a:lstStyle/>
          <a:p>
            <a:pPr algn="l">
              <a:lnSpc>
                <a:spcPts val="2688"/>
              </a:lnSpc>
              <a:spcBef>
                <a:spcPts val="0"/>
              </a:spcBef>
              <a:spcAft>
                <a:spcPts val="0"/>
              </a:spcAft>
            </a:pPr>
            <a:r>
              <a:rPr sz="2100" b="1">
                <a:solidFill>
                  <a:srgbClr val="FFFFFF"/>
                </a:solidFill>
                <a:latin typeface="Arial"/>
              </a:rPr>
              <a:t>Host validation</a:t>
            </a:r>
          </a:p>
        </p:txBody>
      </p:sp>
      <p:cxnSp>
        <p:nvCxnSpPr>
          <p:cNvPr id="22" name="Connector 21"/>
          <p:cNvCxnSpPr/>
          <p:nvPr/>
        </p:nvCxnSpPr>
        <p:spPr>
          <a:xfrm flipH="1">
            <a:off x="1965960" y="4956048"/>
            <a:ext cx="5797296" cy="0"/>
          </a:xfrm>
          <a:prstGeom prst="line">
            <a:avLst/>
          </a:prstGeom>
          <a:ln w="21590">
            <a:solidFill>
              <a:srgbClr val="087F82"/>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965960" y="4105656"/>
            <a:ext cx="0" cy="850392"/>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267712" y="4517136"/>
            <a:ext cx="5303520" cy="320040"/>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087F82"/>
                </a:solidFill>
                <a:latin typeface="Arial"/>
              </a:rPr>
              <a:t>Correctable reference / missing-location feedback</a:t>
            </a:r>
          </a:p>
        </p:txBody>
      </p:sp>
      <p:sp>
        <p:nvSpPr>
          <p:cNvPr id="25" name="Rectangle 24"/>
          <p:cNvSpPr/>
          <p:nvPr/>
        </p:nvSpPr>
        <p:spPr>
          <a:xfrm>
            <a:off x="548640" y="5641848"/>
            <a:ext cx="6803136" cy="475488"/>
          </a:xfrm>
          <a:prstGeom prst="rect">
            <a:avLst/>
          </a:prstGeom>
          <a:solidFill>
            <a:srgbClr val="F3EB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 y="5751576"/>
            <a:ext cx="6437376" cy="246888"/>
          </a:xfrm>
          <a:prstGeom prst="rect">
            <a:avLst/>
          </a:prstGeom>
          <a:noFill/>
        </p:spPr>
        <p:txBody>
          <a:bodyPr wrap="none" lIns="0" rIns="0" tIns="0" bIns="0">
            <a:spAutoFit/>
          </a:bodyPr>
          <a:lstStyle/>
          <a:p>
            <a:pPr algn="l">
              <a:lnSpc>
                <a:spcPts val="2048"/>
              </a:lnSpc>
              <a:spcBef>
                <a:spcPts val="0"/>
              </a:spcBef>
              <a:spcAft>
                <a:spcPts val="0"/>
              </a:spcAft>
            </a:pPr>
            <a:r>
              <a:rPr sz="1600" b="1">
                <a:solidFill>
                  <a:srgbClr val="A66C1D"/>
                </a:solidFill>
                <a:latin typeface="Arial"/>
              </a:rPr>
              <a:t>CONFIGURED LIMITS     24 evidence operations  /  6 proposals</a:t>
            </a:r>
          </a:p>
        </p:txBody>
      </p:sp>
      <p:sp>
        <p:nvSpPr>
          <p:cNvPr id="27" name="TextBox 26"/>
          <p:cNvSpPr txBox="1"/>
          <p:nvPr/>
        </p:nvSpPr>
        <p:spPr>
          <a:xfrm>
            <a:off x="7964424" y="5724144"/>
            <a:ext cx="3657600" cy="320040"/>
          </a:xfrm>
          <a:prstGeom prst="rect">
            <a:avLst/>
          </a:prstGeom>
          <a:noFill/>
        </p:spPr>
        <p:txBody>
          <a:bodyPr wrap="none" lIns="0" rIns="0" tIns="0" bIns="0">
            <a:spAutoFit/>
          </a:bodyPr>
          <a:lstStyle/>
          <a:p>
            <a:pPr algn="l">
              <a:lnSpc>
                <a:spcPts val="2048"/>
              </a:lnSpc>
              <a:spcBef>
                <a:spcPts val="0"/>
              </a:spcBef>
              <a:spcAft>
                <a:spcPts val="0"/>
              </a:spcAft>
            </a:pPr>
            <a:r>
              <a:rPr sz="1600" b="1">
                <a:solidFill>
                  <a:srgbClr val="087F82"/>
                </a:solidFill>
                <a:latin typeface="Arial"/>
              </a:rPr>
              <a:t>Accepted → ontology commit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PHASE 4  /  EVIDENCE</a:t>
            </a:r>
          </a:p>
        </p:txBody>
      </p:sp>
      <p:sp>
        <p:nvSpPr>
          <p:cNvPr id="3" name="TextBox 2"/>
          <p:cNvSpPr txBox="1"/>
          <p:nvPr/>
        </p:nvSpPr>
        <p:spPr>
          <a:xfrm>
            <a:off x="548640" y="832104"/>
            <a:ext cx="11091672" cy="585216"/>
          </a:xfrm>
          <a:prstGeom prst="rect">
            <a:avLst/>
          </a:prstGeom>
          <a:noFill/>
        </p:spPr>
        <p:txBody>
          <a:bodyPr wrap="none" lIns="0" rIns="0" tIns="0" bIns="0">
            <a:spAutoFit/>
          </a:bodyPr>
          <a:lstStyle/>
          <a:p>
            <a:pPr algn="l">
              <a:lnSpc>
                <a:spcPts val="3840"/>
              </a:lnSpc>
              <a:spcBef>
                <a:spcPts val="0"/>
              </a:spcBef>
              <a:spcAft>
                <a:spcPts val="0"/>
              </a:spcAft>
            </a:pPr>
            <a:r>
              <a:rPr sz="3000" b="1">
                <a:solidFill>
                  <a:srgbClr val="182C3A"/>
                </a:solidFill>
                <a:latin typeface="Arial"/>
              </a:rPr>
              <a:t>Documents, CAD and RGB-D contribute different facts</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8700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Current code + saved trace • 09 Sep 2026 • Sources in speaker notes</a:t>
            </a:r>
          </a:p>
        </p:txBody>
      </p:sp>
      <p:sp>
        <p:nvSpPr>
          <p:cNvPr id="6" name="TextBox 5"/>
          <p:cNvSpPr txBox="1"/>
          <p:nvPr/>
        </p:nvSpPr>
        <p:spPr>
          <a:xfrm>
            <a:off x="11009376" y="6483096"/>
            <a:ext cx="630936"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04 / 09</a:t>
            </a:r>
          </a:p>
        </p:txBody>
      </p:sp>
      <p:sp>
        <p:nvSpPr>
          <p:cNvPr id="7" name="Rectangle 6"/>
          <p:cNvSpPr/>
          <p:nvPr/>
        </p:nvSpPr>
        <p:spPr>
          <a:xfrm>
            <a:off x="548640" y="1920240"/>
            <a:ext cx="3529584" cy="33467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2148840"/>
            <a:ext cx="548640" cy="493776"/>
          </a:xfrm>
          <a:prstGeom prst="rect">
            <a:avLst/>
          </a:prstGeom>
          <a:noFill/>
        </p:spPr>
        <p:txBody>
          <a:bodyPr wrap="none" lIns="0" rIns="0" tIns="0" bIns="0">
            <a:spAutoFit/>
          </a:bodyPr>
          <a:lstStyle/>
          <a:p>
            <a:pPr algn="l">
              <a:lnSpc>
                <a:spcPts val="3584"/>
              </a:lnSpc>
              <a:spcBef>
                <a:spcPts val="0"/>
              </a:spcBef>
              <a:spcAft>
                <a:spcPts val="0"/>
              </a:spcAft>
            </a:pPr>
            <a:r>
              <a:rPr sz="2800" b="1">
                <a:solidFill>
                  <a:srgbClr val="087F82"/>
                </a:solidFill>
                <a:latin typeface="Arial"/>
              </a:rPr>
              <a:t>01</a:t>
            </a:r>
          </a:p>
        </p:txBody>
      </p:sp>
      <p:sp>
        <p:nvSpPr>
          <p:cNvPr id="9" name="TextBox 8"/>
          <p:cNvSpPr txBox="1"/>
          <p:nvPr/>
        </p:nvSpPr>
        <p:spPr>
          <a:xfrm>
            <a:off x="1463040" y="2267712"/>
            <a:ext cx="2395728" cy="292608"/>
          </a:xfrm>
          <a:prstGeom prst="rect">
            <a:avLst/>
          </a:prstGeom>
          <a:noFill/>
        </p:spPr>
        <p:txBody>
          <a:bodyPr wrap="none" lIns="0" rIns="0" tIns="0" bIns="0">
            <a:spAutoFit/>
          </a:bodyPr>
          <a:lstStyle/>
          <a:p>
            <a:pPr algn="l">
              <a:lnSpc>
                <a:spcPts val="1792"/>
              </a:lnSpc>
              <a:spcBef>
                <a:spcPts val="0"/>
              </a:spcBef>
              <a:spcAft>
                <a:spcPts val="0"/>
              </a:spcAft>
            </a:pPr>
            <a:r>
              <a:rPr sz="1400" b="1">
                <a:solidFill>
                  <a:srgbClr val="52616A"/>
                </a:solidFill>
                <a:latin typeface="Arial"/>
              </a:rPr>
              <a:t>DOCUMENTS</a:t>
            </a:r>
          </a:p>
        </p:txBody>
      </p:sp>
      <p:sp>
        <p:nvSpPr>
          <p:cNvPr id="10" name="TextBox 9"/>
          <p:cNvSpPr txBox="1"/>
          <p:nvPr/>
        </p:nvSpPr>
        <p:spPr>
          <a:xfrm>
            <a:off x="740664" y="2990088"/>
            <a:ext cx="3145536" cy="493776"/>
          </a:xfrm>
          <a:prstGeom prst="rect">
            <a:avLst/>
          </a:prstGeom>
          <a:noFill/>
        </p:spPr>
        <p:txBody>
          <a:bodyPr wrap="none" lIns="0" rIns="0" tIns="0" bIns="0">
            <a:spAutoFit/>
          </a:bodyPr>
          <a:lstStyle/>
          <a:p>
            <a:pPr algn="l">
              <a:lnSpc>
                <a:spcPts val="2688"/>
              </a:lnSpc>
              <a:spcBef>
                <a:spcPts val="0"/>
              </a:spcBef>
              <a:spcAft>
                <a:spcPts val="0"/>
              </a:spcAft>
            </a:pPr>
            <a:r>
              <a:rPr sz="2100" b="1">
                <a:solidFill>
                  <a:srgbClr val="182C3A"/>
                </a:solidFill>
                <a:latin typeface="Arial"/>
              </a:rPr>
              <a:t>Intended relationships</a:t>
            </a:r>
          </a:p>
        </p:txBody>
      </p:sp>
      <p:sp>
        <p:nvSpPr>
          <p:cNvPr id="11" name="TextBox 10"/>
          <p:cNvSpPr txBox="1"/>
          <p:nvPr/>
        </p:nvSpPr>
        <p:spPr>
          <a:xfrm>
            <a:off x="740664" y="3794760"/>
            <a:ext cx="3145536" cy="923544"/>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Approved pages + figures</a:t>
            </a:r>
          </a:p>
          <a:p>
            <a:pPr algn="l">
              <a:lnSpc>
                <a:spcPts val="2176"/>
              </a:lnSpc>
              <a:spcBef>
                <a:spcPts val="0"/>
              </a:spcBef>
              <a:spcAft>
                <a:spcPts val="0"/>
              </a:spcAft>
            </a:pPr>
            <a:r>
              <a:rPr sz="1700" b="0">
                <a:solidFill>
                  <a:srgbClr val="182C3A"/>
                </a:solidFill>
                <a:latin typeface="Arial"/>
              </a:rPr>
              <a:t>PA-authored query</a:t>
            </a:r>
          </a:p>
          <a:p>
            <a:pPr algn="l">
              <a:lnSpc>
                <a:spcPts val="2176"/>
              </a:lnSpc>
              <a:spcBef>
                <a:spcPts val="0"/>
              </a:spcBef>
              <a:spcAft>
                <a:spcPts val="0"/>
              </a:spcAft>
            </a:pPr>
            <a:r>
              <a:rPr sz="1700" b="0">
                <a:solidFill>
                  <a:srgbClr val="182C3A"/>
                </a:solidFill>
                <a:latin typeface="Arial"/>
              </a:rPr>
              <a:t>Citations + uncertainty</a:t>
            </a:r>
          </a:p>
        </p:txBody>
      </p:sp>
      <p:sp>
        <p:nvSpPr>
          <p:cNvPr id="12" name="TextBox 11"/>
          <p:cNvSpPr txBox="1"/>
          <p:nvPr/>
        </p:nvSpPr>
        <p:spPr>
          <a:xfrm>
            <a:off x="740664" y="4901184"/>
            <a:ext cx="3145536" cy="210312"/>
          </a:xfrm>
          <a:prstGeom prst="rect">
            <a:avLst/>
          </a:prstGeom>
          <a:noFill/>
        </p:spPr>
        <p:txBody>
          <a:bodyPr wrap="none" lIns="0" rIns="0" tIns="0" bIns="0">
            <a:spAutoFit/>
          </a:bodyPr>
          <a:lstStyle/>
          <a:p>
            <a:pPr algn="l">
              <a:lnSpc>
                <a:spcPts val="1536"/>
              </a:lnSpc>
              <a:spcBef>
                <a:spcPts val="0"/>
              </a:spcBef>
              <a:spcAft>
                <a:spcPts val="0"/>
              </a:spcAft>
            </a:pPr>
            <a:r>
              <a:rPr sz="1200" b="0">
                <a:solidFill>
                  <a:srgbClr val="52616A"/>
                </a:solidFill>
                <a:latin typeface="Arial"/>
              </a:rPr>
              <a:t>Supports what should be assembled.</a:t>
            </a:r>
          </a:p>
        </p:txBody>
      </p:sp>
      <p:sp>
        <p:nvSpPr>
          <p:cNvPr id="13" name="Rectangle 12"/>
          <p:cNvSpPr/>
          <p:nvPr/>
        </p:nvSpPr>
        <p:spPr>
          <a:xfrm>
            <a:off x="4325112" y="1920240"/>
            <a:ext cx="3529584" cy="33467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2148840"/>
            <a:ext cx="548640" cy="493776"/>
          </a:xfrm>
          <a:prstGeom prst="rect">
            <a:avLst/>
          </a:prstGeom>
          <a:noFill/>
        </p:spPr>
        <p:txBody>
          <a:bodyPr wrap="none" lIns="0" rIns="0" tIns="0" bIns="0">
            <a:spAutoFit/>
          </a:bodyPr>
          <a:lstStyle/>
          <a:p>
            <a:pPr algn="l">
              <a:lnSpc>
                <a:spcPts val="3584"/>
              </a:lnSpc>
              <a:spcBef>
                <a:spcPts val="0"/>
              </a:spcBef>
              <a:spcAft>
                <a:spcPts val="0"/>
              </a:spcAft>
            </a:pPr>
            <a:r>
              <a:rPr sz="2800" b="1">
                <a:solidFill>
                  <a:srgbClr val="087F82"/>
                </a:solidFill>
                <a:latin typeface="Arial"/>
              </a:rPr>
              <a:t>02</a:t>
            </a:r>
          </a:p>
        </p:txBody>
      </p:sp>
      <p:sp>
        <p:nvSpPr>
          <p:cNvPr id="15" name="TextBox 14"/>
          <p:cNvSpPr txBox="1"/>
          <p:nvPr/>
        </p:nvSpPr>
        <p:spPr>
          <a:xfrm>
            <a:off x="5239512" y="2267712"/>
            <a:ext cx="2395728" cy="292608"/>
          </a:xfrm>
          <a:prstGeom prst="rect">
            <a:avLst/>
          </a:prstGeom>
          <a:noFill/>
        </p:spPr>
        <p:txBody>
          <a:bodyPr wrap="none" lIns="0" rIns="0" tIns="0" bIns="0">
            <a:spAutoFit/>
          </a:bodyPr>
          <a:lstStyle/>
          <a:p>
            <a:pPr algn="l">
              <a:lnSpc>
                <a:spcPts val="1792"/>
              </a:lnSpc>
              <a:spcBef>
                <a:spcPts val="0"/>
              </a:spcBef>
              <a:spcAft>
                <a:spcPts val="0"/>
              </a:spcAft>
            </a:pPr>
            <a:r>
              <a:rPr sz="1400" b="1">
                <a:solidFill>
                  <a:srgbClr val="52616A"/>
                </a:solidFill>
                <a:latin typeface="Arial"/>
              </a:rPr>
              <a:t>CAD</a:t>
            </a:r>
          </a:p>
        </p:txBody>
      </p:sp>
      <p:sp>
        <p:nvSpPr>
          <p:cNvPr id="16" name="TextBox 15"/>
          <p:cNvSpPr txBox="1"/>
          <p:nvPr/>
        </p:nvSpPr>
        <p:spPr>
          <a:xfrm>
            <a:off x="4517136" y="2990088"/>
            <a:ext cx="3145536" cy="493776"/>
          </a:xfrm>
          <a:prstGeom prst="rect">
            <a:avLst/>
          </a:prstGeom>
          <a:noFill/>
        </p:spPr>
        <p:txBody>
          <a:bodyPr wrap="none" lIns="0" rIns="0" tIns="0" bIns="0">
            <a:spAutoFit/>
          </a:bodyPr>
          <a:lstStyle/>
          <a:p>
            <a:pPr algn="l">
              <a:lnSpc>
                <a:spcPts val="2688"/>
              </a:lnSpc>
              <a:spcBef>
                <a:spcPts val="0"/>
              </a:spcBef>
              <a:spcAft>
                <a:spcPts val="0"/>
              </a:spcAft>
            </a:pPr>
            <a:r>
              <a:rPr sz="2100" b="1">
                <a:solidFill>
                  <a:srgbClr val="182C3A"/>
                </a:solidFill>
                <a:latin typeface="Arial"/>
              </a:rPr>
              <a:t>Candidate geometry</a:t>
            </a:r>
          </a:p>
        </p:txBody>
      </p:sp>
      <p:sp>
        <p:nvSpPr>
          <p:cNvPr id="17" name="TextBox 16"/>
          <p:cNvSpPr txBox="1"/>
          <p:nvPr/>
        </p:nvSpPr>
        <p:spPr>
          <a:xfrm>
            <a:off x="4517136" y="3794760"/>
            <a:ext cx="3145536" cy="923544"/>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Measured mesh dimensions</a:t>
            </a:r>
          </a:p>
          <a:p>
            <a:pPr algn="l">
              <a:lnSpc>
                <a:spcPts val="2176"/>
              </a:lnSpc>
              <a:spcBef>
                <a:spcPts val="0"/>
              </a:spcBef>
              <a:spcAft>
                <a:spcPts val="0"/>
              </a:spcAft>
            </a:pPr>
            <a:r>
              <a:rPr sz="1700" b="0">
                <a:solidFill>
                  <a:srgbClr val="182C3A"/>
                </a:solidFill>
                <a:latin typeface="Arial"/>
              </a:rPr>
              <a:t>All-candidate size comparison</a:t>
            </a:r>
          </a:p>
          <a:p>
            <a:pPr algn="l">
              <a:lnSpc>
                <a:spcPts val="2176"/>
              </a:lnSpc>
              <a:spcBef>
                <a:spcPts val="0"/>
              </a:spcBef>
              <a:spcAft>
                <a:spcPts val="0"/>
              </a:spcAft>
            </a:pPr>
            <a:r>
              <a:rPr sz="1700" b="0">
                <a:solidFill>
                  <a:srgbClr val="182C3A"/>
                </a:solidFill>
                <a:latin typeface="Arial"/>
              </a:rPr>
              <a:t>No tool-selected winner</a:t>
            </a:r>
          </a:p>
        </p:txBody>
      </p:sp>
      <p:sp>
        <p:nvSpPr>
          <p:cNvPr id="18" name="TextBox 17"/>
          <p:cNvSpPr txBox="1"/>
          <p:nvPr/>
        </p:nvSpPr>
        <p:spPr>
          <a:xfrm>
            <a:off x="4517136" y="4901184"/>
            <a:ext cx="3145536" cy="210312"/>
          </a:xfrm>
          <a:prstGeom prst="rect">
            <a:avLst/>
          </a:prstGeom>
          <a:noFill/>
        </p:spPr>
        <p:txBody>
          <a:bodyPr wrap="none" lIns="0" rIns="0" tIns="0" bIns="0">
            <a:spAutoFit/>
          </a:bodyPr>
          <a:lstStyle/>
          <a:p>
            <a:pPr algn="l">
              <a:lnSpc>
                <a:spcPts val="1536"/>
              </a:lnSpc>
              <a:spcBef>
                <a:spcPts val="0"/>
              </a:spcBef>
              <a:spcAft>
                <a:spcPts val="0"/>
              </a:spcAft>
            </a:pPr>
            <a:r>
              <a:rPr sz="1200" b="0">
                <a:solidFill>
                  <a:srgbClr val="52616A"/>
                </a:solidFill>
                <a:latin typeface="Arial"/>
              </a:rPr>
              <a:t>Supports shape and size comparison.</a:t>
            </a:r>
          </a:p>
        </p:txBody>
      </p:sp>
      <p:sp>
        <p:nvSpPr>
          <p:cNvPr id="19" name="Rectangle 18"/>
          <p:cNvSpPr/>
          <p:nvPr/>
        </p:nvSpPr>
        <p:spPr>
          <a:xfrm>
            <a:off x="8110727" y="1920240"/>
            <a:ext cx="3529584" cy="33467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2752" y="2148840"/>
            <a:ext cx="548640" cy="493776"/>
          </a:xfrm>
          <a:prstGeom prst="rect">
            <a:avLst/>
          </a:prstGeom>
          <a:noFill/>
        </p:spPr>
        <p:txBody>
          <a:bodyPr wrap="none" lIns="0" rIns="0" tIns="0" bIns="0">
            <a:spAutoFit/>
          </a:bodyPr>
          <a:lstStyle/>
          <a:p>
            <a:pPr algn="l">
              <a:lnSpc>
                <a:spcPts val="3584"/>
              </a:lnSpc>
              <a:spcBef>
                <a:spcPts val="0"/>
              </a:spcBef>
              <a:spcAft>
                <a:spcPts val="0"/>
              </a:spcAft>
            </a:pPr>
            <a:r>
              <a:rPr sz="2800" b="1">
                <a:solidFill>
                  <a:srgbClr val="087F82"/>
                </a:solidFill>
                <a:latin typeface="Arial"/>
              </a:rPr>
              <a:t>03</a:t>
            </a:r>
          </a:p>
        </p:txBody>
      </p:sp>
      <p:sp>
        <p:nvSpPr>
          <p:cNvPr id="21" name="TextBox 20"/>
          <p:cNvSpPr txBox="1"/>
          <p:nvPr/>
        </p:nvSpPr>
        <p:spPr>
          <a:xfrm>
            <a:off x="9025128" y="2267712"/>
            <a:ext cx="2395728" cy="292608"/>
          </a:xfrm>
          <a:prstGeom prst="rect">
            <a:avLst/>
          </a:prstGeom>
          <a:noFill/>
        </p:spPr>
        <p:txBody>
          <a:bodyPr wrap="none" lIns="0" rIns="0" tIns="0" bIns="0">
            <a:spAutoFit/>
          </a:bodyPr>
          <a:lstStyle/>
          <a:p>
            <a:pPr algn="l">
              <a:lnSpc>
                <a:spcPts val="1792"/>
              </a:lnSpc>
              <a:spcBef>
                <a:spcPts val="0"/>
              </a:spcBef>
              <a:spcAft>
                <a:spcPts val="0"/>
              </a:spcAft>
            </a:pPr>
            <a:r>
              <a:rPr sz="1400" b="1">
                <a:solidFill>
                  <a:srgbClr val="52616A"/>
                </a:solidFill>
                <a:latin typeface="Arial"/>
              </a:rPr>
              <a:t>RGB-D</a:t>
            </a:r>
          </a:p>
        </p:txBody>
      </p:sp>
      <p:sp>
        <p:nvSpPr>
          <p:cNvPr id="22" name="TextBox 21"/>
          <p:cNvSpPr txBox="1"/>
          <p:nvPr/>
        </p:nvSpPr>
        <p:spPr>
          <a:xfrm>
            <a:off x="8302752" y="2990088"/>
            <a:ext cx="3145536" cy="493776"/>
          </a:xfrm>
          <a:prstGeom prst="rect">
            <a:avLst/>
          </a:prstGeom>
          <a:noFill/>
        </p:spPr>
        <p:txBody>
          <a:bodyPr wrap="none" lIns="0" rIns="0" tIns="0" bIns="0">
            <a:spAutoFit/>
          </a:bodyPr>
          <a:lstStyle/>
          <a:p>
            <a:pPr algn="l">
              <a:lnSpc>
                <a:spcPts val="2688"/>
              </a:lnSpc>
              <a:spcBef>
                <a:spcPts val="0"/>
              </a:spcBef>
              <a:spcAft>
                <a:spcPts val="0"/>
              </a:spcAft>
            </a:pPr>
            <a:r>
              <a:rPr sz="2100" b="1">
                <a:solidFill>
                  <a:srgbClr val="182C3A"/>
                </a:solidFill>
                <a:latin typeface="Arial"/>
              </a:rPr>
              <a:t>Observed evidence</a:t>
            </a:r>
          </a:p>
        </p:txBody>
      </p:sp>
      <p:sp>
        <p:nvSpPr>
          <p:cNvPr id="23" name="TextBox 22"/>
          <p:cNvSpPr txBox="1"/>
          <p:nvPr/>
        </p:nvSpPr>
        <p:spPr>
          <a:xfrm>
            <a:off x="8302752" y="3794760"/>
            <a:ext cx="3145536" cy="923544"/>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Neutral segments + morphology</a:t>
            </a:r>
          </a:p>
          <a:p>
            <a:pPr algn="l">
              <a:lnSpc>
                <a:spcPts val="2176"/>
              </a:lnSpc>
              <a:spcBef>
                <a:spcPts val="0"/>
              </a:spcBef>
              <a:spcAft>
                <a:spcPts val="0"/>
              </a:spcAft>
            </a:pPr>
            <a:r>
              <a:rPr sz="1700" b="0">
                <a:solidFill>
                  <a:srgbClr val="182C3A"/>
                </a:solidFill>
                <a:latin typeface="Arial"/>
              </a:rPr>
              <a:t>Bounds, centroids and layout</a:t>
            </a:r>
          </a:p>
          <a:p>
            <a:pPr algn="l">
              <a:lnSpc>
                <a:spcPts val="2176"/>
              </a:lnSpc>
              <a:spcBef>
                <a:spcPts val="0"/>
              </a:spcBef>
              <a:spcAft>
                <a:spcPts val="0"/>
              </a:spcAft>
            </a:pPr>
            <a:r>
              <a:rPr sz="1700" b="0">
                <a:solidFill>
                  <a:srgbClr val="182C3A"/>
                </a:solidFill>
                <a:latin typeface="Arial"/>
              </a:rPr>
              <a:t>Approved frame conversion</a:t>
            </a:r>
          </a:p>
        </p:txBody>
      </p:sp>
      <p:sp>
        <p:nvSpPr>
          <p:cNvPr id="24" name="TextBox 23"/>
          <p:cNvSpPr txBox="1"/>
          <p:nvPr/>
        </p:nvSpPr>
        <p:spPr>
          <a:xfrm>
            <a:off x="8302752" y="4901184"/>
            <a:ext cx="3145536" cy="210312"/>
          </a:xfrm>
          <a:prstGeom prst="rect">
            <a:avLst/>
          </a:prstGeom>
          <a:noFill/>
        </p:spPr>
        <p:txBody>
          <a:bodyPr wrap="none" lIns="0" rIns="0" tIns="0" bIns="0">
            <a:spAutoFit/>
          </a:bodyPr>
          <a:lstStyle/>
          <a:p>
            <a:pPr algn="l">
              <a:lnSpc>
                <a:spcPts val="1536"/>
              </a:lnSpc>
              <a:spcBef>
                <a:spcPts val="0"/>
              </a:spcBef>
              <a:spcAft>
                <a:spcPts val="0"/>
              </a:spcAft>
            </a:pPr>
            <a:r>
              <a:rPr sz="1200" b="0">
                <a:solidFill>
                  <a:srgbClr val="52616A"/>
                </a:solidFill>
                <a:latin typeface="Arial"/>
              </a:rPr>
              <a:t>Supports where observed objects are.</a:t>
            </a:r>
          </a:p>
        </p:txBody>
      </p:sp>
      <p:sp>
        <p:nvSpPr>
          <p:cNvPr id="25" name="Rectangle 24"/>
          <p:cNvSpPr/>
          <p:nvPr/>
        </p:nvSpPr>
        <p:spPr>
          <a:xfrm>
            <a:off x="548640" y="5596128"/>
            <a:ext cx="11091672" cy="530352"/>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5751576"/>
            <a:ext cx="10671048" cy="256032"/>
          </a:xfrm>
          <a:prstGeom prst="rect">
            <a:avLst/>
          </a:prstGeom>
          <a:noFill/>
        </p:spPr>
        <p:txBody>
          <a:bodyPr wrap="none" lIns="0" rIns="0" tIns="0" bIns="0">
            <a:spAutoFit/>
          </a:bodyPr>
          <a:lstStyle/>
          <a:p>
            <a:pPr algn="l">
              <a:lnSpc>
                <a:spcPts val="2560"/>
              </a:lnSpc>
              <a:spcBef>
                <a:spcPts val="0"/>
              </a:spcBef>
              <a:spcAft>
                <a:spcPts val="0"/>
              </a:spcAft>
            </a:pPr>
            <a:r>
              <a:rPr sz="2000" b="1">
                <a:solidFill>
                  <a:srgbClr val="087F82"/>
                </a:solidFill>
                <a:latin typeface="Arial"/>
              </a:rPr>
              <a:t>PA connects part identity, task role and the desired assembly relationship.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PHASE 4  /  VALIDATION</a:t>
            </a:r>
          </a:p>
        </p:txBody>
      </p:sp>
      <p:sp>
        <p:nvSpPr>
          <p:cNvPr id="3" name="TextBox 2"/>
          <p:cNvSpPr txBox="1"/>
          <p:nvPr/>
        </p:nvSpPr>
        <p:spPr>
          <a:xfrm>
            <a:off x="548640" y="832104"/>
            <a:ext cx="11091672" cy="585216"/>
          </a:xfrm>
          <a:prstGeom prst="rect">
            <a:avLst/>
          </a:prstGeom>
          <a:noFill/>
        </p:spPr>
        <p:txBody>
          <a:bodyPr wrap="none" lIns="0" rIns="0" tIns="0" bIns="0">
            <a:spAutoFit/>
          </a:bodyPr>
          <a:lstStyle/>
          <a:p>
            <a:pPr algn="l">
              <a:lnSpc>
                <a:spcPts val="3840"/>
              </a:lnSpc>
              <a:spcBef>
                <a:spcPts val="0"/>
              </a:spcBef>
              <a:spcAft>
                <a:spcPts val="0"/>
              </a:spcAft>
            </a:pPr>
            <a:r>
              <a:rPr sz="3000" b="1">
                <a:solidFill>
                  <a:srgbClr val="182C3A"/>
                </a:solidFill>
                <a:latin typeface="Arial"/>
              </a:rPr>
              <a:t>The host checks contracts; PA owns meaning</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8700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Current code + saved trace • 09 Sep 2026 • Sources in speaker notes</a:t>
            </a:r>
          </a:p>
        </p:txBody>
      </p:sp>
      <p:sp>
        <p:nvSpPr>
          <p:cNvPr id="6" name="TextBox 5"/>
          <p:cNvSpPr txBox="1"/>
          <p:nvPr/>
        </p:nvSpPr>
        <p:spPr>
          <a:xfrm>
            <a:off x="11009376" y="6483096"/>
            <a:ext cx="630936"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05 / 09</a:t>
            </a:r>
          </a:p>
        </p:txBody>
      </p:sp>
      <p:sp>
        <p:nvSpPr>
          <p:cNvPr id="7" name="Rectangle 6"/>
          <p:cNvSpPr/>
          <p:nvPr/>
        </p:nvSpPr>
        <p:spPr>
          <a:xfrm>
            <a:off x="548640" y="1947672"/>
            <a:ext cx="5376672" cy="323697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35624" y="1947672"/>
            <a:ext cx="5504688" cy="32369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194560"/>
            <a:ext cx="4892040" cy="457200"/>
          </a:xfrm>
          <a:prstGeom prst="rect">
            <a:avLst/>
          </a:prstGeom>
          <a:noFill/>
        </p:spPr>
        <p:txBody>
          <a:bodyPr wrap="none" lIns="0" rIns="0" tIns="0" bIns="0">
            <a:spAutoFit/>
          </a:bodyPr>
          <a:lstStyle/>
          <a:p>
            <a:pPr algn="l">
              <a:lnSpc>
                <a:spcPts val="3200"/>
              </a:lnSpc>
              <a:spcBef>
                <a:spcPts val="0"/>
              </a:spcBef>
              <a:spcAft>
                <a:spcPts val="0"/>
              </a:spcAft>
            </a:pPr>
            <a:r>
              <a:rPr sz="2500" b="1">
                <a:solidFill>
                  <a:srgbClr val="087F82"/>
                </a:solidFill>
                <a:latin typeface="Arial"/>
              </a:rPr>
              <a:t>PA authors</a:t>
            </a:r>
          </a:p>
        </p:txBody>
      </p:sp>
      <p:sp>
        <p:nvSpPr>
          <p:cNvPr id="10" name="TextBox 9"/>
          <p:cNvSpPr txBox="1"/>
          <p:nvPr/>
        </p:nvSpPr>
        <p:spPr>
          <a:xfrm>
            <a:off x="786384" y="2916936"/>
            <a:ext cx="4809744" cy="1673352"/>
          </a:xfrm>
          <a:prstGeom prst="rect">
            <a:avLst/>
          </a:prstGeom>
          <a:noFill/>
        </p:spPr>
        <p:txBody>
          <a:bodyPr wrap="none" lIns="0" rIns="0" tIns="0" bIns="0">
            <a:spAutoFit/>
          </a:bodyPr>
          <a:lstStyle/>
          <a:p>
            <a:pPr algn="l">
              <a:lnSpc>
                <a:spcPts val="2688"/>
              </a:lnSpc>
              <a:spcBef>
                <a:spcPts val="0"/>
              </a:spcBef>
              <a:spcAft>
                <a:spcPts val="0"/>
              </a:spcAft>
            </a:pPr>
            <a:r>
              <a:rPr sz="2100" b="0">
                <a:solidFill>
                  <a:srgbClr val="182C3A"/>
                </a:solidFill>
                <a:latin typeface="Arial"/>
              </a:rPr>
              <a:t>Part identities and task roles</a:t>
            </a:r>
          </a:p>
          <a:p>
            <a:pPr algn="l">
              <a:lnSpc>
                <a:spcPts val="2688"/>
              </a:lnSpc>
              <a:spcBef>
                <a:spcPts val="0"/>
              </a:spcBef>
              <a:spcAft>
                <a:spcPts val="0"/>
              </a:spcAft>
            </a:pPr>
            <a:r>
              <a:rPr sz="2100" b="0">
                <a:solidFill>
                  <a:srgbClr val="182C3A"/>
                </a:solidFill>
                <a:latin typeface="Arial"/>
              </a:rPr>
              <a:t>Current and desired state meaning</a:t>
            </a:r>
          </a:p>
          <a:p>
            <a:pPr algn="l">
              <a:lnSpc>
                <a:spcPts val="2688"/>
              </a:lnSpc>
              <a:spcBef>
                <a:spcPts val="0"/>
              </a:spcBef>
              <a:spcAft>
                <a:spcPts val="0"/>
              </a:spcAft>
            </a:pPr>
            <a:r>
              <a:rPr sz="2100" b="0">
                <a:solidFill>
                  <a:srgbClr val="182C3A"/>
                </a:solidFill>
                <a:latin typeface="Arial"/>
              </a:rPr>
              <a:t>Pairwise assembly relationships</a:t>
            </a:r>
          </a:p>
          <a:p>
            <a:pPr algn="l">
              <a:lnSpc>
                <a:spcPts val="2688"/>
              </a:lnSpc>
              <a:spcBef>
                <a:spcPts val="0"/>
              </a:spcBef>
              <a:spcAft>
                <a:spcPts val="0"/>
              </a:spcAft>
            </a:pPr>
            <a:r>
              <a:rPr sz="2100" b="0">
                <a:solidFill>
                  <a:srgbClr val="182C3A"/>
                </a:solidFill>
                <a:latin typeface="Arial"/>
              </a:rPr>
              <a:t>Coverage of the user requirement</a:t>
            </a:r>
          </a:p>
        </p:txBody>
      </p:sp>
      <p:sp>
        <p:nvSpPr>
          <p:cNvPr id="11" name="TextBox 10"/>
          <p:cNvSpPr txBox="1"/>
          <p:nvPr/>
        </p:nvSpPr>
        <p:spPr>
          <a:xfrm>
            <a:off x="6382512" y="2194560"/>
            <a:ext cx="5010912" cy="457200"/>
          </a:xfrm>
          <a:prstGeom prst="rect">
            <a:avLst/>
          </a:prstGeom>
          <a:noFill/>
        </p:spPr>
        <p:txBody>
          <a:bodyPr wrap="none" lIns="0" rIns="0" tIns="0" bIns="0">
            <a:spAutoFit/>
          </a:bodyPr>
          <a:lstStyle/>
          <a:p>
            <a:pPr algn="l">
              <a:lnSpc>
                <a:spcPts val="3200"/>
              </a:lnSpc>
              <a:spcBef>
                <a:spcPts val="0"/>
              </a:spcBef>
              <a:spcAft>
                <a:spcPts val="0"/>
              </a:spcAft>
            </a:pPr>
            <a:r>
              <a:rPr sz="2500" b="1">
                <a:solidFill>
                  <a:srgbClr val="087F82"/>
                </a:solidFill>
                <a:latin typeface="Arial"/>
              </a:rPr>
              <a:t>Host validates</a:t>
            </a:r>
          </a:p>
        </p:txBody>
      </p:sp>
      <p:sp>
        <p:nvSpPr>
          <p:cNvPr id="12" name="TextBox 11"/>
          <p:cNvSpPr txBox="1"/>
          <p:nvPr/>
        </p:nvSpPr>
        <p:spPr>
          <a:xfrm>
            <a:off x="6382512" y="2916936"/>
            <a:ext cx="4919472" cy="1673352"/>
          </a:xfrm>
          <a:prstGeom prst="rect">
            <a:avLst/>
          </a:prstGeom>
          <a:noFill/>
        </p:spPr>
        <p:txBody>
          <a:bodyPr wrap="none" lIns="0" rIns="0" tIns="0" bIns="0">
            <a:spAutoFit/>
          </a:bodyPr>
          <a:lstStyle/>
          <a:p>
            <a:pPr algn="l">
              <a:lnSpc>
                <a:spcPts val="2688"/>
              </a:lnSpc>
              <a:spcBef>
                <a:spcPts val="0"/>
              </a:spcBef>
              <a:spcAft>
                <a:spcPts val="0"/>
              </a:spcAft>
            </a:pPr>
            <a:r>
              <a:rPr sz="2100" b="0">
                <a:solidFill>
                  <a:srgbClr val="182C3A"/>
                </a:solidFill>
                <a:latin typeface="Arial"/>
              </a:rPr>
              <a:t>Schema + supplied PPR constraints</a:t>
            </a:r>
          </a:p>
          <a:p>
            <a:pPr algn="l">
              <a:lnSpc>
                <a:spcPts val="2688"/>
              </a:lnSpc>
              <a:spcBef>
                <a:spcPts val="0"/>
              </a:spcBef>
              <a:spcAft>
                <a:spcPts val="0"/>
              </a:spcAft>
            </a:pPr>
            <a:r>
              <a:rPr sz="2100" b="0">
                <a:solidFill>
                  <a:srgbClr val="182C3A"/>
                </a:solidFill>
                <a:latin typeface="Arial"/>
              </a:rPr>
              <a:t>Exact citations and typed bindings</a:t>
            </a:r>
          </a:p>
          <a:p>
            <a:pPr algn="l">
              <a:lnSpc>
                <a:spcPts val="2688"/>
              </a:lnSpc>
              <a:spcBef>
                <a:spcPts val="0"/>
              </a:spcBef>
              <a:spcAft>
                <a:spcPts val="0"/>
              </a:spcAft>
            </a:pPr>
            <a:r>
              <a:rPr sz="2100" b="0">
                <a:solidFill>
                  <a:srgbClr val="182C3A"/>
                </a:solidFill>
                <a:latin typeface="Arial"/>
              </a:rPr>
              <a:t>Hashes and source provenance</a:t>
            </a:r>
          </a:p>
          <a:p>
            <a:pPr algn="l">
              <a:lnSpc>
                <a:spcPts val="2688"/>
              </a:lnSpc>
              <a:spcBef>
                <a:spcPts val="0"/>
              </a:spcBef>
              <a:spcAft>
                <a:spcPts val="0"/>
              </a:spcAft>
            </a:pPr>
            <a:r>
              <a:rPr sz="2100" b="0">
                <a:solidFill>
                  <a:srgbClr val="182C3A"/>
                </a:solidFill>
                <a:latin typeface="Arial"/>
              </a:rPr>
              <a:t>Required current / desired locations</a:t>
            </a:r>
          </a:p>
        </p:txBody>
      </p:sp>
      <p:sp>
        <p:nvSpPr>
          <p:cNvPr id="13" name="Rectangle 12"/>
          <p:cNvSpPr/>
          <p:nvPr/>
        </p:nvSpPr>
        <p:spPr>
          <a:xfrm>
            <a:off x="548640" y="5541264"/>
            <a:ext cx="11091672" cy="594360"/>
          </a:xfrm>
          <a:prstGeom prst="rect">
            <a:avLst/>
          </a:prstGeom>
          <a:solidFill>
            <a:srgbClr val="F3EB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5696712"/>
            <a:ext cx="10680192" cy="310896"/>
          </a:xfrm>
          <a:prstGeom prst="rect">
            <a:avLst/>
          </a:prstGeom>
          <a:noFill/>
        </p:spPr>
        <p:txBody>
          <a:bodyPr wrap="none" lIns="0" rIns="0" tIns="0" bIns="0">
            <a:spAutoFit/>
          </a:bodyPr>
          <a:lstStyle/>
          <a:p>
            <a:pPr algn="l">
              <a:lnSpc>
                <a:spcPts val="2560"/>
              </a:lnSpc>
              <a:spcBef>
                <a:spcPts val="0"/>
              </a:spcBef>
              <a:spcAft>
                <a:spcPts val="0"/>
              </a:spcAft>
            </a:pPr>
            <a:r>
              <a:rPr sz="2000" b="1">
                <a:solidFill>
                  <a:srgbClr val="A66C1D"/>
                </a:solidFill>
                <a:latin typeface="Arial"/>
              </a:rPr>
              <a:t>Semantic correctness needs separate evaluation. Source uncertainty stays visible.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PHASE 4  /  RECORDED WALKTHROUGH</a:t>
            </a:r>
          </a:p>
        </p:txBody>
      </p:sp>
      <p:sp>
        <p:nvSpPr>
          <p:cNvPr id="3" name="TextBox 2"/>
          <p:cNvSpPr txBox="1"/>
          <p:nvPr/>
        </p:nvSpPr>
        <p:spPr>
          <a:xfrm>
            <a:off x="548640" y="832104"/>
            <a:ext cx="11091672" cy="585216"/>
          </a:xfrm>
          <a:prstGeom prst="rect">
            <a:avLst/>
          </a:prstGeom>
          <a:noFill/>
        </p:spPr>
        <p:txBody>
          <a:bodyPr wrap="none" lIns="0" rIns="0" tIns="0" bIns="0">
            <a:spAutoFit/>
          </a:bodyPr>
          <a:lstStyle/>
          <a:p>
            <a:pPr algn="l">
              <a:lnSpc>
                <a:spcPts val="3840"/>
              </a:lnSpc>
              <a:spcBef>
                <a:spcPts val="0"/>
              </a:spcBef>
              <a:spcAft>
                <a:spcPts val="0"/>
              </a:spcAft>
            </a:pPr>
            <a:r>
              <a:rPr sz="3000" b="1">
                <a:solidFill>
                  <a:srgbClr val="182C3A"/>
                </a:solidFill>
                <a:latin typeface="Arial"/>
              </a:rPr>
              <a:t>Saved example: “assemble medium gear.”</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8700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Current code + saved trace • 09 Sep 2026 • Sources in speaker notes</a:t>
            </a:r>
          </a:p>
        </p:txBody>
      </p:sp>
      <p:sp>
        <p:nvSpPr>
          <p:cNvPr id="6" name="TextBox 5"/>
          <p:cNvSpPr txBox="1"/>
          <p:nvPr/>
        </p:nvSpPr>
        <p:spPr>
          <a:xfrm>
            <a:off x="11009376" y="6483096"/>
            <a:ext cx="630936"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06 / 09</a:t>
            </a:r>
          </a:p>
        </p:txBody>
      </p:sp>
      <p:sp>
        <p:nvSpPr>
          <p:cNvPr id="7" name="Rectangle 6"/>
          <p:cNvSpPr/>
          <p:nvPr/>
        </p:nvSpPr>
        <p:spPr>
          <a:xfrm>
            <a:off x="548640" y="1783080"/>
            <a:ext cx="2834640" cy="33741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75304" y="1783080"/>
            <a:ext cx="3867912" cy="33741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56816"/>
            <a:ext cx="2468880" cy="274320"/>
          </a:xfrm>
          <a:prstGeom prst="rect">
            <a:avLst/>
          </a:prstGeom>
          <a:noFill/>
        </p:spPr>
        <p:txBody>
          <a:bodyPr wrap="none" lIns="0" rIns="0" tIns="0" bIns="0">
            <a:spAutoFit/>
          </a:bodyPr>
          <a:lstStyle/>
          <a:p>
            <a:pPr algn="l">
              <a:lnSpc>
                <a:spcPts val="2048"/>
              </a:lnSpc>
              <a:spcBef>
                <a:spcPts val="0"/>
              </a:spcBef>
              <a:spcAft>
                <a:spcPts val="0"/>
              </a:spcAft>
            </a:pPr>
            <a:r>
              <a:rPr sz="1600" b="1">
                <a:solidFill>
                  <a:srgbClr val="52616A"/>
                </a:solidFill>
                <a:latin typeface="Arial"/>
              </a:rPr>
              <a:t>Observed candidate crop</a:t>
            </a:r>
          </a:p>
        </p:txBody>
      </p:sp>
      <p:sp>
        <p:nvSpPr>
          <p:cNvPr id="10" name="TextBox 9"/>
          <p:cNvSpPr txBox="1"/>
          <p:nvPr/>
        </p:nvSpPr>
        <p:spPr>
          <a:xfrm>
            <a:off x="3758184" y="1956816"/>
            <a:ext cx="3502152" cy="274320"/>
          </a:xfrm>
          <a:prstGeom prst="rect">
            <a:avLst/>
          </a:prstGeom>
          <a:noFill/>
        </p:spPr>
        <p:txBody>
          <a:bodyPr wrap="none" lIns="0" rIns="0" tIns="0" bIns="0">
            <a:spAutoFit/>
          </a:bodyPr>
          <a:lstStyle/>
          <a:p>
            <a:pPr algn="l">
              <a:lnSpc>
                <a:spcPts val="2048"/>
              </a:lnSpc>
              <a:spcBef>
                <a:spcPts val="0"/>
              </a:spcBef>
              <a:spcAft>
                <a:spcPts val="0"/>
              </a:spcAft>
            </a:pPr>
            <a:r>
              <a:rPr sz="1600" b="1">
                <a:solidFill>
                  <a:srgbClr val="52616A"/>
                </a:solidFill>
                <a:latin typeface="Arial"/>
              </a:rPr>
              <a:t>Observed assembly workspace</a:t>
            </a:r>
          </a:p>
        </p:txBody>
      </p:sp>
      <p:pic>
        <p:nvPicPr>
          <p:cNvPr id="11" name="Picture 10" descr="view_0003_candidate_0003_0002.png"/>
          <p:cNvPicPr>
            <a:picLocks noChangeAspect="1"/>
          </p:cNvPicPr>
          <p:nvPr/>
        </p:nvPicPr>
        <p:blipFill>
          <a:blip r:embed="rId2"/>
          <a:stretch>
            <a:fillRect/>
          </a:stretch>
        </p:blipFill>
        <p:spPr>
          <a:xfrm>
            <a:off x="891540" y="2432304"/>
            <a:ext cx="2139696" cy="2139696"/>
          </a:xfrm>
          <a:prstGeom prst="rect">
            <a:avLst/>
          </a:prstGeom>
        </p:spPr>
      </p:pic>
      <p:pic>
        <p:nvPicPr>
          <p:cNvPr id="12" name="Picture 11" descr="cam_assembly_rgb.png"/>
          <p:cNvPicPr>
            <a:picLocks noChangeAspect="1"/>
          </p:cNvPicPr>
          <p:nvPr/>
        </p:nvPicPr>
        <p:blipFill>
          <a:blip r:embed="rId3"/>
          <a:stretch>
            <a:fillRect/>
          </a:stretch>
        </p:blipFill>
        <p:spPr>
          <a:xfrm>
            <a:off x="3777996" y="2404872"/>
            <a:ext cx="3462528" cy="2596896"/>
          </a:xfrm>
          <a:prstGeom prst="rect">
            <a:avLst/>
          </a:prstGeom>
        </p:spPr>
      </p:pic>
      <p:sp>
        <p:nvSpPr>
          <p:cNvPr id="13" name="TextBox 12"/>
          <p:cNvSpPr txBox="1"/>
          <p:nvPr/>
        </p:nvSpPr>
        <p:spPr>
          <a:xfrm>
            <a:off x="758952" y="4745736"/>
            <a:ext cx="2404872" cy="228600"/>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PA binding: medium gear</a:t>
            </a:r>
          </a:p>
        </p:txBody>
      </p:sp>
      <p:sp>
        <p:nvSpPr>
          <p:cNvPr id="14" name="Rectangle 13"/>
          <p:cNvSpPr/>
          <p:nvPr/>
        </p:nvSpPr>
        <p:spPr>
          <a:xfrm>
            <a:off x="7644383" y="1783080"/>
            <a:ext cx="3995928" cy="337413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1984248"/>
            <a:ext cx="3557016" cy="274320"/>
          </a:xfrm>
          <a:prstGeom prst="rect">
            <a:avLst/>
          </a:prstGeom>
          <a:noFill/>
        </p:spPr>
        <p:txBody>
          <a:bodyPr wrap="none" lIns="0" rIns="0" tIns="0" bIns="0">
            <a:spAutoFit/>
          </a:bodyPr>
          <a:lstStyle/>
          <a:p>
            <a:pPr algn="l">
              <a:lnSpc>
                <a:spcPts val="1664"/>
              </a:lnSpc>
              <a:spcBef>
                <a:spcPts val="0"/>
              </a:spcBef>
              <a:spcAft>
                <a:spcPts val="0"/>
              </a:spcAft>
            </a:pPr>
            <a:r>
              <a:rPr sz="1300" b="1">
                <a:solidFill>
                  <a:srgbClr val="087F82"/>
                </a:solidFill>
                <a:latin typeface="Arial"/>
              </a:rPr>
              <a:t>PA’S SAVED INTERPRETATION</a:t>
            </a:r>
          </a:p>
        </p:txBody>
      </p:sp>
      <p:sp>
        <p:nvSpPr>
          <p:cNvPr id="16" name="TextBox 15"/>
          <p:cNvSpPr txBox="1"/>
          <p:nvPr/>
        </p:nvSpPr>
        <p:spPr>
          <a:xfrm>
            <a:off x="7863840" y="2569464"/>
            <a:ext cx="3547872" cy="274320"/>
          </a:xfrm>
          <a:prstGeom prst="rect">
            <a:avLst/>
          </a:prstGeom>
          <a:noFill/>
        </p:spPr>
        <p:txBody>
          <a:bodyPr wrap="none" lIns="0" rIns="0" tIns="0" bIns="0">
            <a:spAutoFit/>
          </a:bodyPr>
          <a:lstStyle/>
          <a:p>
            <a:pPr algn="l">
              <a:lnSpc>
                <a:spcPts val="2304"/>
              </a:lnSpc>
              <a:spcBef>
                <a:spcPts val="0"/>
              </a:spcBef>
              <a:spcAft>
                <a:spcPts val="0"/>
              </a:spcAft>
            </a:pPr>
            <a:r>
              <a:rPr sz="1800" b="1">
                <a:solidFill>
                  <a:srgbClr val="182C3A"/>
                </a:solidFill>
                <a:latin typeface="Courier New"/>
              </a:rPr>
              <a:t>current_state</a:t>
            </a:r>
          </a:p>
        </p:txBody>
      </p:sp>
      <p:sp>
        <p:nvSpPr>
          <p:cNvPr id="17" name="TextBox 16"/>
          <p:cNvSpPr txBox="1"/>
          <p:nvPr/>
        </p:nvSpPr>
        <p:spPr>
          <a:xfrm>
            <a:off x="7863840" y="2935224"/>
            <a:ext cx="3547872" cy="603504"/>
          </a:xfrm>
          <a:prstGeom prst="rect">
            <a:avLst/>
          </a:prstGeom>
          <a:noFill/>
        </p:spPr>
        <p:txBody>
          <a:bodyPr wrap="none" lIns="0" rIns="0" tIns="0" bIns="0">
            <a:spAutoFit/>
          </a:bodyPr>
          <a:lstStyle/>
          <a:p>
            <a:pPr algn="l">
              <a:lnSpc>
                <a:spcPts val="2432"/>
              </a:lnSpc>
              <a:spcBef>
                <a:spcPts val="0"/>
              </a:spcBef>
              <a:spcAft>
                <a:spcPts val="0"/>
              </a:spcAft>
            </a:pPr>
            <a:r>
              <a:rPr sz="1900" b="0">
                <a:solidFill>
                  <a:srgbClr val="182C3A"/>
                </a:solidFill>
                <a:latin typeface="Arial"/>
              </a:rPr>
              <a:t>medium gear separate from</a:t>
            </a:r>
          </a:p>
          <a:p>
            <a:pPr algn="l">
              <a:lnSpc>
                <a:spcPts val="2432"/>
              </a:lnSpc>
              <a:spcBef>
                <a:spcPts val="0"/>
              </a:spcBef>
              <a:spcAft>
                <a:spcPts val="0"/>
              </a:spcAft>
            </a:pPr>
            <a:r>
              <a:rPr sz="1900" b="0">
                <a:solidFill>
                  <a:srgbClr val="182C3A"/>
                </a:solidFill>
                <a:latin typeface="Arial"/>
              </a:rPr>
              <a:t>its intended middle gear shaft</a:t>
            </a:r>
          </a:p>
        </p:txBody>
      </p:sp>
      <p:sp>
        <p:nvSpPr>
          <p:cNvPr id="18" name="TextBox 17"/>
          <p:cNvSpPr txBox="1"/>
          <p:nvPr/>
        </p:nvSpPr>
        <p:spPr>
          <a:xfrm>
            <a:off x="7863840" y="3803904"/>
            <a:ext cx="3547872" cy="274320"/>
          </a:xfrm>
          <a:prstGeom prst="rect">
            <a:avLst/>
          </a:prstGeom>
          <a:noFill/>
        </p:spPr>
        <p:txBody>
          <a:bodyPr wrap="none" lIns="0" rIns="0" tIns="0" bIns="0">
            <a:spAutoFit/>
          </a:bodyPr>
          <a:lstStyle/>
          <a:p>
            <a:pPr algn="l">
              <a:lnSpc>
                <a:spcPts val="2304"/>
              </a:lnSpc>
              <a:spcBef>
                <a:spcPts val="0"/>
              </a:spcBef>
              <a:spcAft>
                <a:spcPts val="0"/>
              </a:spcAft>
            </a:pPr>
            <a:r>
              <a:rPr sz="1800" b="1">
                <a:solidFill>
                  <a:srgbClr val="182C3A"/>
                </a:solidFill>
                <a:latin typeface="Courier New"/>
              </a:rPr>
              <a:t>desired_state</a:t>
            </a:r>
          </a:p>
        </p:txBody>
      </p:sp>
      <p:sp>
        <p:nvSpPr>
          <p:cNvPr id="19" name="TextBox 18"/>
          <p:cNvSpPr txBox="1"/>
          <p:nvPr/>
        </p:nvSpPr>
        <p:spPr>
          <a:xfrm>
            <a:off x="7863840" y="4178808"/>
            <a:ext cx="3547872" cy="621792"/>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medium gear mounted on the</a:t>
            </a:r>
          </a:p>
          <a:p>
            <a:pPr algn="l">
              <a:lnSpc>
                <a:spcPts val="2304"/>
              </a:lnSpc>
              <a:spcBef>
                <a:spcPts val="0"/>
              </a:spcBef>
              <a:spcAft>
                <a:spcPts val="0"/>
              </a:spcAft>
            </a:pPr>
            <a:r>
              <a:rPr sz="1800" b="0">
                <a:solidFill>
                  <a:srgbClr val="182C3A"/>
                </a:solidFill>
                <a:latin typeface="Arial"/>
              </a:rPr>
              <a:t>middle gear shaft of the gear plate</a:t>
            </a:r>
          </a:p>
        </p:txBody>
      </p:sp>
      <p:sp>
        <p:nvSpPr>
          <p:cNvPr id="20" name="TextBox 19"/>
          <p:cNvSpPr txBox="1"/>
          <p:nvPr/>
        </p:nvSpPr>
        <p:spPr>
          <a:xfrm>
            <a:off x="576072" y="5431536"/>
            <a:ext cx="11009376" cy="411480"/>
          </a:xfrm>
          <a:prstGeom prst="rect">
            <a:avLst/>
          </a:prstGeom>
          <a:noFill/>
        </p:spPr>
        <p:txBody>
          <a:bodyPr wrap="none" lIns="0" rIns="0" tIns="0" bIns="0">
            <a:spAutoFit/>
          </a:bodyPr>
          <a:lstStyle/>
          <a:p>
            <a:pPr algn="l">
              <a:lnSpc>
                <a:spcPts val="2688"/>
              </a:lnSpc>
              <a:spcBef>
                <a:spcPts val="0"/>
              </a:spcBef>
              <a:spcAft>
                <a:spcPts val="0"/>
              </a:spcAft>
            </a:pPr>
            <a:r>
              <a:rPr sz="2100" b="1">
                <a:solidFill>
                  <a:srgbClr val="182C3A"/>
                </a:solidFill>
                <a:latin typeface="Arial"/>
              </a:rPr>
              <a:t>The shaft provides an observed reference; a final gear pose is still unspecified.</a:t>
            </a:r>
          </a:p>
        </p:txBody>
      </p:sp>
      <p:sp>
        <p:nvSpPr>
          <p:cNvPr id="21" name="TextBox 20"/>
          <p:cNvSpPr txBox="1"/>
          <p:nvPr/>
        </p:nvSpPr>
        <p:spPr>
          <a:xfrm>
            <a:off x="576072" y="5934456"/>
            <a:ext cx="11009376" cy="210312"/>
          </a:xfrm>
          <a:prstGeom prst="rect">
            <a:avLst/>
          </a:prstGeom>
          <a:noFill/>
        </p:spPr>
        <p:txBody>
          <a:bodyPr wrap="none" lIns="0" rIns="0" tIns="0" bIns="0">
            <a:spAutoFit/>
          </a:bodyPr>
          <a:lstStyle/>
          <a:p>
            <a:pPr algn="l">
              <a:lnSpc>
                <a:spcPts val="1536"/>
              </a:lnSpc>
              <a:spcBef>
                <a:spcPts val="0"/>
              </a:spcBef>
              <a:spcAft>
                <a:spcPts val="0"/>
              </a:spcAft>
            </a:pPr>
            <a:r>
              <a:rPr sz="1200" b="0">
                <a:solidFill>
                  <a:srgbClr val="52616A"/>
                </a:solidFill>
                <a:latin typeface="Arial"/>
              </a:rPr>
              <a:t>Saved trace: 9 evidence operations • 1 proposal • Images are observed references; task correctness was not independently scored 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PHASE 4  /  ONTOLOGY</a:t>
            </a:r>
          </a:p>
        </p:txBody>
      </p:sp>
      <p:sp>
        <p:nvSpPr>
          <p:cNvPr id="3" name="TextBox 2"/>
          <p:cNvSpPr txBox="1"/>
          <p:nvPr/>
        </p:nvSpPr>
        <p:spPr>
          <a:xfrm>
            <a:off x="548640" y="832104"/>
            <a:ext cx="11091672" cy="585216"/>
          </a:xfrm>
          <a:prstGeom prst="rect">
            <a:avLst/>
          </a:prstGeom>
          <a:noFill/>
        </p:spPr>
        <p:txBody>
          <a:bodyPr wrap="none" lIns="0" rIns="0" tIns="0" bIns="0">
            <a:spAutoFit/>
          </a:bodyPr>
          <a:lstStyle/>
          <a:p>
            <a:pPr algn="l">
              <a:lnSpc>
                <a:spcPts val="3840"/>
              </a:lnSpc>
              <a:spcBef>
                <a:spcPts val="0"/>
              </a:spcBef>
              <a:spcAft>
                <a:spcPts val="0"/>
              </a:spcAft>
            </a:pPr>
            <a:r>
              <a:rPr sz="3000" b="1">
                <a:solidFill>
                  <a:srgbClr val="182C3A"/>
                </a:solidFill>
                <a:latin typeface="Arial"/>
              </a:rPr>
              <a:t>One desired relationship links two grounded features</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8700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Current code + saved trace • 09 Sep 2026 • Sources in speaker notes</a:t>
            </a:r>
          </a:p>
        </p:txBody>
      </p:sp>
      <p:sp>
        <p:nvSpPr>
          <p:cNvPr id="6" name="TextBox 5"/>
          <p:cNvSpPr txBox="1"/>
          <p:nvPr/>
        </p:nvSpPr>
        <p:spPr>
          <a:xfrm>
            <a:off x="11009376" y="6483096"/>
            <a:ext cx="630936"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07 / 09</a:t>
            </a:r>
          </a:p>
        </p:txBody>
      </p:sp>
      <p:sp>
        <p:nvSpPr>
          <p:cNvPr id="7" name="Rectangle 6"/>
          <p:cNvSpPr/>
          <p:nvPr/>
        </p:nvSpPr>
        <p:spPr>
          <a:xfrm>
            <a:off x="3913632" y="1627632"/>
            <a:ext cx="4370832"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50791" y="1783080"/>
            <a:ext cx="4096512" cy="246888"/>
          </a:xfrm>
          <a:prstGeom prst="rect">
            <a:avLst/>
          </a:prstGeom>
          <a:noFill/>
        </p:spPr>
        <p:txBody>
          <a:bodyPr wrap="none" lIns="0" rIns="0" tIns="0" bIns="0">
            <a:spAutoFit/>
          </a:bodyPr>
          <a:lstStyle/>
          <a:p>
            <a:pPr algn="ctr">
              <a:lnSpc>
                <a:spcPts val="2432"/>
              </a:lnSpc>
              <a:spcBef>
                <a:spcPts val="0"/>
              </a:spcBef>
              <a:spcAft>
                <a:spcPts val="0"/>
              </a:spcAft>
            </a:pPr>
            <a:r>
              <a:rPr sz="1900" b="1">
                <a:solidFill>
                  <a:srgbClr val="182C3A"/>
                </a:solidFill>
                <a:latin typeface="Arial"/>
              </a:rPr>
              <a:t>Assembly: gear plate assembly</a:t>
            </a:r>
          </a:p>
        </p:txBody>
      </p:sp>
      <p:cxnSp>
        <p:nvCxnSpPr>
          <p:cNvPr id="9" name="Connector 8"/>
          <p:cNvCxnSpPr/>
          <p:nvPr/>
        </p:nvCxnSpPr>
        <p:spPr>
          <a:xfrm>
            <a:off x="6089904" y="2194560"/>
            <a:ext cx="0" cy="493776"/>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419088" y="2313432"/>
            <a:ext cx="4809744" cy="228600"/>
          </a:xfrm>
          <a:prstGeom prst="rect">
            <a:avLst/>
          </a:prstGeom>
          <a:noFill/>
        </p:spPr>
        <p:txBody>
          <a:bodyPr wrap="none" lIns="0" rIns="0" tIns="0" bIns="0">
            <a:spAutoFit/>
          </a:bodyPr>
          <a:lstStyle/>
          <a:p>
            <a:pPr algn="l">
              <a:lnSpc>
                <a:spcPts val="1664"/>
              </a:lnSpc>
              <a:spcBef>
                <a:spcPts val="0"/>
              </a:spcBef>
              <a:spcAft>
                <a:spcPts val="0"/>
              </a:spcAft>
            </a:pPr>
            <a:r>
              <a:rPr sz="1300" b="0">
                <a:solidFill>
                  <a:srgbClr val="52616A"/>
                </a:solidFill>
                <a:latin typeface="Courier New"/>
              </a:rPr>
              <a:t>hasAssemblyFeatureAssociation</a:t>
            </a:r>
          </a:p>
        </p:txBody>
      </p:sp>
      <p:sp>
        <p:nvSpPr>
          <p:cNvPr id="11" name="Rectangle 10"/>
          <p:cNvSpPr/>
          <p:nvPr/>
        </p:nvSpPr>
        <p:spPr>
          <a:xfrm>
            <a:off x="3547872" y="2724912"/>
            <a:ext cx="5093208" cy="90525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2880360"/>
            <a:ext cx="4782312" cy="320040"/>
          </a:xfrm>
          <a:prstGeom prst="rect">
            <a:avLst/>
          </a:prstGeom>
          <a:noFill/>
        </p:spPr>
        <p:txBody>
          <a:bodyPr wrap="none" lIns="0" rIns="0" tIns="0" bIns="0">
            <a:spAutoFit/>
          </a:bodyPr>
          <a:lstStyle/>
          <a:p>
            <a:pPr algn="ctr">
              <a:lnSpc>
                <a:spcPts val="2816"/>
              </a:lnSpc>
              <a:spcBef>
                <a:spcPts val="0"/>
              </a:spcBef>
              <a:spcAft>
                <a:spcPts val="0"/>
              </a:spcAft>
            </a:pPr>
            <a:r>
              <a:rPr sz="2200" b="1">
                <a:solidFill>
                  <a:srgbClr val="087F82"/>
                </a:solidFill>
                <a:latin typeface="Arial"/>
              </a:rPr>
              <a:t>AssemblyFeatureAssociation</a:t>
            </a:r>
          </a:p>
        </p:txBody>
      </p:sp>
      <p:sp>
        <p:nvSpPr>
          <p:cNvPr id="13" name="TextBox 12"/>
          <p:cNvSpPr txBox="1"/>
          <p:nvPr/>
        </p:nvSpPr>
        <p:spPr>
          <a:xfrm>
            <a:off x="3703320" y="3337560"/>
            <a:ext cx="4782312" cy="219456"/>
          </a:xfrm>
          <a:prstGeom prst="rect">
            <a:avLst/>
          </a:prstGeom>
          <a:noFill/>
        </p:spPr>
        <p:txBody>
          <a:bodyPr wrap="none" lIns="0" rIns="0" tIns="0" bIns="0">
            <a:spAutoFit/>
          </a:bodyPr>
          <a:lstStyle/>
          <a:p>
            <a:pPr algn="ctr">
              <a:lnSpc>
                <a:spcPts val="1792"/>
              </a:lnSpc>
              <a:spcBef>
                <a:spcPts val="0"/>
              </a:spcBef>
              <a:spcAft>
                <a:spcPts val="0"/>
              </a:spcAft>
            </a:pPr>
            <a:r>
              <a:rPr sz="1400" b="0">
                <a:solidFill>
                  <a:srgbClr val="182C3A"/>
                </a:solidFill>
                <a:latin typeface="Courier New"/>
              </a:rPr>
              <a:t>state_names: ["desired_state"]</a:t>
            </a:r>
          </a:p>
        </p:txBody>
      </p:sp>
      <p:cxnSp>
        <p:nvCxnSpPr>
          <p:cNvPr id="14" name="Connector 13"/>
          <p:cNvCxnSpPr/>
          <p:nvPr/>
        </p:nvCxnSpPr>
        <p:spPr>
          <a:xfrm flipH="1">
            <a:off x="2980944" y="3630168"/>
            <a:ext cx="950976" cy="658368"/>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257031" y="3630168"/>
            <a:ext cx="950977" cy="658368"/>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8368" y="3803904"/>
            <a:ext cx="3639312" cy="228600"/>
          </a:xfrm>
          <a:prstGeom prst="rect">
            <a:avLst/>
          </a:prstGeom>
          <a:noFill/>
        </p:spPr>
        <p:txBody>
          <a:bodyPr wrap="none" lIns="0" rIns="0" tIns="0" bIns="0">
            <a:spAutoFit/>
          </a:bodyPr>
          <a:lstStyle/>
          <a:p>
            <a:pPr algn="l">
              <a:lnSpc>
                <a:spcPts val="1664"/>
              </a:lnSpc>
              <a:spcBef>
                <a:spcPts val="0"/>
              </a:spcBef>
              <a:spcAft>
                <a:spcPts val="0"/>
              </a:spcAft>
            </a:pPr>
            <a:r>
              <a:rPr sz="1300" b="0">
                <a:solidFill>
                  <a:srgbClr val="52616A"/>
                </a:solidFill>
                <a:latin typeface="Courier New"/>
              </a:rPr>
              <a:t>relatesAssemblyFeature</a:t>
            </a:r>
          </a:p>
        </p:txBody>
      </p:sp>
      <p:sp>
        <p:nvSpPr>
          <p:cNvPr id="17" name="TextBox 16"/>
          <p:cNvSpPr txBox="1"/>
          <p:nvPr/>
        </p:nvSpPr>
        <p:spPr>
          <a:xfrm>
            <a:off x="7982712" y="3803904"/>
            <a:ext cx="3639312" cy="228600"/>
          </a:xfrm>
          <a:prstGeom prst="rect">
            <a:avLst/>
          </a:prstGeom>
          <a:noFill/>
        </p:spPr>
        <p:txBody>
          <a:bodyPr wrap="none" lIns="0" rIns="0" tIns="0" bIns="0">
            <a:spAutoFit/>
          </a:bodyPr>
          <a:lstStyle/>
          <a:p>
            <a:pPr algn="r">
              <a:lnSpc>
                <a:spcPts val="1664"/>
              </a:lnSpc>
              <a:spcBef>
                <a:spcPts val="0"/>
              </a:spcBef>
              <a:spcAft>
                <a:spcPts val="0"/>
              </a:spcAft>
            </a:pPr>
            <a:r>
              <a:rPr sz="1300" b="0">
                <a:solidFill>
                  <a:srgbClr val="52616A"/>
                </a:solidFill>
                <a:latin typeface="Courier New"/>
              </a:rPr>
              <a:t>relatesAssemblyFeature</a:t>
            </a:r>
          </a:p>
        </p:txBody>
      </p:sp>
      <p:sp>
        <p:nvSpPr>
          <p:cNvPr id="18" name="Rectangle 17"/>
          <p:cNvSpPr/>
          <p:nvPr/>
        </p:nvSpPr>
        <p:spPr>
          <a:xfrm>
            <a:off x="548640" y="4334256"/>
            <a:ext cx="5376672" cy="1216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4334256"/>
            <a:ext cx="5495544" cy="1216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553712"/>
            <a:ext cx="4974336" cy="347472"/>
          </a:xfrm>
          <a:prstGeom prst="rect">
            <a:avLst/>
          </a:prstGeom>
          <a:noFill/>
        </p:spPr>
        <p:txBody>
          <a:bodyPr wrap="none" lIns="0" rIns="0" tIns="0" bIns="0">
            <a:spAutoFit/>
          </a:bodyPr>
          <a:lstStyle/>
          <a:p>
            <a:pPr algn="l">
              <a:lnSpc>
                <a:spcPts val="2688"/>
              </a:lnSpc>
              <a:spcBef>
                <a:spcPts val="0"/>
              </a:spcBef>
              <a:spcAft>
                <a:spcPts val="0"/>
              </a:spcAft>
            </a:pPr>
            <a:r>
              <a:rPr sz="2100" b="1">
                <a:solidFill>
                  <a:srgbClr val="182C3A"/>
                </a:solidFill>
                <a:latin typeface="Arial"/>
              </a:rPr>
              <a:t>medium gear central bore</a:t>
            </a:r>
          </a:p>
        </p:txBody>
      </p:sp>
      <p:sp>
        <p:nvSpPr>
          <p:cNvPr id="21" name="TextBox 20"/>
          <p:cNvSpPr txBox="1"/>
          <p:nvPr/>
        </p:nvSpPr>
        <p:spPr>
          <a:xfrm>
            <a:off x="749808" y="5074920"/>
            <a:ext cx="4974336" cy="256032"/>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52616A"/>
                </a:solidFill>
                <a:latin typeface="Arial"/>
              </a:rPr>
              <a:t>Binding: current_state → medium gear current location</a:t>
            </a:r>
          </a:p>
        </p:txBody>
      </p:sp>
      <p:sp>
        <p:nvSpPr>
          <p:cNvPr id="22" name="TextBox 21"/>
          <p:cNvSpPr txBox="1"/>
          <p:nvPr/>
        </p:nvSpPr>
        <p:spPr>
          <a:xfrm>
            <a:off x="6355080" y="4553712"/>
            <a:ext cx="5074920" cy="347472"/>
          </a:xfrm>
          <a:prstGeom prst="rect">
            <a:avLst/>
          </a:prstGeom>
          <a:noFill/>
        </p:spPr>
        <p:txBody>
          <a:bodyPr wrap="none" lIns="0" rIns="0" tIns="0" bIns="0">
            <a:spAutoFit/>
          </a:bodyPr>
          <a:lstStyle/>
          <a:p>
            <a:pPr algn="l">
              <a:lnSpc>
                <a:spcPts val="2688"/>
              </a:lnSpc>
              <a:spcBef>
                <a:spcPts val="0"/>
              </a:spcBef>
              <a:spcAft>
                <a:spcPts val="0"/>
              </a:spcAft>
            </a:pPr>
            <a:r>
              <a:rPr sz="2100" b="1">
                <a:solidFill>
                  <a:srgbClr val="182C3A"/>
                </a:solidFill>
                <a:latin typeface="Arial"/>
              </a:rPr>
              <a:t>middle gear shaft mounting surface</a:t>
            </a:r>
          </a:p>
        </p:txBody>
      </p:sp>
      <p:sp>
        <p:nvSpPr>
          <p:cNvPr id="23" name="TextBox 22"/>
          <p:cNvSpPr txBox="1"/>
          <p:nvPr/>
        </p:nvSpPr>
        <p:spPr>
          <a:xfrm>
            <a:off x="6355080" y="5029200"/>
            <a:ext cx="5074920" cy="457200"/>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52616A"/>
                </a:solidFill>
                <a:latin typeface="Arial"/>
              </a:rPr>
              <a:t>Binding: desired_state →</a:t>
            </a:r>
          </a:p>
          <a:p>
            <a:pPr algn="l">
              <a:lnSpc>
                <a:spcPts val="1792"/>
              </a:lnSpc>
              <a:spcBef>
                <a:spcPts val="0"/>
              </a:spcBef>
              <a:spcAft>
                <a:spcPts val="0"/>
              </a:spcAft>
            </a:pPr>
            <a:r>
              <a:rPr sz="1400" b="0">
                <a:solidFill>
                  <a:srgbClr val="52616A"/>
                </a:solidFill>
                <a:latin typeface="Arial"/>
              </a:rPr>
              <a:t>observed middle gear shaft destination reference</a:t>
            </a:r>
          </a:p>
        </p:txBody>
      </p:sp>
      <p:sp>
        <p:nvSpPr>
          <p:cNvPr id="24" name="TextBox 23"/>
          <p:cNvSpPr txBox="1"/>
          <p:nvPr/>
        </p:nvSpPr>
        <p:spPr>
          <a:xfrm>
            <a:off x="594360" y="5897880"/>
            <a:ext cx="10972800" cy="292608"/>
          </a:xfrm>
          <a:prstGeom prst="rect">
            <a:avLst/>
          </a:prstGeom>
          <a:noFill/>
        </p:spPr>
        <p:txBody>
          <a:bodyPr wrap="none" lIns="0" rIns="0" tIns="0" bIns="0">
            <a:spAutoFit/>
          </a:bodyPr>
          <a:lstStyle/>
          <a:p>
            <a:pPr algn="l">
              <a:lnSpc>
                <a:spcPts val="2688"/>
              </a:lnSpc>
              <a:spcBef>
                <a:spcPts val="0"/>
              </a:spcBef>
              <a:spcAft>
                <a:spcPts val="0"/>
              </a:spcAft>
            </a:pPr>
            <a:r>
              <a:rPr sz="2100" b="1">
                <a:solidFill>
                  <a:srgbClr val="087F82"/>
                </a:solidFill>
                <a:latin typeface="Arial"/>
              </a:rPr>
              <a:t>Association membership and endpoint observation bindings are independent.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PHASE 4  /  RESOURCE ASSIGNMENT</a:t>
            </a:r>
          </a:p>
        </p:txBody>
      </p:sp>
      <p:sp>
        <p:nvSpPr>
          <p:cNvPr id="3" name="TextBox 2"/>
          <p:cNvSpPr txBox="1"/>
          <p:nvPr/>
        </p:nvSpPr>
        <p:spPr>
          <a:xfrm>
            <a:off x="548640" y="832104"/>
            <a:ext cx="11091672" cy="585216"/>
          </a:xfrm>
          <a:prstGeom prst="rect">
            <a:avLst/>
          </a:prstGeom>
          <a:noFill/>
        </p:spPr>
        <p:txBody>
          <a:bodyPr wrap="none" lIns="0" rIns="0" tIns="0" bIns="0">
            <a:spAutoFit/>
          </a:bodyPr>
          <a:lstStyle/>
          <a:p>
            <a:pPr algn="l">
              <a:lnSpc>
                <a:spcPts val="3840"/>
              </a:lnSpc>
              <a:spcBef>
                <a:spcPts val="0"/>
              </a:spcBef>
              <a:spcAft>
                <a:spcPts val="0"/>
              </a:spcAft>
            </a:pPr>
            <a:r>
              <a:rPr sz="3000" b="1">
                <a:solidFill>
                  <a:srgbClr val="182C3A"/>
                </a:solidFill>
                <a:latin typeface="Arial"/>
              </a:rPr>
              <a:t>PA checks every capable arm before selecting</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8700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Current code + saved trace • 09 Sep 2026 • Sources in speaker notes</a:t>
            </a:r>
          </a:p>
        </p:txBody>
      </p:sp>
      <p:sp>
        <p:nvSpPr>
          <p:cNvPr id="6" name="TextBox 5"/>
          <p:cNvSpPr txBox="1"/>
          <p:nvPr/>
        </p:nvSpPr>
        <p:spPr>
          <a:xfrm>
            <a:off x="11009376" y="6483096"/>
            <a:ext cx="630936"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08 / 09</a:t>
            </a:r>
          </a:p>
        </p:txBody>
      </p:sp>
      <p:sp>
        <p:nvSpPr>
          <p:cNvPr id="7" name="TextBox 6"/>
          <p:cNvSpPr txBox="1"/>
          <p:nvPr/>
        </p:nvSpPr>
        <p:spPr>
          <a:xfrm>
            <a:off x="585216" y="1700784"/>
            <a:ext cx="10917936" cy="374904"/>
          </a:xfrm>
          <a:prstGeom prst="rect">
            <a:avLst/>
          </a:prstGeom>
          <a:noFill/>
        </p:spPr>
        <p:txBody>
          <a:bodyPr wrap="none" lIns="0" rIns="0" tIns="0" bIns="0">
            <a:spAutoFit/>
          </a:bodyPr>
          <a:lstStyle/>
          <a:p>
            <a:pPr algn="l">
              <a:lnSpc>
                <a:spcPts val="2688"/>
              </a:lnSpc>
              <a:spcBef>
                <a:spcPts val="0"/>
              </a:spcBef>
              <a:spcAft>
                <a:spcPts val="0"/>
              </a:spcAft>
            </a:pPr>
            <a:r>
              <a:rPr sz="2100" b="0">
                <a:solidFill>
                  <a:srgbClr val="52616A"/>
                </a:solidFill>
                <a:latin typeface="Arial"/>
              </a:rPr>
              <a:t>Same evidence for both arms: 2 current references + 1 desired reference</a:t>
            </a:r>
          </a:p>
        </p:txBody>
      </p:sp>
      <p:sp>
        <p:nvSpPr>
          <p:cNvPr id="8" name="Rectangle 7"/>
          <p:cNvSpPr/>
          <p:nvPr/>
        </p:nvSpPr>
        <p:spPr>
          <a:xfrm>
            <a:off x="548640" y="2459736"/>
            <a:ext cx="7104888" cy="512064"/>
          </a:xfrm>
          <a:prstGeom prst="rect">
            <a:avLst/>
          </a:prstGeom>
          <a:solidFill>
            <a:srgbClr val="18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615184"/>
            <a:ext cx="1554480" cy="219456"/>
          </a:xfrm>
          <a:prstGeom prst="rect">
            <a:avLst/>
          </a:prstGeom>
          <a:noFill/>
        </p:spPr>
        <p:txBody>
          <a:bodyPr wrap="none" lIns="0" rIns="0" tIns="0" bIns="0">
            <a:spAutoFit/>
          </a:bodyPr>
          <a:lstStyle/>
          <a:p>
            <a:pPr algn="l">
              <a:lnSpc>
                <a:spcPts val="2048"/>
              </a:lnSpc>
              <a:spcBef>
                <a:spcPts val="0"/>
              </a:spcBef>
              <a:spcAft>
                <a:spcPts val="0"/>
              </a:spcAft>
            </a:pPr>
            <a:r>
              <a:rPr sz="1600" b="1">
                <a:solidFill>
                  <a:srgbClr val="FFFFFF"/>
                </a:solidFill>
                <a:latin typeface="Arial"/>
              </a:rPr>
              <a:t>Arm</a:t>
            </a:r>
          </a:p>
        </p:txBody>
      </p:sp>
      <p:sp>
        <p:nvSpPr>
          <p:cNvPr id="10" name="TextBox 9"/>
          <p:cNvSpPr txBox="1"/>
          <p:nvPr/>
        </p:nvSpPr>
        <p:spPr>
          <a:xfrm>
            <a:off x="2523744" y="2615184"/>
            <a:ext cx="2286000" cy="219456"/>
          </a:xfrm>
          <a:prstGeom prst="rect">
            <a:avLst/>
          </a:prstGeom>
          <a:noFill/>
        </p:spPr>
        <p:txBody>
          <a:bodyPr wrap="none" lIns="0" rIns="0" tIns="0" bIns="0">
            <a:spAutoFit/>
          </a:bodyPr>
          <a:lstStyle/>
          <a:p>
            <a:pPr algn="l">
              <a:lnSpc>
                <a:spcPts val="2048"/>
              </a:lnSpc>
              <a:spcBef>
                <a:spcPts val="0"/>
              </a:spcBef>
              <a:spcAft>
                <a:spcPts val="0"/>
              </a:spcAft>
            </a:pPr>
            <a:r>
              <a:rPr sz="1600" b="1">
                <a:solidFill>
                  <a:srgbClr val="FFFFFF"/>
                </a:solidFill>
                <a:latin typeface="Arial"/>
              </a:rPr>
              <a:t>All bound positions</a:t>
            </a:r>
          </a:p>
        </p:txBody>
      </p:sp>
      <p:sp>
        <p:nvSpPr>
          <p:cNvPr id="11" name="TextBox 10"/>
          <p:cNvSpPr txBox="1"/>
          <p:nvPr/>
        </p:nvSpPr>
        <p:spPr>
          <a:xfrm>
            <a:off x="5166360" y="2615184"/>
            <a:ext cx="2249424" cy="219456"/>
          </a:xfrm>
          <a:prstGeom prst="rect">
            <a:avLst/>
          </a:prstGeom>
          <a:noFill/>
        </p:spPr>
        <p:txBody>
          <a:bodyPr wrap="none" lIns="0" rIns="0" tIns="0" bIns="0">
            <a:spAutoFit/>
          </a:bodyPr>
          <a:lstStyle/>
          <a:p>
            <a:pPr algn="l">
              <a:lnSpc>
                <a:spcPts val="2048"/>
              </a:lnSpc>
              <a:spcBef>
                <a:spcPts val="0"/>
              </a:spcBef>
              <a:spcAft>
                <a:spcPts val="0"/>
              </a:spcAft>
            </a:pPr>
            <a:r>
              <a:rPr sz="1600" b="1">
                <a:solidFill>
                  <a:srgbClr val="FFFFFF"/>
                </a:solidFill>
                <a:latin typeface="Arial"/>
              </a:rPr>
              <a:t>Mean distance*</a:t>
            </a:r>
          </a:p>
        </p:txBody>
      </p:sp>
      <p:sp>
        <p:nvSpPr>
          <p:cNvPr id="12" name="Rectangle 11"/>
          <p:cNvSpPr/>
          <p:nvPr/>
        </p:nvSpPr>
        <p:spPr>
          <a:xfrm>
            <a:off x="548640" y="2980944"/>
            <a:ext cx="7104888" cy="86868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3236976"/>
            <a:ext cx="1591056" cy="365760"/>
          </a:xfrm>
          <a:prstGeom prst="rect">
            <a:avLst/>
          </a:prstGeom>
          <a:noFill/>
        </p:spPr>
        <p:txBody>
          <a:bodyPr wrap="none" lIns="0" rIns="0" tIns="0" bIns="0">
            <a:spAutoFit/>
          </a:bodyPr>
          <a:lstStyle/>
          <a:p>
            <a:pPr algn="l">
              <a:lnSpc>
                <a:spcPts val="2944"/>
              </a:lnSpc>
              <a:spcBef>
                <a:spcPts val="0"/>
              </a:spcBef>
              <a:spcAft>
                <a:spcPts val="0"/>
              </a:spcAft>
            </a:pPr>
            <a:r>
              <a:rPr sz="2300" b="1">
                <a:solidFill>
                  <a:srgbClr val="182C3A"/>
                </a:solidFill>
                <a:latin typeface="Arial"/>
              </a:rPr>
              <a:t>xarm6</a:t>
            </a:r>
          </a:p>
        </p:txBody>
      </p:sp>
      <p:sp>
        <p:nvSpPr>
          <p:cNvPr id="14" name="TextBox 13"/>
          <p:cNvSpPr txBox="1"/>
          <p:nvPr/>
        </p:nvSpPr>
        <p:spPr>
          <a:xfrm>
            <a:off x="2523744" y="3255263"/>
            <a:ext cx="2286000" cy="365760"/>
          </a:xfrm>
          <a:prstGeom prst="rect">
            <a:avLst/>
          </a:prstGeom>
          <a:noFill/>
        </p:spPr>
        <p:txBody>
          <a:bodyPr wrap="none" lIns="0" rIns="0" tIns="0" bIns="0">
            <a:spAutoFit/>
          </a:bodyPr>
          <a:lstStyle/>
          <a:p>
            <a:pPr algn="l">
              <a:lnSpc>
                <a:spcPts val="2816"/>
              </a:lnSpc>
              <a:spcBef>
                <a:spcPts val="0"/>
              </a:spcBef>
              <a:spcAft>
                <a:spcPts val="0"/>
              </a:spcAft>
            </a:pPr>
            <a:r>
              <a:rPr sz="2200" b="0">
                <a:solidFill>
                  <a:srgbClr val="087F82"/>
                </a:solidFill>
                <a:latin typeface="Arial"/>
              </a:rPr>
              <a:t>accepted</a:t>
            </a:r>
          </a:p>
        </p:txBody>
      </p:sp>
      <p:sp>
        <p:nvSpPr>
          <p:cNvPr id="15" name="TextBox 14"/>
          <p:cNvSpPr txBox="1"/>
          <p:nvPr/>
        </p:nvSpPr>
        <p:spPr>
          <a:xfrm>
            <a:off x="5166360" y="3236976"/>
            <a:ext cx="2249424" cy="365760"/>
          </a:xfrm>
          <a:prstGeom prst="rect">
            <a:avLst/>
          </a:prstGeom>
          <a:noFill/>
        </p:spPr>
        <p:txBody>
          <a:bodyPr wrap="none" lIns="0" rIns="0" tIns="0" bIns="0">
            <a:spAutoFit/>
          </a:bodyPr>
          <a:lstStyle/>
          <a:p>
            <a:pPr algn="l">
              <a:lnSpc>
                <a:spcPts val="2944"/>
              </a:lnSpc>
              <a:spcBef>
                <a:spcPts val="0"/>
              </a:spcBef>
              <a:spcAft>
                <a:spcPts val="0"/>
              </a:spcAft>
            </a:pPr>
            <a:r>
              <a:rPr sz="2300" b="1">
                <a:solidFill>
                  <a:srgbClr val="182C3A"/>
                </a:solidFill>
                <a:latin typeface="Arial"/>
              </a:rPr>
              <a:t>0.549 m</a:t>
            </a:r>
          </a:p>
        </p:txBody>
      </p:sp>
      <p:sp>
        <p:nvSpPr>
          <p:cNvPr id="16" name="Rectangle 15"/>
          <p:cNvSpPr/>
          <p:nvPr/>
        </p:nvSpPr>
        <p:spPr>
          <a:xfrm>
            <a:off x="548640" y="3858768"/>
            <a:ext cx="7104888"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4114800"/>
            <a:ext cx="1591056" cy="365760"/>
          </a:xfrm>
          <a:prstGeom prst="rect">
            <a:avLst/>
          </a:prstGeom>
          <a:noFill/>
        </p:spPr>
        <p:txBody>
          <a:bodyPr wrap="none" lIns="0" rIns="0" tIns="0" bIns="0">
            <a:spAutoFit/>
          </a:bodyPr>
          <a:lstStyle/>
          <a:p>
            <a:pPr algn="l">
              <a:lnSpc>
                <a:spcPts val="2944"/>
              </a:lnSpc>
              <a:spcBef>
                <a:spcPts val="0"/>
              </a:spcBef>
              <a:spcAft>
                <a:spcPts val="0"/>
              </a:spcAft>
            </a:pPr>
            <a:r>
              <a:rPr sz="2300" b="1">
                <a:solidFill>
                  <a:srgbClr val="182C3A"/>
                </a:solidFill>
                <a:latin typeface="Arial"/>
              </a:rPr>
              <a:t>ur5e</a:t>
            </a:r>
          </a:p>
        </p:txBody>
      </p:sp>
      <p:sp>
        <p:nvSpPr>
          <p:cNvPr id="18" name="TextBox 17"/>
          <p:cNvSpPr txBox="1"/>
          <p:nvPr/>
        </p:nvSpPr>
        <p:spPr>
          <a:xfrm>
            <a:off x="2523744" y="4133087"/>
            <a:ext cx="2286000" cy="365760"/>
          </a:xfrm>
          <a:prstGeom prst="rect">
            <a:avLst/>
          </a:prstGeom>
          <a:noFill/>
        </p:spPr>
        <p:txBody>
          <a:bodyPr wrap="none" lIns="0" rIns="0" tIns="0" bIns="0">
            <a:spAutoFit/>
          </a:bodyPr>
          <a:lstStyle/>
          <a:p>
            <a:pPr algn="l">
              <a:lnSpc>
                <a:spcPts val="2816"/>
              </a:lnSpc>
              <a:spcBef>
                <a:spcPts val="0"/>
              </a:spcBef>
              <a:spcAft>
                <a:spcPts val="0"/>
              </a:spcAft>
            </a:pPr>
            <a:r>
              <a:rPr sz="2200" b="0">
                <a:solidFill>
                  <a:srgbClr val="087F82"/>
                </a:solidFill>
                <a:latin typeface="Arial"/>
              </a:rPr>
              <a:t>accepted</a:t>
            </a:r>
          </a:p>
        </p:txBody>
      </p:sp>
      <p:sp>
        <p:nvSpPr>
          <p:cNvPr id="19" name="TextBox 18"/>
          <p:cNvSpPr txBox="1"/>
          <p:nvPr/>
        </p:nvSpPr>
        <p:spPr>
          <a:xfrm>
            <a:off x="5166360" y="4114800"/>
            <a:ext cx="2249424" cy="365760"/>
          </a:xfrm>
          <a:prstGeom prst="rect">
            <a:avLst/>
          </a:prstGeom>
          <a:noFill/>
        </p:spPr>
        <p:txBody>
          <a:bodyPr wrap="none" lIns="0" rIns="0" tIns="0" bIns="0">
            <a:spAutoFit/>
          </a:bodyPr>
          <a:lstStyle/>
          <a:p>
            <a:pPr algn="l">
              <a:lnSpc>
                <a:spcPts val="2944"/>
              </a:lnSpc>
              <a:spcBef>
                <a:spcPts val="0"/>
              </a:spcBef>
              <a:spcAft>
                <a:spcPts val="0"/>
              </a:spcAft>
            </a:pPr>
            <a:r>
              <a:rPr sz="2300" b="1">
                <a:solidFill>
                  <a:srgbClr val="182C3A"/>
                </a:solidFill>
                <a:latin typeface="Arial"/>
              </a:rPr>
              <a:t>0.627 m</a:t>
            </a:r>
          </a:p>
        </p:txBody>
      </p:sp>
      <p:sp>
        <p:nvSpPr>
          <p:cNvPr id="20" name="TextBox 19"/>
          <p:cNvSpPr txBox="1"/>
          <p:nvPr/>
        </p:nvSpPr>
        <p:spPr>
          <a:xfrm>
            <a:off x="585216" y="4992624"/>
            <a:ext cx="6958584" cy="539496"/>
          </a:xfrm>
          <a:prstGeom prst="rect">
            <a:avLst/>
          </a:prstGeom>
          <a:noFill/>
        </p:spPr>
        <p:txBody>
          <a:bodyPr wrap="none" lIns="0" rIns="0" tIns="0" bIns="0">
            <a:spAutoFit/>
          </a:bodyPr>
          <a:lstStyle/>
          <a:p>
            <a:pPr algn="l">
              <a:lnSpc>
                <a:spcPts val="1920"/>
              </a:lnSpc>
              <a:spcBef>
                <a:spcPts val="0"/>
              </a:spcBef>
              <a:spcAft>
                <a:spcPts val="0"/>
              </a:spcAft>
            </a:pPr>
            <a:r>
              <a:rPr sz="1500" b="0">
                <a:solidFill>
                  <a:srgbClr val="52616A"/>
                </a:solidFill>
                <a:latin typeface="Arial"/>
              </a:rPr>
              <a:t>*Mean straight-line distance from the live TF base</a:t>
            </a:r>
          </a:p>
          <a:p>
            <a:pPr algn="l">
              <a:lnSpc>
                <a:spcPts val="1920"/>
              </a:lnSpc>
              <a:spcBef>
                <a:spcPts val="0"/>
              </a:spcBef>
              <a:spcAft>
                <a:spcPts val="0"/>
              </a:spcAft>
            </a:pPr>
            <a:r>
              <a:rPr sz="1500" b="0">
                <a:solidFill>
                  <a:srgbClr val="52616A"/>
                </a:solidFill>
                <a:latin typeface="Arial"/>
              </a:rPr>
              <a:t>to the grounded current_state locations.</a:t>
            </a:r>
          </a:p>
        </p:txBody>
      </p:sp>
      <p:sp>
        <p:nvSpPr>
          <p:cNvPr id="21" name="Rectangle 20"/>
          <p:cNvSpPr/>
          <p:nvPr/>
        </p:nvSpPr>
        <p:spPr>
          <a:xfrm>
            <a:off x="7872983" y="2459736"/>
            <a:ext cx="3767328"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6" y="2697480"/>
            <a:ext cx="3346704" cy="384048"/>
          </a:xfrm>
          <a:prstGeom prst="rect">
            <a:avLst/>
          </a:prstGeom>
          <a:noFill/>
        </p:spPr>
        <p:txBody>
          <a:bodyPr wrap="none" lIns="0" rIns="0" tIns="0" bIns="0">
            <a:spAutoFit/>
          </a:bodyPr>
          <a:lstStyle/>
          <a:p>
            <a:pPr algn="l">
              <a:lnSpc>
                <a:spcPts val="2816"/>
              </a:lnSpc>
              <a:spcBef>
                <a:spcPts val="0"/>
              </a:spcBef>
              <a:spcAft>
                <a:spcPts val="0"/>
              </a:spcAft>
            </a:pPr>
            <a:r>
              <a:rPr sz="2200" b="1">
                <a:solidFill>
                  <a:srgbClr val="087F82"/>
                </a:solidFill>
                <a:latin typeface="Arial"/>
              </a:rPr>
              <a:t>MoveIt GetMotionPlan</a:t>
            </a:r>
          </a:p>
        </p:txBody>
      </p:sp>
      <p:sp>
        <p:nvSpPr>
          <p:cNvPr id="23" name="TextBox 22"/>
          <p:cNvSpPr txBox="1"/>
          <p:nvPr/>
        </p:nvSpPr>
        <p:spPr>
          <a:xfrm>
            <a:off x="8083296" y="3401568"/>
            <a:ext cx="3346704" cy="1572768"/>
          </a:xfrm>
          <a:prstGeom prst="rect">
            <a:avLst/>
          </a:prstGeom>
          <a:noFill/>
        </p:spPr>
        <p:txBody>
          <a:bodyPr wrap="none" lIns="0" rIns="0" tIns="0" bIns="0">
            <a:spAutoFit/>
          </a:bodyPr>
          <a:lstStyle/>
          <a:p>
            <a:pPr algn="l">
              <a:lnSpc>
                <a:spcPts val="2432"/>
              </a:lnSpc>
              <a:spcBef>
                <a:spcPts val="0"/>
              </a:spcBef>
              <a:spcAft>
                <a:spcPts val="0"/>
              </a:spcAft>
            </a:pPr>
            <a:r>
              <a:rPr sz="1900" b="0">
                <a:solidFill>
                  <a:srgbClr val="182C3A"/>
                </a:solidFill>
                <a:latin typeface="Arial"/>
              </a:rPr>
              <a:t>Live robot state + scene</a:t>
            </a:r>
          </a:p>
          <a:p>
            <a:pPr algn="l">
              <a:lnSpc>
                <a:spcPts val="2432"/>
              </a:lnSpc>
              <a:spcBef>
                <a:spcPts val="0"/>
              </a:spcBef>
              <a:spcAft>
                <a:spcPts val="0"/>
              </a:spcAft>
            </a:pPr>
            <a:r>
              <a:rPr sz="1900" b="0">
                <a:solidFill>
                  <a:srgbClr val="182C3A"/>
                </a:solidFill>
                <a:latin typeface="Arial"/>
              </a:rPr>
              <a:t>Configured group / TCP</a:t>
            </a:r>
          </a:p>
          <a:p>
            <a:pPr algn="l">
              <a:lnSpc>
                <a:spcPts val="2432"/>
              </a:lnSpc>
              <a:spcBef>
                <a:spcPts val="0"/>
              </a:spcBef>
              <a:spcAft>
                <a:spcPts val="0"/>
              </a:spcAft>
            </a:pPr>
            <a:r>
              <a:rPr sz="1900" b="0">
                <a:solidFill>
                  <a:srgbClr val="182C3A"/>
                </a:solidFill>
                <a:latin typeface="Arial"/>
              </a:rPr>
              <a:t>5 mm position tolerance</a:t>
            </a:r>
          </a:p>
          <a:p>
            <a:pPr algn="l">
              <a:lnSpc>
                <a:spcPts val="2432"/>
              </a:lnSpc>
              <a:spcBef>
                <a:spcPts val="0"/>
              </a:spcBef>
              <a:spcAft>
                <a:spcPts val="0"/>
              </a:spcAft>
            </a:pPr>
            <a:r>
              <a:rPr sz="1900" b="0">
                <a:solidFill>
                  <a:srgbClr val="182C3A"/>
                </a:solidFill>
                <a:latin typeface="Arial"/>
              </a:rPr>
              <a:t>Unconstrained tool orientation</a:t>
            </a:r>
          </a:p>
        </p:txBody>
      </p:sp>
      <p:sp>
        <p:nvSpPr>
          <p:cNvPr id="24" name="Rectangle 23"/>
          <p:cNvSpPr/>
          <p:nvPr/>
        </p:nvSpPr>
        <p:spPr>
          <a:xfrm>
            <a:off x="548640" y="5742432"/>
            <a:ext cx="11091672" cy="393192"/>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843016"/>
            <a:ext cx="10689336" cy="228600"/>
          </a:xfrm>
          <a:prstGeom prst="rect">
            <a:avLst/>
          </a:prstGeom>
          <a:noFill/>
        </p:spPr>
        <p:txBody>
          <a:bodyPr wrap="none" lIns="0" rIns="0" tIns="0" bIns="0">
            <a:spAutoFit/>
          </a:bodyPr>
          <a:lstStyle/>
          <a:p>
            <a:pPr algn="l">
              <a:lnSpc>
                <a:spcPts val="2048"/>
              </a:lnSpc>
              <a:spcBef>
                <a:spcPts val="0"/>
              </a:spcBef>
              <a:spcAft>
                <a:spcPts val="0"/>
              </a:spcAft>
            </a:pPr>
            <a:r>
              <a:rPr sz="1600" b="1">
                <a:solidFill>
                  <a:srgbClr val="087F82"/>
                </a:solidFill>
                <a:latin typeface="Arial"/>
              </a:rPr>
              <a:t>PA selected xarm6  •  Accepted position plans are required; distance provides an advisory preference.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PHASE 4  /  COMPLETION + CLAIMS</a:t>
            </a:r>
          </a:p>
        </p:txBody>
      </p:sp>
      <p:sp>
        <p:nvSpPr>
          <p:cNvPr id="3" name="TextBox 2"/>
          <p:cNvSpPr txBox="1"/>
          <p:nvPr/>
        </p:nvSpPr>
        <p:spPr>
          <a:xfrm>
            <a:off x="548640" y="832104"/>
            <a:ext cx="11091672" cy="585216"/>
          </a:xfrm>
          <a:prstGeom prst="rect">
            <a:avLst/>
          </a:prstGeom>
          <a:noFill/>
        </p:spPr>
        <p:txBody>
          <a:bodyPr wrap="none" lIns="0" rIns="0" tIns="0" bIns="0">
            <a:spAutoFit/>
          </a:bodyPr>
          <a:lstStyle/>
          <a:p>
            <a:pPr algn="l">
              <a:lnSpc>
                <a:spcPts val="3840"/>
              </a:lnSpc>
              <a:spcBef>
                <a:spcPts val="0"/>
              </a:spcBef>
              <a:spcAft>
                <a:spcPts val="0"/>
              </a:spcAft>
            </a:pPr>
            <a:r>
              <a:rPr sz="3000" b="1">
                <a:solidFill>
                  <a:srgbClr val="182C3A"/>
                </a:solidFill>
                <a:latin typeface="Arial"/>
              </a:rPr>
              <a:t>Completion hands grounded evidence to Phase 5</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8700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Current code + saved trace • 09 Sep 2026 • Sources in speaker notes</a:t>
            </a:r>
          </a:p>
        </p:txBody>
      </p:sp>
      <p:sp>
        <p:nvSpPr>
          <p:cNvPr id="6" name="TextBox 5"/>
          <p:cNvSpPr txBox="1"/>
          <p:nvPr/>
        </p:nvSpPr>
        <p:spPr>
          <a:xfrm>
            <a:off x="11009376" y="6483096"/>
            <a:ext cx="630936"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09 / 09</a:t>
            </a:r>
          </a:p>
        </p:txBody>
      </p:sp>
      <p:sp>
        <p:nvSpPr>
          <p:cNvPr id="7" name="Rectangle 6"/>
          <p:cNvSpPr/>
          <p:nvPr/>
        </p:nvSpPr>
        <p:spPr>
          <a:xfrm>
            <a:off x="548640" y="1792224"/>
            <a:ext cx="3529584" cy="18745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20824"/>
            <a:ext cx="3163824" cy="365760"/>
          </a:xfrm>
          <a:prstGeom prst="rect">
            <a:avLst/>
          </a:prstGeom>
          <a:noFill/>
        </p:spPr>
        <p:txBody>
          <a:bodyPr wrap="none" lIns="0" rIns="0" tIns="0" bIns="0">
            <a:spAutoFit/>
          </a:bodyPr>
          <a:lstStyle/>
          <a:p>
            <a:pPr algn="l">
              <a:lnSpc>
                <a:spcPts val="2688"/>
              </a:lnSpc>
              <a:spcBef>
                <a:spcPts val="0"/>
              </a:spcBef>
              <a:spcAft>
                <a:spcPts val="0"/>
              </a:spcAft>
            </a:pPr>
            <a:r>
              <a:rPr sz="2100" b="1">
                <a:solidFill>
                  <a:srgbClr val="087F82"/>
                </a:solidFill>
                <a:latin typeface="Arial"/>
              </a:rPr>
              <a:t>Grounded product</a:t>
            </a:r>
          </a:p>
        </p:txBody>
      </p:sp>
      <p:sp>
        <p:nvSpPr>
          <p:cNvPr id="9" name="TextBox 8"/>
          <p:cNvSpPr txBox="1"/>
          <p:nvPr/>
        </p:nvSpPr>
        <p:spPr>
          <a:xfrm>
            <a:off x="731520" y="2679192"/>
            <a:ext cx="3163824" cy="841248"/>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target_feature</a:t>
            </a:r>
          </a:p>
          <a:p>
            <a:pPr algn="l">
              <a:lnSpc>
                <a:spcPts val="2304"/>
              </a:lnSpc>
              <a:spcBef>
                <a:spcPts val="0"/>
              </a:spcBef>
              <a:spcAft>
                <a:spcPts val="0"/>
              </a:spcAft>
            </a:pPr>
            <a:r>
              <a:rPr sz="1800" b="0">
                <a:solidFill>
                  <a:srgbClr val="182C3A"/>
                </a:solidFill>
                <a:latin typeface="Arial"/>
              </a:rPr>
              <a:t>Current + desired states</a:t>
            </a:r>
          </a:p>
          <a:p>
            <a:pPr algn="l">
              <a:lnSpc>
                <a:spcPts val="2304"/>
              </a:lnSpc>
              <a:spcBef>
                <a:spcPts val="0"/>
              </a:spcBef>
              <a:spcAft>
                <a:spcPts val="0"/>
              </a:spcAft>
            </a:pPr>
            <a:r>
              <a:rPr sz="1800" b="0">
                <a:solidFill>
                  <a:srgbClr val="182C3A"/>
                </a:solidFill>
                <a:latin typeface="Arial"/>
              </a:rPr>
              <a:t>Pairwise relationships</a:t>
            </a:r>
          </a:p>
        </p:txBody>
      </p:sp>
      <p:sp>
        <p:nvSpPr>
          <p:cNvPr id="10" name="Rectangle 9"/>
          <p:cNvSpPr/>
          <p:nvPr/>
        </p:nvSpPr>
        <p:spPr>
          <a:xfrm>
            <a:off x="4325112" y="1792224"/>
            <a:ext cx="3529584" cy="18745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020824"/>
            <a:ext cx="3163824" cy="365760"/>
          </a:xfrm>
          <a:prstGeom prst="rect">
            <a:avLst/>
          </a:prstGeom>
          <a:noFill/>
        </p:spPr>
        <p:txBody>
          <a:bodyPr wrap="none" lIns="0" rIns="0" tIns="0" bIns="0">
            <a:spAutoFit/>
          </a:bodyPr>
          <a:lstStyle/>
          <a:p>
            <a:pPr algn="l">
              <a:lnSpc>
                <a:spcPts val="2688"/>
              </a:lnSpc>
              <a:spcBef>
                <a:spcPts val="0"/>
              </a:spcBef>
              <a:spcAft>
                <a:spcPts val="0"/>
              </a:spcAft>
            </a:pPr>
            <a:r>
              <a:rPr sz="2100" b="1">
                <a:solidFill>
                  <a:srgbClr val="087F82"/>
                </a:solidFill>
                <a:latin typeface="Arial"/>
              </a:rPr>
              <a:t>Arm assignment</a:t>
            </a:r>
          </a:p>
        </p:txBody>
      </p:sp>
      <p:sp>
        <p:nvSpPr>
          <p:cNvPr id="12" name="TextBox 11"/>
          <p:cNvSpPr txBox="1"/>
          <p:nvPr/>
        </p:nvSpPr>
        <p:spPr>
          <a:xfrm>
            <a:off x="4507992" y="2679192"/>
            <a:ext cx="3163824" cy="841248"/>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Selected resource</a:t>
            </a:r>
          </a:p>
          <a:p>
            <a:pPr algn="l">
              <a:lnSpc>
                <a:spcPts val="2304"/>
              </a:lnSpc>
              <a:spcBef>
                <a:spcPts val="0"/>
              </a:spcBef>
              <a:spcAft>
                <a:spcPts val="0"/>
              </a:spcAft>
            </a:pPr>
            <a:r>
              <a:rPr sz="1800" b="0">
                <a:solidFill>
                  <a:srgbClr val="182C3A"/>
                </a:solidFill>
                <a:latin typeface="Arial"/>
              </a:rPr>
              <a:t>All-arm planning evidence</a:t>
            </a:r>
          </a:p>
          <a:p>
            <a:pPr algn="l">
              <a:lnSpc>
                <a:spcPts val="2304"/>
              </a:lnSpc>
              <a:spcBef>
                <a:spcPts val="0"/>
              </a:spcBef>
              <a:spcAft>
                <a:spcPts val="0"/>
              </a:spcAft>
            </a:pPr>
            <a:r>
              <a:rPr sz="1800" b="0">
                <a:solidFill>
                  <a:srgbClr val="182C3A"/>
                </a:solidFill>
                <a:latin typeface="Arial"/>
              </a:rPr>
              <a:t>Assignment assertions</a:t>
            </a:r>
          </a:p>
        </p:txBody>
      </p:sp>
      <p:sp>
        <p:nvSpPr>
          <p:cNvPr id="13" name="Rectangle 12"/>
          <p:cNvSpPr/>
          <p:nvPr/>
        </p:nvSpPr>
        <p:spPr>
          <a:xfrm>
            <a:off x="8110727" y="1792224"/>
            <a:ext cx="3529584" cy="18745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93607" y="2020824"/>
            <a:ext cx="3163824" cy="365760"/>
          </a:xfrm>
          <a:prstGeom prst="rect">
            <a:avLst/>
          </a:prstGeom>
          <a:noFill/>
        </p:spPr>
        <p:txBody>
          <a:bodyPr wrap="none" lIns="0" rIns="0" tIns="0" bIns="0">
            <a:spAutoFit/>
          </a:bodyPr>
          <a:lstStyle/>
          <a:p>
            <a:pPr algn="l">
              <a:lnSpc>
                <a:spcPts val="2688"/>
              </a:lnSpc>
              <a:spcBef>
                <a:spcPts val="0"/>
              </a:spcBef>
              <a:spcAft>
                <a:spcPts val="0"/>
              </a:spcAft>
            </a:pPr>
            <a:r>
              <a:rPr sz="2100" b="1">
                <a:solidFill>
                  <a:srgbClr val="087F82"/>
                </a:solidFill>
                <a:latin typeface="Arial"/>
              </a:rPr>
              <a:t>Traceable completion</a:t>
            </a:r>
          </a:p>
        </p:txBody>
      </p:sp>
      <p:sp>
        <p:nvSpPr>
          <p:cNvPr id="15" name="TextBox 14"/>
          <p:cNvSpPr txBox="1"/>
          <p:nvPr/>
        </p:nvSpPr>
        <p:spPr>
          <a:xfrm>
            <a:off x="8293607" y="2679192"/>
            <a:ext cx="3163824" cy="841248"/>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Sources + typed records</a:t>
            </a:r>
          </a:p>
          <a:p>
            <a:pPr algn="l">
              <a:lnSpc>
                <a:spcPts val="2304"/>
              </a:lnSpc>
              <a:spcBef>
                <a:spcPts val="0"/>
              </a:spcBef>
              <a:spcAft>
                <a:spcPts val="0"/>
              </a:spcAft>
            </a:pPr>
            <a:r>
              <a:rPr sz="1800" b="0">
                <a:solidFill>
                  <a:srgbClr val="182C3A"/>
                </a:solidFill>
                <a:latin typeface="Arial"/>
              </a:rPr>
              <a:t>Hashes + context snapshot</a:t>
            </a:r>
          </a:p>
          <a:p>
            <a:pPr algn="l">
              <a:lnSpc>
                <a:spcPts val="2304"/>
              </a:lnSpc>
              <a:spcBef>
                <a:spcPts val="0"/>
              </a:spcBef>
              <a:spcAft>
                <a:spcPts val="0"/>
              </a:spcAft>
            </a:pPr>
            <a:r>
              <a:rPr sz="1800" b="0">
                <a:solidFill>
                  <a:srgbClr val="182C3A"/>
                </a:solidFill>
                <a:latin typeface="Arial"/>
              </a:rPr>
              <a:t>Persistent uncertainty</a:t>
            </a:r>
          </a:p>
        </p:txBody>
      </p:sp>
      <p:sp>
        <p:nvSpPr>
          <p:cNvPr id="16" name="Rectangle 15"/>
          <p:cNvSpPr/>
          <p:nvPr/>
        </p:nvSpPr>
        <p:spPr>
          <a:xfrm>
            <a:off x="548640" y="3895344"/>
            <a:ext cx="6446520" cy="1527048"/>
          </a:xfrm>
          <a:prstGeom prst="rect">
            <a:avLst/>
          </a:prstGeom>
          <a:solidFill>
            <a:srgbClr val="18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 y="4123944"/>
            <a:ext cx="6062472" cy="1033271"/>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FFFFFF"/>
                </a:solidFill>
                <a:latin typeface="Courier New"/>
              </a:rPr>
              <a:t>validation_scope:</a:t>
            </a:r>
          </a:p>
          <a:p>
            <a:pPr algn="l">
              <a:lnSpc>
                <a:spcPts val="2048"/>
              </a:lnSpc>
              <a:spcBef>
                <a:spcPts val="0"/>
              </a:spcBef>
              <a:spcAft>
                <a:spcPts val="0"/>
              </a:spcAft>
            </a:pPr>
            <a:r>
              <a:rPr sz="1600" b="0">
                <a:solidFill>
                  <a:srgbClr val="FFFFFF"/>
                </a:solidFill>
                <a:latin typeface="Courier New"/>
              </a:rPr>
              <a:t>  moveit_state_location_reachability</a:t>
            </a:r>
          </a:p>
          <a:p>
            <a:pPr algn="l">
              <a:lnSpc>
                <a:spcPts val="2048"/>
              </a:lnSpc>
              <a:spcBef>
                <a:spcPts val="0"/>
              </a:spcBef>
              <a:spcAft>
                <a:spcPts val="0"/>
              </a:spcAft>
            </a:pPr>
            <a:r>
              <a:rPr sz="1600" b="0">
                <a:solidFill>
                  <a:srgbClr val="FFFFFF"/>
                </a:solidFill>
                <a:latin typeface="Courier New"/>
              </a:rPr>
              <a:t>motion_validation_performed: true</a:t>
            </a:r>
          </a:p>
          <a:p>
            <a:pPr algn="l">
              <a:lnSpc>
                <a:spcPts val="2048"/>
              </a:lnSpc>
              <a:spcBef>
                <a:spcPts val="0"/>
              </a:spcBef>
              <a:spcAft>
                <a:spcPts val="0"/>
              </a:spcAft>
            </a:pPr>
            <a:r>
              <a:rPr sz="1600" b="0">
                <a:solidFill>
                  <a:srgbClr val="FFFFFF"/>
                </a:solidFill>
                <a:latin typeface="Courier New"/>
              </a:rPr>
              <a:t>motion_executed: false</a:t>
            </a:r>
          </a:p>
        </p:txBody>
      </p:sp>
      <p:sp>
        <p:nvSpPr>
          <p:cNvPr id="18" name="TextBox 17"/>
          <p:cNvSpPr txBox="1"/>
          <p:nvPr/>
        </p:nvSpPr>
        <p:spPr>
          <a:xfrm>
            <a:off x="7278624" y="4023360"/>
            <a:ext cx="4169663" cy="292608"/>
          </a:xfrm>
          <a:prstGeom prst="rect">
            <a:avLst/>
          </a:prstGeom>
          <a:noFill/>
        </p:spPr>
        <p:txBody>
          <a:bodyPr wrap="none" lIns="0" rIns="0" tIns="0" bIns="0">
            <a:spAutoFit/>
          </a:bodyPr>
          <a:lstStyle/>
          <a:p>
            <a:pPr algn="l">
              <a:lnSpc>
                <a:spcPts val="1664"/>
              </a:lnSpc>
              <a:spcBef>
                <a:spcPts val="0"/>
              </a:spcBef>
              <a:spcAft>
                <a:spcPts val="0"/>
              </a:spcAft>
            </a:pPr>
            <a:r>
              <a:rPr sz="1300" b="1">
                <a:solidFill>
                  <a:srgbClr val="087F82"/>
                </a:solidFill>
                <a:latin typeface="Arial"/>
              </a:rPr>
              <a:t>PHASE 5 CONTINUES WITH</a:t>
            </a:r>
          </a:p>
        </p:txBody>
      </p:sp>
      <p:sp>
        <p:nvSpPr>
          <p:cNvPr id="19" name="TextBox 18"/>
          <p:cNvSpPr txBox="1"/>
          <p:nvPr/>
        </p:nvSpPr>
        <p:spPr>
          <a:xfrm>
            <a:off x="7278624" y="4517136"/>
            <a:ext cx="4169663" cy="795528"/>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Selected RA context → primitive_steps</a:t>
            </a:r>
          </a:p>
          <a:p>
            <a:pPr algn="l">
              <a:lnSpc>
                <a:spcPts val="2304"/>
              </a:lnSpc>
              <a:spcBef>
                <a:spcPts val="0"/>
              </a:spcBef>
              <a:spcAft>
                <a:spcPts val="0"/>
              </a:spcAft>
            </a:pPr>
            <a:r>
              <a:rPr sz="1800" b="0">
                <a:solidFill>
                  <a:srgbClr val="182C3A"/>
                </a:solidFill>
                <a:latin typeface="Arial"/>
              </a:rPr>
              <a:t>Target calculations + modeled validation</a:t>
            </a:r>
          </a:p>
        </p:txBody>
      </p:sp>
      <p:sp>
        <p:nvSpPr>
          <p:cNvPr id="20" name="TextBox 19"/>
          <p:cNvSpPr txBox="1"/>
          <p:nvPr/>
        </p:nvSpPr>
        <p:spPr>
          <a:xfrm>
            <a:off x="594360" y="5751576"/>
            <a:ext cx="10972800" cy="374904"/>
          </a:xfrm>
          <a:prstGeom prst="rect">
            <a:avLst/>
          </a:prstGeom>
          <a:noFill/>
        </p:spPr>
        <p:txBody>
          <a:bodyPr wrap="none" lIns="0" rIns="0" tIns="0" bIns="0">
            <a:spAutoFit/>
          </a:bodyPr>
          <a:lstStyle/>
          <a:p>
            <a:pPr algn="l">
              <a:lnSpc>
                <a:spcPts val="2944"/>
              </a:lnSpc>
              <a:spcBef>
                <a:spcPts val="0"/>
              </a:spcBef>
              <a:spcAft>
                <a:spcPts val="0"/>
              </a:spcAft>
            </a:pPr>
            <a:r>
              <a:rPr sz="2300" b="1">
                <a:solidFill>
                  <a:srgbClr val="182C3A"/>
                </a:solidFill>
                <a:latin typeface="Arial"/>
              </a:rPr>
              <a:t>Assembly success requires execution and independent outcome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Spec2Primitives — How Phase 4 works</dc:title>
  <dc:subject>10-minute technical research presentation</dc:subject>
  <dc:creator>CAIS-SPADE-LLM</dc:creator>
  <cp:keywords>Spec2Primitives, Phase 4, ProductAgent, grounding, MoveIt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