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60 seconds.</a:t>
            </a:r>
          </a:p>
          <a:p/>
          <a:p>
            <a:r>
              <a:t>My answer separates the shared semantic model from its encoding. The current implementation depends on PPR: PA grounds a target under its vocabulary, the host validates its assertions, and RA context reconstruction checks the same assignment links. That is an implemented runtime contract. OWL and RDF are not the only way to encode it. Typed JSON could preserve the same identities, relations and checks, and would therefore retain much of the same semantic model. The reason to retain PPR here is its explicit account of the product goal, assembly structure, process and resource assignment across the PA-to-RA boundary. The OWL schema makes those terms and profiles separately inspectable. This is an architectural justification. Better recognition, fewer model errors and improved assembly success remain claims that need a fair experiment.</a:t>
            </a:r>
          </a:p>
          <a:p/>
          <a:p>
            <a:r>
              <a:t>Sources relative to cais_spade_llm/spec2primitives/:</a:t>
            </a:r>
          </a:p>
          <a:p>
            <a:r>
              <a:t>- Exact supplied PPR TBox: ontology/spec2primitives_ppr_tbox.owl:10</a:t>
            </a:r>
          </a:p>
          <a:p>
            <a:r>
              <a:t>- Compile the overall target feature: agents/pa/ontology_grounding.py:1049</a:t>
            </a:r>
          </a:p>
          <a:p>
            <a:r>
              <a:t>- Validate the interaction semantic bridge: agents/pa/product_context.py:951</a:t>
            </a:r>
          </a:p>
          <a:p>
            <a:r>
              <a:t>- Validate the ontology projection for the selected RA: agents/ra/composition_context.py:387</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60 seconds.</a:t>
            </a:r>
          </a:p>
          <a:p/>
          <a:p>
            <a:r>
              <a:t>PPR organizes the problem into Product, Process and Resource views. The product view describes what is involved and the feature and state that the specification requires. In this case, the product-level content includes the medium gear, the gear plate assembly and their desired relationship. The process view describes the high-level activity that realizes a feature, here assembly. It also has processExecution for recording a particular assignment. The resource view identifies which configured resources are broadly capable of the process, here xarm6 and ur5e. Broad capability is only a candidate-discovery fact; MoveIt checks are still required for this task's grounded positions. The supplied vocabulary also declares capability as a class, but the active workcell graph uses resource capableOf process directly. The class diagram should preserve that implementation instead of inventing an intermediate capability individual or putting robot primitives into the PPR capability graph.</a:t>
            </a:r>
          </a:p>
          <a:p/>
          <a:p>
            <a:r>
              <a:t>Sources relative to cais_spade_llm/spec2primitives/:</a:t>
            </a:r>
          </a:p>
          <a:p>
            <a:r>
              <a:t>- Exact supplied PPR TBox: ontology/spec2primitives_ppr_tbox.owl:10</a:t>
            </a:r>
          </a:p>
          <a:p>
            <a:r>
              <a:t>- Workcell graph projection: ontology/workcell.py:247</a:t>
            </a:r>
          </a:p>
          <a:p>
            <a:r>
              <a:t>- Configured process/resource capability authority: ontology/workcell.py:112</a:t>
            </a:r>
          </a:p>
          <a:p>
            <a:r>
              <a:t>- Saved PA target_feature and exact labels: contexts/interaction_116f33c8cce64d33b0066891bf228572/products/grounding/ontology_grounding/proposal_0001.json</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90 seconds.</a:t>
            </a:r>
          </a:p>
          <a:p/>
          <a:p>
            <a:r>
              <a:t>Read the arrows in their exact direction. A specification defines a feature. A process realizes that feature. The resource is capableOf the process. This gives a common join from the requirement to its feature, the configured process, and the resources that may be considered. The feature separately hascurrentstate and hasdesiredstate. Those property names and their capitalization are fixed symbols in this project. Each is declared functional. The target proposal supplies both states, while the runtime explicitly checks its required inputs. The model should not draw a process-to-product realizes link, because this supplied TBox says process to feature. Nor should it add a feature-to-resource capableOf edge. The later assignment uses a separate processExecution node. Notice also that the base vocabulary declares product, but this active bridge has no generic product-to-feature ownership property. The assembly extension supplies that ownership through hasAssemblyFeature, allowing the bridge to connect to concrete part and assembly structure. This slide is a schema view: boxes are classes, and arrows show property domain and range.</a:t>
            </a:r>
          </a:p>
          <a:p/>
          <a:p>
            <a:r>
              <a:t>Sources relative to cais_spade_llm/spec2primitives/:</a:t>
            </a:r>
          </a:p>
          <a:p>
            <a:r>
              <a:t>- Exact supplied PPR TBox: ontology/spec2primitives_ppr_tbox.owl:10</a:t>
            </a:r>
          </a:p>
          <a:p>
            <a:r>
              <a:t>- Compile the overall target feature: agents/pa/ontology_grounding.py:1049</a:t>
            </a:r>
          </a:p>
          <a:p>
            <a:r>
              <a:t>- Validate the interaction semantic bridge: agents/pa/product_context.py:951</a:t>
            </a:r>
          </a:p>
          <a:p>
            <a:r>
              <a:t>- Workcell graph projection: ontology/workcell.py:247</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60 seconds.</a:t>
            </a:r>
          </a:p>
          <a:p/>
          <a:p>
            <a:r>
              <a:t>The implementation is a hybrid of graph structure and linked records. The supplied TBox contains the generic vocabulary, class hierarchy, property profiles and pairwise cardinality. It contains no medium-gear answer, resource instance or primitive recipe. The interaction ABox contains the specification, target feature, state individuals, assembly structure and eventual selected assignment for this run. A separate configured Workcell ABox supplies process and resource facts. PA cannot invent new resource capability facts in its interaction graph. Detailed state statements, exact names, observation pointers, coordinates and uncertainty are kept in the proposal and typed evidence records. Assertion provenance and completion records retain their evidence references and hashes. Therefore a bare Turtle export does not carry all of the grounding evidence. The overall contract combines the graph with those records. This separation lets us keep a compact relational model while preserving the original measurement artifacts and the authority that supplied them.</a:t>
            </a:r>
          </a:p>
          <a:p/>
          <a:p>
            <a:r>
              <a:t>Sources relative to cais_spade_llm/spec2primitives/:</a:t>
            </a:r>
          </a:p>
          <a:p>
            <a:r>
              <a:t>- Exact supplied PPR TBox: ontology/spec2primitives_ppr_tbox.owl:10</a:t>
            </a:r>
          </a:p>
          <a:p>
            <a:r>
              <a:t>- Saved interaction ABox: contexts/interaction_116f33c8cce64d33b0066891bf228572/products/grounding/ontology/interaction_abox.ttl</a:t>
            </a:r>
          </a:p>
          <a:p>
            <a:r>
              <a:t>- Saved PA target_feature and exact labels: contexts/interaction_116f33c8cce64d33b0066891bf228572/products/grounding/ontology_grounding/proposal_0001.json</a:t>
            </a:r>
          </a:p>
          <a:p>
            <a:r>
              <a:t>- Workcell graph projection: ontology/workcell.py:247</a:t>
            </a:r>
          </a:p>
          <a:p>
            <a:r>
              <a:t>- Proposal, evidence and assignment records: schemas/README.md:19</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60 seconds.</a:t>
            </a:r>
          </a:p>
          <a:p/>
          <a:p>
            <a:r>
              <a:t>The extension adds four classes while preserving the PPR vocabulary. Assembly and Part are subclasses of product. AssemblyFeature and AssemblyFeatureAssociation are subclasses of feature. An AssemblyFeature represents an interface or feature belonging to a product, such as the medium gear central bore. An AssemblyFeatureAssociation gives a relationship its own identity, relating exactly two AssemblyFeature endpoints. Making the association a feature is useful because the existing current-state and desired-state vocabulary can describe whether that relationship is observed or intended. Part and Assembly remain distinct supplied types, while hasPart ranges over product so an Assembly can contain another Assembly. The extension is deliberately small: it represents ownership and pairwise relationships. It does not encode contact mechanics, insertion tolerances, primitive order or a product-specific recipe. Those extra claims require their own evidence or operational model.</a:t>
            </a:r>
          </a:p>
          <a:p/>
          <a:p>
            <a:r>
              <a:t>Sources relative to cais_spade_llm/spec2primitives/:</a:t>
            </a:r>
          </a:p>
          <a:p>
            <a:r>
              <a:t>- Assembly classes and cardinality: ontology/spec2primitives_ppr_tbox.owl:19</a:t>
            </a:r>
          </a:p>
          <a:p>
            <a:r>
              <a:t>- Assembly property domains and ranges: ontology/spec2primitives_ppr_tbox.owl:86</a:t>
            </a:r>
          </a:p>
          <a:p>
            <a:r>
              <a:t>- Vocabulary, domains, ranges and cardinality regression: tests/test_ppr_tbox.py:27</a:t>
            </a:r>
          </a:p>
          <a:p>
            <a:r>
              <a:t>- Assembly semantics and evidence bindings: ASSEMBLY_ONTOLOGY.md:5</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75 seconds.</a:t>
            </a:r>
          </a:p>
          <a:p/>
          <a:p>
            <a:r>
              <a:t>The four object properties provide the structure missing from the base bridge. hasPart links an Assembly to its product members; because the range is product, a member may be a Part or another Assembly. hasAssemblyFeature links a product to an AssemblyFeature that it owns. hasAssemblyFeatureAssociation links an Assembly to a relationship individual. Finally, relatesAssemblyFeature links that association to its two feature endpoints. The qualified cardinality applies to each association, not to the number of parts in the assembly. For three different relationships, the current compiler creates three association individuals, each with two distinct endpoint identities. Exact owners and features can be reused across associations, which avoids copying a shared part merely because it participates in more than one relationship. The association also gives us a stable place to express desired-state membership and preserve relationship evidence in the supporting records. A simple membership list alone would not express which interfaces are intended to relate.</a:t>
            </a:r>
          </a:p>
          <a:p/>
          <a:p>
            <a:r>
              <a:t>Sources relative to cais_spade_llm/spec2primitives/:</a:t>
            </a:r>
          </a:p>
          <a:p>
            <a:r>
              <a:t>- Assembly property domains and ranges: ontology/spec2primitives_ppr_tbox.owl:86</a:t>
            </a:r>
          </a:p>
          <a:p>
            <a:r>
              <a:t>- Assembly classes and cardinality: ontology/spec2primitives_ppr_tbox.owl:19</a:t>
            </a:r>
          </a:p>
          <a:p>
            <a:r>
              <a:t>- Compile separate pairwise associations and exact owners: agents/pa/ontology_grounding.py:864</a:t>
            </a:r>
          </a:p>
          <a:p>
            <a:r>
              <a:t>- Validate two distinct endpoints and exact bindings: agents/pa/ontology_grounding.py:720</a:t>
            </a:r>
          </a:p>
          <a:p>
            <a:r>
              <a:t>- Separate pairwise associations and state membership: tests/test_pa_grounding_contracts.py:493</a:t>
            </a:r>
          </a:p>
          <a:p>
            <a:r>
              <a:t>- Owners are reused only by exact identity: tests/test_pa_grounding_contracts.py:667</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75 seconds.</a:t>
            </a:r>
          </a:p>
          <a:p/>
          <a:p>
            <a:r>
              <a:t>This is a structural subgraph from the same saved medium-gear interaction as the original Phase 4 presentation. The identifiers and edges come from its accepted ABox; the readable names are annotations from the saved PA proposal, not additional rdfs:label triples. assembly_0001 is named gear plate assembly. Its hasPart links include part_0001, named medium gear, and assembly_0002, named middle gear shaft on gear plate. The latter owner is typed Assembly in that saved proposal; I have kept the supplied type rather than silently changing it to Part. Each owner has its own AssemblyFeature. The two named interfaces are medium gear central bore and middle gear shaft mounting surface. A separate assemblyfeatureassociation_0001 links those endpoints and belongs to assembly_0001. This is why an association node is useful: the relationship has an identity separate from the whole target feature and separate from either component. Its desired-state linkage is shown on the next slide. The saved interpretation has not been independently scored for semantic correctness in preparing these slides.</a:t>
            </a:r>
          </a:p>
          <a:p/>
          <a:p>
            <a:r>
              <a:t>Sources relative to cais_spade_llm/spec2primitives/:</a:t>
            </a:r>
          </a:p>
          <a:p>
            <a:r>
              <a:t>- Saved interaction ABox: contexts/interaction_116f33c8cce64d33b0066891bf228572/products/grounding/ontology/interaction_abox.ttl</a:t>
            </a:r>
          </a:p>
          <a:p>
            <a:r>
              <a:t>- Saved PA target_feature and exact labels: contexts/interaction_116f33c8cce64d33b0066891bf228572/products/grounding/ontology_grounding/proposal_0001.json</a:t>
            </a:r>
          </a:p>
          <a:p>
            <a:r>
              <a:t>- Compile separate pairwise associations and exact owners: agents/pa/ontology_grounding.py:864</a:t>
            </a:r>
          </a:p>
          <a:p>
            <a:r>
              <a:t>- Owners are reused only by exact identity: tests/test_pa_grounding_contracts.py:667</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60 seconds.</a:t>
            </a:r>
          </a:p>
          <a:p/>
          <a:p>
            <a:r>
              <a:t>An intended relationship can be grounded using objects that are observed now. In the saved proposal, the association has state_names equal to desired_state, and its ABox individual hasdesiredstate desiredstate_0001. That says where the relationship belongs in the task model. Separately, each endpoint has a state_name and a state_value_name that identify supporting observation evidence. The gear endpoint binds to medium gear current location in current_state. The shaft endpoint binds to observed middle gear shaft destination reference in desired_state. Both values ultimately refer to observed candidates. The contract also permits both endpoint bindings to use current_state; the regression test explicitly exercises that case. The relationship's desired membership therefore does not assert that assembly has already happened. The shaft location provides an observed destination reference; it is not by itself the final gear pose or the end-effector target. Distinguishing these concepts is a concrete benefit of making the relationship explicit.</a:t>
            </a:r>
          </a:p>
          <a:p/>
          <a:p>
            <a:r>
              <a:t>Sources relative to cais_spade_llm/spec2primitives/:</a:t>
            </a:r>
          </a:p>
          <a:p>
            <a:r>
              <a:t>- Assembly semantics and evidence bindings: ASSEMBLY_ONTOLOGY.md:5</a:t>
            </a:r>
          </a:p>
          <a:p>
            <a:r>
              <a:t>- Saved PA target_feature and exact labels: contexts/interaction_116f33c8cce64d33b0066891bf228572/products/grounding/ontology_grounding/proposal_0001.json</a:t>
            </a:r>
          </a:p>
          <a:p>
            <a:r>
              <a:t>- Saved interaction ABox: contexts/interaction_116f33c8cce64d33b0066891bf228572/products/grounding/ontology/interaction_abox.ttl</a:t>
            </a:r>
          </a:p>
          <a:p>
            <a:r>
              <a:t>- Validate two distinct endpoints and exact bindings: agents/pa/ontology_grounding.py:720</a:t>
            </a:r>
          </a:p>
          <a:p>
            <a:r>
              <a:t>- Endpoints can share a current-state binding: tests/test_pa_grounding_contracts.py:640</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duration: 60 seconds.</a:t>
            </a:r>
          </a:p>
          <a:p/>
          <a:p>
            <a:r>
              <a:t>The useful justification should point to runtime responsibilities. First, defines and realizes connect the requirement to the feature that the assigned process must realize. Second, the assembly extension represents membership, feature ownership and individual pairwise relationships without adding a new schema for each observed product. Third, the capability and assignment links give the host and selected RA an explicit, checkable description of who is assigned to which process for this specification. Fourth, those relations are tied to evidence through the proposal, provenance and completion records. These are implemented architectural functions, not proof of an accuracy improvement. The practical benefit is a shared representation whose connections can be validated and inspected across components. The fair alternative is a typed JSON model containing the same identities, relationships and checks. We should compare against that alternative before attributing reduced errors or better task outcomes specifically to the ontology. For this architecture I would retain the shared model and keep its evidence boundaries explicit.</a:t>
            </a:r>
          </a:p>
          <a:p/>
          <a:p>
            <a:r>
              <a:t>Sources relative to cais_spade_llm/spec2primitives/:</a:t>
            </a:r>
          </a:p>
          <a:p>
            <a:r>
              <a:t>- Validate the interaction semantic bridge: agents/pa/product_context.py:951</a:t>
            </a:r>
          </a:p>
          <a:p>
            <a:r>
              <a:t>- Compile separate pairwise associations and exact owners: agents/pa/ontology_grounding.py:864</a:t>
            </a:r>
          </a:p>
          <a:p>
            <a:r>
              <a:t>- Configured process/resource capability authority: ontology/workcell.py:112</a:t>
            </a:r>
          </a:p>
          <a:p>
            <a:r>
              <a:t>- Validate the ontology projection for the selected RA: agents/ra/composition_context.py:387</a:t>
            </a:r>
          </a:p>
          <a:p>
            <a:r>
              <a:t>- Proposal, evidence and assignment records: schemas/README.md:19</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backup slide; excluded from the 10-minute main talk.</a:t>
            </a:r>
          </a:p>
          <a:p/>
          <a:p>
            <a:r>
              <a:t>This backup shows the narrow assignment vocabulary. In the saved run, specification_1 hasProcessExecution process_execution_0001. That individual is typed processExecution, runsProcess process:assembly, and runsOnResource resource:xarm6. Those are four system-authored assertions, including the rdf:type statement. They are committed only after validation of PA's selected resource and supporting evidence. The current ABox validator requires a complete current assignment with one process and one resource. The TBox marks runsProcess and runsOnResource functional, while hasProcessExecution itself is not functional. The stricter one-current-assignment policy is implemented by host code. The existence of a processExecution individual records the assignment here; it does not assert that robot motion happened. The corresponding completion records motion_executed false. Broad capableOf facts belong to configured Workcell authority and do not by themselves select xarm6.</a:t>
            </a:r>
          </a:p>
          <a:p/>
          <a:p>
            <a:r>
              <a:t>Sources relative to cais_spade_llm/spec2primitives/:</a:t>
            </a:r>
          </a:p>
          <a:p>
            <a:r>
              <a:t>- Exact supplied PPR TBox: ontology/spec2primitives_ppr_tbox.owl:10</a:t>
            </a:r>
          </a:p>
          <a:p>
            <a:r>
              <a:t>- Saved interaction ABox: contexts/interaction_116f33c8cce64d33b0066891bf228572/products/grounding/ontology/interaction_abox.ttl</a:t>
            </a:r>
          </a:p>
          <a:p>
            <a:r>
              <a:t>- Validate one current system-authored assignment: agents/pa/product_context.py:1011</a:t>
            </a:r>
          </a:p>
          <a:p>
            <a:r>
              <a:t>- Saved Phase 4 completion: contexts/interaction_116f33c8cce64d33b0066891bf228572/interaction_record/context_completion_0001.json</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backup slide; excluded from the 10-minute main talk.</a:t>
            </a:r>
          </a:p>
          <a:p/>
          <a:p>
            <a:r>
              <a:t>OWL specifies logical meaning. Under its open-world semantics, missing information is not automatically false. A functional property limits its semantic values but does not require an explicit input field. Likewise, a cardinality axiom is not a parser check that two endpoint records were supplied. W3C distinguishes this from data validation; SHACL is a separate standard for validating graph constraints. In this project the relevant checks are explicit Python contracts: the TBox loader verifies the supplied profile, the PA proposal validator requires exactly two distinct endpoint identities, state bindings must reference accepted coordinate-bearing values, and the assignment validator requires complete links. The named-class traversal supports subclass-aware checks, but these inspected functions are not a general OWL consistency or planning reasoner. Do not credit OWL alone with rejecting every missing field, checking source hashes, establishing semantic task correctness or certifying geometry. Those responsibilities are supplied by the host, evidence tools and planning adapters.</a:t>
            </a:r>
          </a:p>
          <a:p/>
          <a:p>
            <a:r>
              <a:t>Sources relative to cais_spade_llm/spec2primitives/:</a:t>
            </a:r>
          </a:p>
          <a:p>
            <a:r>
              <a:t>- W3C OWL 2 Primer: semantics and syntactic completeness: https://www.w3.org/TR/owl2-primer/</a:t>
            </a:r>
          </a:p>
          <a:p>
            <a:r>
              <a:t>- W3C SHACL: separate graph validation: https://www.w3.org/TR/shacl/#validation</a:t>
            </a:r>
          </a:p>
          <a:p>
            <a:r>
              <a:t>- TBox validation and named-class traversal: ontology/ppr_tbox.py:61</a:t>
            </a:r>
          </a:p>
          <a:p>
            <a:r>
              <a:t>- Validate two distinct endpoints and exact bindings: agents/pa/ontology_grounding.py:720</a:t>
            </a:r>
          </a:p>
          <a:p>
            <a:r>
              <a:t>- Validate one current system-authored assignment: agents/pa/product_context.py:1011</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backup slide; excluded from the 10-minute main talk.</a:t>
            </a:r>
          </a:p>
          <a:p/>
          <a:p>
            <a:r>
              <a:t>This slide makes the storage boundary visible. The actual Turtle graph types feature_0001 and connects it to currentstate_0001 and desiredstate_0001. The graph does not put the detailed state description and numeric observation data into new PPR datatype properties. In fact, the supplied TBox declares no datatype properties. The saved target_feature proposal contains the desired-state statement and exact state-value names. Its value_ref selects an exact field of a typed record. In this example, the field is /cameras/3/candidates/2 in the saved segmentation record, and the corresponding records preserve the geometry and provenance. The canonical paths are shown for audit; model-facing handles and order are projected separately. The supporting evidence and hash chain are part of the grounding contract, rather than consequences of a class hierarchy. Coordinates must still be interpreted in their frame and for their supported semantic role.</a:t>
            </a:r>
          </a:p>
          <a:p/>
          <a:p>
            <a:r>
              <a:t>Sources relative to cais_spade_llm/spec2primitives/:</a:t>
            </a:r>
          </a:p>
          <a:p>
            <a:r>
              <a:t>- Saved interaction ABox: contexts/interaction_116f33c8cce64d33b0066891bf228572/products/grounding/ontology/interaction_abox.ttl</a:t>
            </a:r>
          </a:p>
          <a:p>
            <a:r>
              <a:t>- Saved PA target_feature and exact labels: contexts/interaction_116f33c8cce64d33b0066891bf228572/products/grounding/ontology_grounding/proposal_0001.json</a:t>
            </a:r>
          </a:p>
          <a:p>
            <a:r>
              <a:t>- Proposal, evidence and assignment records: schemas/README.md:19</a:t>
            </a:r>
          </a:p>
          <a:p>
            <a:r>
              <a:t>- Vocabulary, domains, ranges and cardinality regression: tests/test_ppr_tbox.py:27</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backup slide; excluded from the 10-minute main talk.</a:t>
            </a:r>
          </a:p>
          <a:p/>
          <a:p>
            <a:r>
              <a:t>These are inspection patterns over the accepted representation, rather than a claim that the current RA authoring loop exposes an interactive SPARQL service. The runtime uses targeted graph lookups, configured capability matching and accepted assertion projections. We can trace the feature defined by a specification, the process realizing that feature, the configured resources broadly capable of that process, the selected assignment, and the two interfaces linked by an assembly association. Readable endpoint names require joining the identifiers to the saved proposal. That join is a practical benefit of explicit identities: shared structure can be inspected without interpreting a long natural-language transcript again. The current RA input constructor specifically validates defines, realizes and the assignment relations before returning its ontology projection. Queryability is therefore a property of the representation; the tool interface and its supported operations should be reported separately from it.</a:t>
            </a:r>
          </a:p>
          <a:p/>
          <a:p>
            <a:r>
              <a:t>Sources relative to cais_spade_llm/spec2primitives/:</a:t>
            </a:r>
          </a:p>
          <a:p>
            <a:r>
              <a:t>- Saved interaction ABox: contexts/interaction_116f33c8cce64d33b0066891bf228572/products/grounding/ontology/interaction_abox.ttl</a:t>
            </a:r>
          </a:p>
          <a:p>
            <a:r>
              <a:t>- Saved PA target_feature and exact labels: contexts/interaction_116f33c8cce64d33b0066891bf228572/products/grounding/ontology_grounding/proposal_0001.json</a:t>
            </a:r>
          </a:p>
          <a:p>
            <a:r>
              <a:t>- Configured process/resource capability authority: ontology/workcell.py:112</a:t>
            </a:r>
          </a:p>
          <a:p>
            <a:r>
              <a:t>- Validate the ontology projection for the selected RA: agents/ra/composition_context.py:387</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backup slide; excluded from the 10-minute main talk.</a:t>
            </a:r>
          </a:p>
          <a:p/>
          <a:p>
            <a:r>
              <a:t>A fair study separates the value of explicit task structure from the choice of encoding. A prompt-only narrative can test the first question, but it is not an adequate sole comparator for claiming that OWL is necessary. Typed JSON that preserves the same identities, relations, evidence and validators is a comparator for the representation, not for the absence of a semantic model. Compare it with the current PPR graph plus linked records while holding the evidence, observations, model settings, budgets, candidate presentation and planning conditions fixed. Measure task-role accuracy with a separate evaluator, reference and handoff failures, correction effort, token cost and latency. Also document schema maintenance and integration effort if interoperability is part of the motivation. These are proposed measurements, not results. If equivalent JSON performs similarly, justify PPR through the shared vocabulary and integration requirements; do not assert an unmeasured accuracy advantage.</a:t>
            </a:r>
          </a:p>
          <a:p/>
          <a:p>
            <a:r>
              <a:t>Sources relative to cais_spade_llm/spec2primitives/:</a:t>
            </a:r>
          </a:p>
          <a:p>
            <a:r>
              <a:t>- Exact supplied PPR TBox: ontology/spec2primitives_ppr_tbox.owl:10</a:t>
            </a:r>
          </a:p>
          <a:p>
            <a:r>
              <a:t>- Proposal, evidence and assignment records: schemas/README.md:19</a:t>
            </a:r>
          </a:p>
          <a:p>
            <a:r>
              <a:t>- Validate the ontology projection for the selected RA: agents/ra/composition_context.py:387</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backup slide; excluded from the 10-minute main talk.</a:t>
            </a:r>
          </a:p>
          <a:p/>
          <a:p>
            <a:r>
              <a:t>This reference table is generated directly from the supplied OWL file. It includes all twelve object properties with their exact domain and range, and whether each is declared functional. There are four functional properties: hascurrentstate, hasdesiredstate, runsProcess and runsOnResource. The four assembly properties are not functional. The pairwise restriction is a qualified cardinality on AssemblyFeatureAssociation through relatesAssemblyFeature, so the fact that the property is not functional does not remove that restriction. The supplied vocabulary has twelve classes and no declared datatype properties. Do not add commonly expected PPR properties such as a generic hasFeature unless they are explicitly added to the approved schema in a separate implementation change. This deck documents the supplied vocabulary exactly.</a:t>
            </a:r>
          </a:p>
          <a:p/>
          <a:p>
            <a:r>
              <a:t>Sources relative to cais_spade_llm/spec2primitives/:</a:t>
            </a:r>
          </a:p>
          <a:p>
            <a:r>
              <a:t>- Exact supplied PPR TBox: ontology/spec2primitives_ppr_tbox.owl:10</a:t>
            </a:r>
          </a:p>
          <a:p>
            <a:r>
              <a:t>- Vocabulary, domains, ranges and cardinality regression: tests/test_ppr_tbox.py:27</a:t>
            </a:r>
          </a:p>
          <a:p>
            <a:r>
              <a:t>- Assembly classes and cardinality: ontology/spec2primitives_ppr_tbox.owl:19</a:t>
            </a:r>
          </a:p>
          <a:p/>
          <a:p>
            <a:r>
              <a:t>This is a presentation of inspected code and a saved trace. No new runtime experiment was run.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ONTOLOGY  /  DESIGN JUSTIFICATION</a:t>
            </a:r>
          </a:p>
        </p:txBody>
      </p:sp>
      <p:sp>
        <p:nvSpPr>
          <p:cNvPr id="3" name="TextBox 2"/>
          <p:cNvSpPr txBox="1"/>
          <p:nvPr/>
        </p:nvSpPr>
        <p:spPr>
          <a:xfrm>
            <a:off x="548640" y="832104"/>
            <a:ext cx="11091672" cy="777240"/>
          </a:xfrm>
          <a:prstGeom prst="rect">
            <a:avLst/>
          </a:prstGeom>
          <a:noFill/>
        </p:spPr>
        <p:txBody>
          <a:bodyPr wrap="none" lIns="0" rIns="0" tIns="0" bIns="0">
            <a:spAutoFit/>
          </a:bodyPr>
          <a:lstStyle/>
          <a:p>
            <a:pPr algn="l">
              <a:lnSpc>
                <a:spcPts val="3711"/>
              </a:lnSpc>
              <a:spcBef>
                <a:spcPts val="0"/>
              </a:spcBef>
              <a:spcAft>
                <a:spcPts val="0"/>
              </a:spcAft>
            </a:pPr>
            <a:r>
              <a:rPr sz="2900" b="1">
                <a:solidFill>
                  <a:srgbClr val="182C3A"/>
                </a:solidFill>
                <a:latin typeface="Arial"/>
              </a:rPr>
              <a:t>Is an ontology needed here?</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4128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Supplied OWL + current code + saved ABox • 09 Sep 2026 • Sources in notes</a:t>
            </a:r>
          </a:p>
        </p:txBody>
      </p:sp>
      <p:sp>
        <p:nvSpPr>
          <p:cNvPr id="6" name="TextBox 5"/>
          <p:cNvSpPr txBox="1"/>
          <p:nvPr/>
        </p:nvSpPr>
        <p:spPr>
          <a:xfrm>
            <a:off x="576072" y="1719072"/>
            <a:ext cx="10972800" cy="493776"/>
          </a:xfrm>
          <a:prstGeom prst="rect">
            <a:avLst/>
          </a:prstGeom>
          <a:noFill/>
        </p:spPr>
        <p:txBody>
          <a:bodyPr wrap="none" lIns="0" rIns="0" tIns="0" bIns="0">
            <a:spAutoFit/>
          </a:bodyPr>
          <a:lstStyle/>
          <a:p>
            <a:pPr algn="l">
              <a:lnSpc>
                <a:spcPts val="3072"/>
              </a:lnSpc>
              <a:spcBef>
                <a:spcPts val="0"/>
              </a:spcBef>
              <a:spcAft>
                <a:spcPts val="0"/>
              </a:spcAft>
            </a:pPr>
            <a:r>
              <a:rPr sz="2400" b="1">
                <a:solidFill>
                  <a:srgbClr val="087F82"/>
                </a:solidFill>
                <a:latin typeface="Arial"/>
              </a:rPr>
              <a:t>Useful as the shared semantic contract in the current architecture.</a:t>
            </a:r>
          </a:p>
        </p:txBody>
      </p:sp>
      <p:sp>
        <p:nvSpPr>
          <p:cNvPr id="7" name="Rectangle 6"/>
          <p:cNvSpPr/>
          <p:nvPr/>
        </p:nvSpPr>
        <p:spPr>
          <a:xfrm>
            <a:off x="548640" y="2596896"/>
            <a:ext cx="5385816" cy="2496312"/>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2761488"/>
            <a:ext cx="5056631" cy="411480"/>
          </a:xfrm>
          <a:prstGeom prst="rect">
            <a:avLst/>
          </a:prstGeom>
          <a:noFill/>
        </p:spPr>
        <p:txBody>
          <a:bodyPr wrap="none" lIns="0" rIns="0" tIns="0" bIns="0">
            <a:spAutoFit/>
          </a:bodyPr>
          <a:lstStyle/>
          <a:p>
            <a:pPr algn="ctr">
              <a:lnSpc>
                <a:spcPts val="2944"/>
              </a:lnSpc>
              <a:spcBef>
                <a:spcPts val="0"/>
              </a:spcBef>
              <a:spcAft>
                <a:spcPts val="0"/>
              </a:spcAft>
            </a:pPr>
            <a:r>
              <a:rPr sz="2300" b="1">
                <a:solidFill>
                  <a:srgbClr val="087F82"/>
                </a:solidFill>
                <a:latin typeface="Arial"/>
              </a:rPr>
              <a:t>What it provides</a:t>
            </a:r>
          </a:p>
        </p:txBody>
      </p:sp>
      <p:sp>
        <p:nvSpPr>
          <p:cNvPr id="9" name="TextBox 8"/>
          <p:cNvSpPr txBox="1"/>
          <p:nvPr/>
        </p:nvSpPr>
        <p:spPr>
          <a:xfrm>
            <a:off x="777240" y="3374136"/>
            <a:ext cx="4910328" cy="1243584"/>
          </a:xfrm>
          <a:prstGeom prst="rect">
            <a:avLst/>
          </a:prstGeom>
          <a:noFill/>
        </p:spPr>
        <p:txBody>
          <a:bodyPr wrap="none" lIns="0" rIns="0" tIns="0" bIns="0">
            <a:spAutoFit/>
          </a:bodyPr>
          <a:lstStyle/>
          <a:p>
            <a:pPr algn="l">
              <a:lnSpc>
                <a:spcPts val="2688"/>
              </a:lnSpc>
              <a:spcBef>
                <a:spcPts val="0"/>
              </a:spcBef>
              <a:spcAft>
                <a:spcPts val="0"/>
              </a:spcAft>
            </a:pPr>
            <a:r>
              <a:rPr sz="2100" b="0">
                <a:solidFill>
                  <a:srgbClr val="182C3A"/>
                </a:solidFill>
                <a:latin typeface="Arial"/>
              </a:rPr>
              <a:t>Explicit product / process / resource links</a:t>
            </a:r>
          </a:p>
          <a:p>
            <a:pPr algn="l">
              <a:lnSpc>
                <a:spcPts val="2688"/>
              </a:lnSpc>
              <a:spcBef>
                <a:spcPts val="0"/>
              </a:spcBef>
              <a:spcAft>
                <a:spcPts val="0"/>
              </a:spcAft>
            </a:pPr>
            <a:r>
              <a:rPr sz="2100" b="0">
                <a:solidFill>
                  <a:srgbClr val="182C3A"/>
                </a:solidFill>
                <a:latin typeface="Arial"/>
              </a:rPr>
              <a:t>Reusable assembly relationships</a:t>
            </a:r>
          </a:p>
          <a:p>
            <a:pPr algn="l">
              <a:lnSpc>
                <a:spcPts val="2688"/>
              </a:lnSpc>
              <a:spcBef>
                <a:spcPts val="0"/>
              </a:spcBef>
              <a:spcAft>
                <a:spcPts val="0"/>
              </a:spcAft>
            </a:pPr>
            <a:r>
              <a:rPr sz="2100" b="0">
                <a:solidFill>
                  <a:srgbClr val="182C3A"/>
                </a:solidFill>
                <a:latin typeface="Arial"/>
              </a:rPr>
              <a:t>A common structure for PA and RA</a:t>
            </a:r>
          </a:p>
        </p:txBody>
      </p:sp>
      <p:sp>
        <p:nvSpPr>
          <p:cNvPr id="10" name="Rectangle 9"/>
          <p:cNvSpPr/>
          <p:nvPr/>
        </p:nvSpPr>
        <p:spPr>
          <a:xfrm>
            <a:off x="6153912" y="2596896"/>
            <a:ext cx="5486400" cy="24963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18504" y="2761488"/>
            <a:ext cx="5157216" cy="411480"/>
          </a:xfrm>
          <a:prstGeom prst="rect">
            <a:avLst/>
          </a:prstGeom>
          <a:noFill/>
        </p:spPr>
        <p:txBody>
          <a:bodyPr wrap="none" lIns="0" rIns="0" tIns="0" bIns="0">
            <a:spAutoFit/>
          </a:bodyPr>
          <a:lstStyle/>
          <a:p>
            <a:pPr algn="ctr">
              <a:lnSpc>
                <a:spcPts val="2944"/>
              </a:lnSpc>
              <a:spcBef>
                <a:spcPts val="0"/>
              </a:spcBef>
              <a:spcAft>
                <a:spcPts val="0"/>
              </a:spcAft>
            </a:pPr>
            <a:r>
              <a:rPr sz="2300" b="1">
                <a:solidFill>
                  <a:srgbClr val="182C3A"/>
                </a:solidFill>
                <a:latin typeface="Arial"/>
              </a:rPr>
              <a:t>What the claim requires</a:t>
            </a:r>
          </a:p>
        </p:txBody>
      </p:sp>
      <p:sp>
        <p:nvSpPr>
          <p:cNvPr id="12" name="TextBox 11"/>
          <p:cNvSpPr txBox="1"/>
          <p:nvPr/>
        </p:nvSpPr>
        <p:spPr>
          <a:xfrm>
            <a:off x="6382512" y="3374136"/>
            <a:ext cx="5010912" cy="1243584"/>
          </a:xfrm>
          <a:prstGeom prst="rect">
            <a:avLst/>
          </a:prstGeom>
          <a:noFill/>
        </p:spPr>
        <p:txBody>
          <a:bodyPr wrap="none" lIns="0" rIns="0" tIns="0" bIns="0">
            <a:spAutoFit/>
          </a:bodyPr>
          <a:lstStyle/>
          <a:p>
            <a:pPr algn="l">
              <a:lnSpc>
                <a:spcPts val="2688"/>
              </a:lnSpc>
              <a:spcBef>
                <a:spcPts val="0"/>
              </a:spcBef>
              <a:spcAft>
                <a:spcPts val="0"/>
              </a:spcAft>
            </a:pPr>
            <a:r>
              <a:rPr sz="2100" b="0">
                <a:solidFill>
                  <a:srgbClr val="182C3A"/>
                </a:solidFill>
                <a:latin typeface="Arial"/>
              </a:rPr>
              <a:t>OWL/RDF is a representation choice.</a:t>
            </a:r>
          </a:p>
          <a:p>
            <a:pPr algn="l">
              <a:lnSpc>
                <a:spcPts val="2688"/>
              </a:lnSpc>
              <a:spcBef>
                <a:spcPts val="0"/>
              </a:spcBef>
              <a:spcAft>
                <a:spcPts val="0"/>
              </a:spcAft>
            </a:pPr>
            <a:r>
              <a:rPr sz="2100" b="0">
                <a:solidFill>
                  <a:srgbClr val="182C3A"/>
                </a:solidFill>
                <a:latin typeface="Arial"/>
              </a:rPr>
              <a:t>Typed JSON can retain the PPR model.</a:t>
            </a:r>
          </a:p>
          <a:p>
            <a:pPr algn="l">
              <a:lnSpc>
                <a:spcPts val="2688"/>
              </a:lnSpc>
              <a:spcBef>
                <a:spcPts val="0"/>
              </a:spcBef>
              <a:spcAft>
                <a:spcPts val="0"/>
              </a:spcAft>
            </a:pPr>
            <a:r>
              <a:rPr sz="2100" b="0">
                <a:solidFill>
                  <a:srgbClr val="182C3A"/>
                </a:solidFill>
                <a:latin typeface="Arial"/>
              </a:rPr>
              <a:t>Accuracy gains need an experiment.</a:t>
            </a:r>
          </a:p>
        </p:txBody>
      </p:sp>
      <p:sp>
        <p:nvSpPr>
          <p:cNvPr id="13" name="Rectangle 12"/>
          <p:cNvSpPr/>
          <p:nvPr/>
        </p:nvSpPr>
        <p:spPr>
          <a:xfrm>
            <a:off x="548640" y="5632704"/>
            <a:ext cx="11091672" cy="49377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0664" y="5760720"/>
            <a:ext cx="10707624" cy="283464"/>
          </a:xfrm>
          <a:prstGeom prst="rect">
            <a:avLst/>
          </a:prstGeom>
          <a:noFill/>
        </p:spPr>
        <p:txBody>
          <a:bodyPr wrap="none" lIns="0" rIns="0" tIns="0" bIns="0">
            <a:spAutoFit/>
          </a:bodyPr>
          <a:lstStyle/>
          <a:p>
            <a:pPr algn="l">
              <a:lnSpc>
                <a:spcPts val="2688"/>
              </a:lnSpc>
              <a:spcBef>
                <a:spcPts val="0"/>
              </a:spcBef>
              <a:spcAft>
                <a:spcPts val="0"/>
              </a:spcAft>
            </a:pPr>
            <a:r>
              <a:rPr sz="2100" b="1">
                <a:solidFill>
                  <a:srgbClr val="087F82"/>
                </a:solidFill>
                <a:latin typeface="Arial"/>
              </a:rPr>
              <a:t>Keep PPR for explicit shared meaning; evaluate its added value separately.</a:t>
            </a:r>
          </a:p>
        </p:txBody>
      </p:sp>
      <p:sp>
        <p:nvSpPr>
          <p:cNvPr id="15" name="TextBox 14"/>
          <p:cNvSpPr txBox="1"/>
          <p:nvPr/>
        </p:nvSpPr>
        <p:spPr>
          <a:xfrm>
            <a:off x="10972800" y="6483096"/>
            <a:ext cx="667512"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01 / 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ONTOLOGY  /  PPR VIEWS</a:t>
            </a:r>
          </a:p>
        </p:txBody>
      </p:sp>
      <p:sp>
        <p:nvSpPr>
          <p:cNvPr id="3" name="TextBox 2"/>
          <p:cNvSpPr txBox="1"/>
          <p:nvPr/>
        </p:nvSpPr>
        <p:spPr>
          <a:xfrm>
            <a:off x="548640" y="832104"/>
            <a:ext cx="11091672" cy="777240"/>
          </a:xfrm>
          <a:prstGeom prst="rect">
            <a:avLst/>
          </a:prstGeom>
          <a:noFill/>
        </p:spPr>
        <p:txBody>
          <a:bodyPr wrap="none" lIns="0" rIns="0" tIns="0" bIns="0">
            <a:spAutoFit/>
          </a:bodyPr>
          <a:lstStyle/>
          <a:p>
            <a:pPr algn="l">
              <a:lnSpc>
                <a:spcPts val="3711"/>
              </a:lnSpc>
              <a:spcBef>
                <a:spcPts val="0"/>
              </a:spcBef>
              <a:spcAft>
                <a:spcPts val="0"/>
              </a:spcAft>
            </a:pPr>
            <a:r>
              <a:rPr sz="2900" b="1">
                <a:solidFill>
                  <a:srgbClr val="182C3A"/>
                </a:solidFill>
                <a:latin typeface="Arial"/>
              </a:rPr>
              <a:t>PPR connects Product, Process and Resource</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4128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Supplied OWL + current code + saved ABox • 09 Sep 2026 • Sources in notes</a:t>
            </a:r>
          </a:p>
        </p:txBody>
      </p:sp>
      <p:sp>
        <p:nvSpPr>
          <p:cNvPr id="6" name="Rectangle 5"/>
          <p:cNvSpPr/>
          <p:nvPr/>
        </p:nvSpPr>
        <p:spPr>
          <a:xfrm>
            <a:off x="548640" y="1856231"/>
            <a:ext cx="3529584" cy="3538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0664" y="2084831"/>
            <a:ext cx="3145536" cy="393192"/>
          </a:xfrm>
          <a:prstGeom prst="rect">
            <a:avLst/>
          </a:prstGeom>
          <a:noFill/>
        </p:spPr>
        <p:txBody>
          <a:bodyPr wrap="none" lIns="0" rIns="0" tIns="0" bIns="0">
            <a:spAutoFit/>
          </a:bodyPr>
          <a:lstStyle/>
          <a:p>
            <a:pPr algn="l">
              <a:lnSpc>
                <a:spcPts val="2944"/>
              </a:lnSpc>
              <a:spcBef>
                <a:spcPts val="0"/>
              </a:spcBef>
              <a:spcAft>
                <a:spcPts val="0"/>
              </a:spcAft>
            </a:pPr>
            <a:r>
              <a:rPr sz="2300" b="1">
                <a:solidFill>
                  <a:srgbClr val="087F82"/>
                </a:solidFill>
                <a:latin typeface="Arial"/>
              </a:rPr>
              <a:t>PRODUCT</a:t>
            </a:r>
          </a:p>
        </p:txBody>
      </p:sp>
      <p:sp>
        <p:nvSpPr>
          <p:cNvPr id="8" name="TextBox 7"/>
          <p:cNvSpPr txBox="1"/>
          <p:nvPr/>
        </p:nvSpPr>
        <p:spPr>
          <a:xfrm>
            <a:off x="740664" y="2752344"/>
            <a:ext cx="3145536" cy="548640"/>
          </a:xfrm>
          <a:prstGeom prst="rect">
            <a:avLst/>
          </a:prstGeom>
          <a:noFill/>
        </p:spPr>
        <p:txBody>
          <a:bodyPr wrap="none" lIns="0" rIns="0" tIns="0" bIns="0">
            <a:spAutoFit/>
          </a:bodyPr>
          <a:lstStyle/>
          <a:p>
            <a:pPr algn="l">
              <a:lnSpc>
                <a:spcPts val="2176"/>
              </a:lnSpc>
              <a:spcBef>
                <a:spcPts val="0"/>
              </a:spcBef>
              <a:spcAft>
                <a:spcPts val="0"/>
              </a:spcAft>
            </a:pPr>
            <a:r>
              <a:rPr sz="1700" b="1">
                <a:solidFill>
                  <a:srgbClr val="182C3A"/>
                </a:solidFill>
                <a:latin typeface="Arial"/>
              </a:rPr>
              <a:t>What is involved</a:t>
            </a:r>
          </a:p>
          <a:p>
            <a:pPr algn="l">
              <a:lnSpc>
                <a:spcPts val="2176"/>
              </a:lnSpc>
              <a:spcBef>
                <a:spcPts val="0"/>
              </a:spcBef>
              <a:spcAft>
                <a:spcPts val="0"/>
              </a:spcAft>
            </a:pPr>
            <a:r>
              <a:rPr sz="1700" b="1">
                <a:solidFill>
                  <a:srgbClr val="182C3A"/>
                </a:solidFill>
                <a:latin typeface="Arial"/>
              </a:rPr>
              <a:t>and required?</a:t>
            </a:r>
          </a:p>
        </p:txBody>
      </p:sp>
      <p:sp>
        <p:nvSpPr>
          <p:cNvPr id="9" name="TextBox 8"/>
          <p:cNvSpPr txBox="1"/>
          <p:nvPr/>
        </p:nvSpPr>
        <p:spPr>
          <a:xfrm>
            <a:off x="740664" y="3575304"/>
            <a:ext cx="3145536" cy="914400"/>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product  •  feature  •  state</a:t>
            </a:r>
          </a:p>
          <a:p>
            <a:pPr algn="l">
              <a:lnSpc>
                <a:spcPts val="2304"/>
              </a:lnSpc>
              <a:spcBef>
                <a:spcPts val="0"/>
              </a:spcBef>
              <a:spcAft>
                <a:spcPts val="0"/>
              </a:spcAft>
            </a:pPr>
            <a:r>
              <a:rPr sz="1800" b="0">
                <a:solidFill>
                  <a:srgbClr val="182C3A"/>
                </a:solidFill>
                <a:latin typeface="Arial"/>
              </a:rPr>
              <a:t>specification</a:t>
            </a:r>
          </a:p>
          <a:p>
            <a:pPr algn="l">
              <a:lnSpc>
                <a:spcPts val="2304"/>
              </a:lnSpc>
              <a:spcBef>
                <a:spcPts val="0"/>
              </a:spcBef>
              <a:spcAft>
                <a:spcPts val="0"/>
              </a:spcAft>
            </a:pPr>
            <a:r>
              <a:rPr sz="1800" b="0">
                <a:solidFill>
                  <a:srgbClr val="182C3A"/>
                </a:solidFill>
                <a:latin typeface="Arial"/>
              </a:rPr>
              <a:t>Assembly / Part extension</a:t>
            </a:r>
          </a:p>
        </p:txBody>
      </p:sp>
      <p:sp>
        <p:nvSpPr>
          <p:cNvPr id="10" name="TextBox 9"/>
          <p:cNvSpPr txBox="1"/>
          <p:nvPr/>
        </p:nvSpPr>
        <p:spPr>
          <a:xfrm>
            <a:off x="740664" y="4681728"/>
            <a:ext cx="3145536" cy="548640"/>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52616A"/>
                </a:solidFill>
                <a:latin typeface="Arial"/>
              </a:rPr>
              <a:t>medium gear</a:t>
            </a:r>
          </a:p>
          <a:p>
            <a:pPr algn="l">
              <a:lnSpc>
                <a:spcPts val="2304"/>
              </a:lnSpc>
              <a:spcBef>
                <a:spcPts val="0"/>
              </a:spcBef>
              <a:spcAft>
                <a:spcPts val="0"/>
              </a:spcAft>
            </a:pPr>
            <a:r>
              <a:rPr sz="1800" b="0">
                <a:solidFill>
                  <a:srgbClr val="52616A"/>
                </a:solidFill>
                <a:latin typeface="Arial"/>
              </a:rPr>
              <a:t>gear plate assembly</a:t>
            </a:r>
          </a:p>
        </p:txBody>
      </p:sp>
      <p:sp>
        <p:nvSpPr>
          <p:cNvPr id="11" name="Rectangle 10"/>
          <p:cNvSpPr/>
          <p:nvPr/>
        </p:nvSpPr>
        <p:spPr>
          <a:xfrm>
            <a:off x="4325112" y="1856231"/>
            <a:ext cx="3529584" cy="3538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17136" y="2084831"/>
            <a:ext cx="3145536" cy="393192"/>
          </a:xfrm>
          <a:prstGeom prst="rect">
            <a:avLst/>
          </a:prstGeom>
          <a:noFill/>
        </p:spPr>
        <p:txBody>
          <a:bodyPr wrap="none" lIns="0" rIns="0" tIns="0" bIns="0">
            <a:spAutoFit/>
          </a:bodyPr>
          <a:lstStyle/>
          <a:p>
            <a:pPr algn="l">
              <a:lnSpc>
                <a:spcPts val="2944"/>
              </a:lnSpc>
              <a:spcBef>
                <a:spcPts val="0"/>
              </a:spcBef>
              <a:spcAft>
                <a:spcPts val="0"/>
              </a:spcAft>
            </a:pPr>
            <a:r>
              <a:rPr sz="2300" b="1">
                <a:solidFill>
                  <a:srgbClr val="087F82"/>
                </a:solidFill>
                <a:latin typeface="Arial"/>
              </a:rPr>
              <a:t>PROCESS</a:t>
            </a:r>
          </a:p>
        </p:txBody>
      </p:sp>
      <p:sp>
        <p:nvSpPr>
          <p:cNvPr id="13" name="TextBox 12"/>
          <p:cNvSpPr txBox="1"/>
          <p:nvPr/>
        </p:nvSpPr>
        <p:spPr>
          <a:xfrm>
            <a:off x="4517136" y="2752344"/>
            <a:ext cx="3145536" cy="548640"/>
          </a:xfrm>
          <a:prstGeom prst="rect">
            <a:avLst/>
          </a:prstGeom>
          <a:noFill/>
        </p:spPr>
        <p:txBody>
          <a:bodyPr wrap="none" lIns="0" rIns="0" tIns="0" bIns="0">
            <a:spAutoFit/>
          </a:bodyPr>
          <a:lstStyle/>
          <a:p>
            <a:pPr algn="l">
              <a:lnSpc>
                <a:spcPts val="2176"/>
              </a:lnSpc>
              <a:spcBef>
                <a:spcPts val="0"/>
              </a:spcBef>
              <a:spcAft>
                <a:spcPts val="0"/>
              </a:spcAft>
            </a:pPr>
            <a:r>
              <a:rPr sz="1700" b="1">
                <a:solidFill>
                  <a:srgbClr val="182C3A"/>
                </a:solidFill>
                <a:latin typeface="Arial"/>
              </a:rPr>
              <a:t>What activity realizes</a:t>
            </a:r>
          </a:p>
          <a:p>
            <a:pPr algn="l">
              <a:lnSpc>
                <a:spcPts val="2176"/>
              </a:lnSpc>
              <a:spcBef>
                <a:spcPts val="0"/>
              </a:spcBef>
              <a:spcAft>
                <a:spcPts val="0"/>
              </a:spcAft>
            </a:pPr>
            <a:r>
              <a:rPr sz="1700" b="1">
                <a:solidFill>
                  <a:srgbClr val="182C3A"/>
                </a:solidFill>
                <a:latin typeface="Arial"/>
              </a:rPr>
              <a:t>the goal?</a:t>
            </a:r>
          </a:p>
        </p:txBody>
      </p:sp>
      <p:sp>
        <p:nvSpPr>
          <p:cNvPr id="14" name="TextBox 13"/>
          <p:cNvSpPr txBox="1"/>
          <p:nvPr/>
        </p:nvSpPr>
        <p:spPr>
          <a:xfrm>
            <a:off x="4517136" y="3575304"/>
            <a:ext cx="3145536" cy="914400"/>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process</a:t>
            </a:r>
          </a:p>
          <a:p>
            <a:pPr algn="l">
              <a:lnSpc>
                <a:spcPts val="2304"/>
              </a:lnSpc>
              <a:spcBef>
                <a:spcPts val="0"/>
              </a:spcBef>
              <a:spcAft>
                <a:spcPts val="0"/>
              </a:spcAft>
            </a:pPr>
            <a:r>
              <a:rPr sz="1800" b="0">
                <a:solidFill>
                  <a:srgbClr val="182C3A"/>
                </a:solidFill>
                <a:latin typeface="Arial"/>
              </a:rPr>
              <a:t>processExecution</a:t>
            </a:r>
          </a:p>
          <a:p>
            <a:pPr algn="l">
              <a:lnSpc>
                <a:spcPts val="2304"/>
              </a:lnSpc>
              <a:spcBef>
                <a:spcPts val="0"/>
              </a:spcBef>
              <a:spcAft>
                <a:spcPts val="0"/>
              </a:spcAft>
            </a:pPr>
            <a:r>
              <a:rPr sz="1800" b="0">
                <a:solidFill>
                  <a:srgbClr val="182C3A"/>
                </a:solidFill>
                <a:latin typeface="Arial"/>
              </a:rPr>
              <a:t>realizes</a:t>
            </a:r>
          </a:p>
        </p:txBody>
      </p:sp>
      <p:sp>
        <p:nvSpPr>
          <p:cNvPr id="15" name="TextBox 14"/>
          <p:cNvSpPr txBox="1"/>
          <p:nvPr/>
        </p:nvSpPr>
        <p:spPr>
          <a:xfrm>
            <a:off x="4517136" y="4681728"/>
            <a:ext cx="3145536" cy="548640"/>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52616A"/>
                </a:solidFill>
                <a:latin typeface="Arial"/>
              </a:rPr>
              <a:t>assembly</a:t>
            </a:r>
          </a:p>
          <a:p>
            <a:pPr algn="l">
              <a:lnSpc>
                <a:spcPts val="2304"/>
              </a:lnSpc>
              <a:spcBef>
                <a:spcPts val="0"/>
              </a:spcBef>
              <a:spcAft>
                <a:spcPts val="0"/>
              </a:spcAft>
            </a:pPr>
            <a:r>
              <a:rPr sz="1800" b="0">
                <a:solidFill>
                  <a:srgbClr val="52616A"/>
                </a:solidFill>
                <a:latin typeface="Arial"/>
              </a:rPr>
              <a:t>recorded assignment</a:t>
            </a:r>
          </a:p>
        </p:txBody>
      </p:sp>
      <p:sp>
        <p:nvSpPr>
          <p:cNvPr id="16" name="Rectangle 15"/>
          <p:cNvSpPr/>
          <p:nvPr/>
        </p:nvSpPr>
        <p:spPr>
          <a:xfrm>
            <a:off x="8110727" y="1856231"/>
            <a:ext cx="3529584" cy="35387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2084831"/>
            <a:ext cx="3145536" cy="393192"/>
          </a:xfrm>
          <a:prstGeom prst="rect">
            <a:avLst/>
          </a:prstGeom>
          <a:noFill/>
        </p:spPr>
        <p:txBody>
          <a:bodyPr wrap="none" lIns="0" rIns="0" tIns="0" bIns="0">
            <a:spAutoFit/>
          </a:bodyPr>
          <a:lstStyle/>
          <a:p>
            <a:pPr algn="l">
              <a:lnSpc>
                <a:spcPts val="2944"/>
              </a:lnSpc>
              <a:spcBef>
                <a:spcPts val="0"/>
              </a:spcBef>
              <a:spcAft>
                <a:spcPts val="0"/>
              </a:spcAft>
            </a:pPr>
            <a:r>
              <a:rPr sz="2300" b="1">
                <a:solidFill>
                  <a:srgbClr val="087F82"/>
                </a:solidFill>
                <a:latin typeface="Arial"/>
              </a:rPr>
              <a:t>RESOURCE</a:t>
            </a:r>
          </a:p>
        </p:txBody>
      </p:sp>
      <p:sp>
        <p:nvSpPr>
          <p:cNvPr id="18" name="TextBox 17"/>
          <p:cNvSpPr txBox="1"/>
          <p:nvPr/>
        </p:nvSpPr>
        <p:spPr>
          <a:xfrm>
            <a:off x="8302752" y="2752344"/>
            <a:ext cx="3145536" cy="548640"/>
          </a:xfrm>
          <a:prstGeom prst="rect">
            <a:avLst/>
          </a:prstGeom>
          <a:noFill/>
        </p:spPr>
        <p:txBody>
          <a:bodyPr wrap="none" lIns="0" rIns="0" tIns="0" bIns="0">
            <a:spAutoFit/>
          </a:bodyPr>
          <a:lstStyle/>
          <a:p>
            <a:pPr algn="l">
              <a:lnSpc>
                <a:spcPts val="2176"/>
              </a:lnSpc>
              <a:spcBef>
                <a:spcPts val="0"/>
              </a:spcBef>
              <a:spcAft>
                <a:spcPts val="0"/>
              </a:spcAft>
            </a:pPr>
            <a:r>
              <a:rPr sz="1700" b="1">
                <a:solidFill>
                  <a:srgbClr val="182C3A"/>
                </a:solidFill>
                <a:latin typeface="Arial"/>
              </a:rPr>
              <a:t>Which resources can</a:t>
            </a:r>
          </a:p>
          <a:p>
            <a:pPr algn="l">
              <a:lnSpc>
                <a:spcPts val="2176"/>
              </a:lnSpc>
              <a:spcBef>
                <a:spcPts val="0"/>
              </a:spcBef>
              <a:spcAft>
                <a:spcPts val="0"/>
              </a:spcAft>
            </a:pPr>
            <a:r>
              <a:rPr sz="1700" b="1">
                <a:solidFill>
                  <a:srgbClr val="182C3A"/>
                </a:solidFill>
                <a:latin typeface="Arial"/>
              </a:rPr>
              <a:t>be considered?</a:t>
            </a:r>
          </a:p>
        </p:txBody>
      </p:sp>
      <p:sp>
        <p:nvSpPr>
          <p:cNvPr id="19" name="TextBox 18"/>
          <p:cNvSpPr txBox="1"/>
          <p:nvPr/>
        </p:nvSpPr>
        <p:spPr>
          <a:xfrm>
            <a:off x="8302752" y="3575304"/>
            <a:ext cx="3145536" cy="914400"/>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resource</a:t>
            </a:r>
          </a:p>
          <a:p>
            <a:pPr algn="l">
              <a:lnSpc>
                <a:spcPts val="2304"/>
              </a:lnSpc>
              <a:spcBef>
                <a:spcPts val="0"/>
              </a:spcBef>
              <a:spcAft>
                <a:spcPts val="0"/>
              </a:spcAft>
            </a:pPr>
            <a:r>
              <a:rPr sz="1800" b="0">
                <a:solidFill>
                  <a:srgbClr val="182C3A"/>
                </a:solidFill>
                <a:latin typeface="Arial"/>
              </a:rPr>
              <a:t>capableOf → process</a:t>
            </a:r>
          </a:p>
          <a:p>
            <a:pPr algn="l">
              <a:lnSpc>
                <a:spcPts val="2304"/>
              </a:lnSpc>
              <a:spcBef>
                <a:spcPts val="0"/>
              </a:spcBef>
              <a:spcAft>
                <a:spcPts val="0"/>
              </a:spcAft>
            </a:pPr>
            <a:r>
              <a:rPr sz="1800" b="0">
                <a:solidFill>
                  <a:srgbClr val="182C3A"/>
                </a:solidFill>
                <a:latin typeface="Arial"/>
              </a:rPr>
              <a:t>configured authority</a:t>
            </a:r>
          </a:p>
        </p:txBody>
      </p:sp>
      <p:sp>
        <p:nvSpPr>
          <p:cNvPr id="20" name="TextBox 19"/>
          <p:cNvSpPr txBox="1"/>
          <p:nvPr/>
        </p:nvSpPr>
        <p:spPr>
          <a:xfrm>
            <a:off x="8302752" y="4681728"/>
            <a:ext cx="3145536" cy="548640"/>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52616A"/>
                </a:solidFill>
                <a:latin typeface="Arial"/>
              </a:rPr>
              <a:t>xarm6</a:t>
            </a:r>
          </a:p>
          <a:p>
            <a:pPr algn="l">
              <a:lnSpc>
                <a:spcPts val="2304"/>
              </a:lnSpc>
              <a:spcBef>
                <a:spcPts val="0"/>
              </a:spcBef>
              <a:spcAft>
                <a:spcPts val="0"/>
              </a:spcAft>
            </a:pPr>
            <a:r>
              <a:rPr sz="1800" b="0">
                <a:solidFill>
                  <a:srgbClr val="52616A"/>
                </a:solidFill>
                <a:latin typeface="Arial"/>
              </a:rPr>
              <a:t>ur5e</a:t>
            </a:r>
          </a:p>
        </p:txBody>
      </p:sp>
      <p:sp>
        <p:nvSpPr>
          <p:cNvPr id="21" name="Rectangle 20"/>
          <p:cNvSpPr/>
          <p:nvPr/>
        </p:nvSpPr>
        <p:spPr>
          <a:xfrm>
            <a:off x="548640" y="5632704"/>
            <a:ext cx="11091672" cy="49377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5760720"/>
            <a:ext cx="10707624" cy="283464"/>
          </a:xfrm>
          <a:prstGeom prst="rect">
            <a:avLst/>
          </a:prstGeom>
          <a:noFill/>
        </p:spPr>
        <p:txBody>
          <a:bodyPr wrap="none" lIns="0" rIns="0" tIns="0" bIns="0">
            <a:spAutoFit/>
          </a:bodyPr>
          <a:lstStyle/>
          <a:p>
            <a:pPr algn="l">
              <a:lnSpc>
                <a:spcPts val="2304"/>
              </a:lnSpc>
              <a:spcBef>
                <a:spcPts val="0"/>
              </a:spcBef>
              <a:spcAft>
                <a:spcPts val="0"/>
              </a:spcAft>
            </a:pPr>
            <a:r>
              <a:rPr sz="1800" b="1">
                <a:solidFill>
                  <a:srgbClr val="087F82"/>
                </a:solidFill>
                <a:latin typeface="Arial"/>
              </a:rPr>
              <a:t>Broad process capability admits candidates; task-specific planning supports assignment.</a:t>
            </a:r>
          </a:p>
        </p:txBody>
      </p:sp>
      <p:sp>
        <p:nvSpPr>
          <p:cNvPr id="23" name="TextBox 22"/>
          <p:cNvSpPr txBox="1"/>
          <p:nvPr/>
        </p:nvSpPr>
        <p:spPr>
          <a:xfrm>
            <a:off x="585216" y="6208776"/>
            <a:ext cx="10972800" cy="146304"/>
          </a:xfrm>
          <a:prstGeom prst="rect">
            <a:avLst/>
          </a:prstGeom>
          <a:noFill/>
        </p:spPr>
        <p:txBody>
          <a:bodyPr wrap="none" lIns="0" rIns="0" tIns="0" bIns="0">
            <a:spAutoFit/>
          </a:bodyPr>
          <a:lstStyle/>
          <a:p>
            <a:pPr algn="l">
              <a:lnSpc>
                <a:spcPts val="1280"/>
              </a:lnSpc>
              <a:spcBef>
                <a:spcPts val="0"/>
              </a:spcBef>
              <a:spcAft>
                <a:spcPts val="0"/>
              </a:spcAft>
            </a:pPr>
            <a:r>
              <a:rPr sz="1000" b="0">
                <a:solidFill>
                  <a:srgbClr val="52616A"/>
                </a:solidFill>
                <a:latin typeface="Arial"/>
              </a:rPr>
              <a:t>capability is declared, but the current Workcell ABox links resource directly to process through capableOf.</a:t>
            </a:r>
          </a:p>
        </p:txBody>
      </p:sp>
      <p:sp>
        <p:nvSpPr>
          <p:cNvPr id="24" name="TextBox 23"/>
          <p:cNvSpPr txBox="1"/>
          <p:nvPr/>
        </p:nvSpPr>
        <p:spPr>
          <a:xfrm>
            <a:off x="10972800" y="6483096"/>
            <a:ext cx="667512"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ONTOLOGY  /  CORE SCHEMA</a:t>
            </a:r>
          </a:p>
        </p:txBody>
      </p:sp>
      <p:sp>
        <p:nvSpPr>
          <p:cNvPr id="3" name="TextBox 2"/>
          <p:cNvSpPr txBox="1"/>
          <p:nvPr/>
        </p:nvSpPr>
        <p:spPr>
          <a:xfrm>
            <a:off x="548640" y="832104"/>
            <a:ext cx="11091672" cy="777240"/>
          </a:xfrm>
          <a:prstGeom prst="rect">
            <a:avLst/>
          </a:prstGeom>
          <a:noFill/>
        </p:spPr>
        <p:txBody>
          <a:bodyPr wrap="none" lIns="0" rIns="0" tIns="0" bIns="0">
            <a:spAutoFit/>
          </a:bodyPr>
          <a:lstStyle/>
          <a:p>
            <a:pPr algn="l">
              <a:lnSpc>
                <a:spcPts val="3711"/>
              </a:lnSpc>
              <a:spcBef>
                <a:spcPts val="0"/>
              </a:spcBef>
              <a:spcAft>
                <a:spcPts val="0"/>
              </a:spcAft>
            </a:pPr>
            <a:r>
              <a:rPr sz="2900" b="1">
                <a:solidFill>
                  <a:srgbClr val="182C3A"/>
                </a:solidFill>
                <a:latin typeface="Arial"/>
              </a:rPr>
              <a:t>The core PPR graph links a requirement to resources</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4128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Supplied OWL + current code + saved ABox • 09 Sep 2026 • Sources in notes</a:t>
            </a:r>
          </a:p>
        </p:txBody>
      </p:sp>
      <p:sp>
        <p:nvSpPr>
          <p:cNvPr id="6" name="Rectangle 5"/>
          <p:cNvSpPr/>
          <p:nvPr/>
        </p:nvSpPr>
        <p:spPr>
          <a:xfrm>
            <a:off x="548640" y="1975104"/>
            <a:ext cx="2615184"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39696"/>
            <a:ext cx="2286000" cy="411480"/>
          </a:xfrm>
          <a:prstGeom prst="rect">
            <a:avLst/>
          </a:prstGeom>
          <a:noFill/>
        </p:spPr>
        <p:txBody>
          <a:bodyPr wrap="none" lIns="0" rIns="0" tIns="0" bIns="0">
            <a:spAutoFit/>
          </a:bodyPr>
          <a:lstStyle/>
          <a:p>
            <a:pPr algn="ctr">
              <a:lnSpc>
                <a:spcPts val="2816"/>
              </a:lnSpc>
              <a:spcBef>
                <a:spcPts val="0"/>
              </a:spcBef>
              <a:spcAft>
                <a:spcPts val="0"/>
              </a:spcAft>
            </a:pPr>
            <a:r>
              <a:rPr sz="2200" b="1">
                <a:solidFill>
                  <a:srgbClr val="182C3A"/>
                </a:solidFill>
                <a:latin typeface="Arial"/>
              </a:rPr>
              <a:t>specification</a:t>
            </a:r>
          </a:p>
        </p:txBody>
      </p:sp>
      <p:sp>
        <p:nvSpPr>
          <p:cNvPr id="8" name="Rectangle 7"/>
          <p:cNvSpPr/>
          <p:nvPr/>
        </p:nvSpPr>
        <p:spPr>
          <a:xfrm>
            <a:off x="4572000" y="1975104"/>
            <a:ext cx="2286000" cy="713232"/>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36592" y="2139696"/>
            <a:ext cx="1956816" cy="411480"/>
          </a:xfrm>
          <a:prstGeom prst="rect">
            <a:avLst/>
          </a:prstGeom>
          <a:noFill/>
        </p:spPr>
        <p:txBody>
          <a:bodyPr wrap="none" lIns="0" rIns="0" tIns="0" bIns="0">
            <a:spAutoFit/>
          </a:bodyPr>
          <a:lstStyle/>
          <a:p>
            <a:pPr algn="ctr">
              <a:lnSpc>
                <a:spcPts val="2944"/>
              </a:lnSpc>
              <a:spcBef>
                <a:spcPts val="0"/>
              </a:spcBef>
              <a:spcAft>
                <a:spcPts val="0"/>
              </a:spcAft>
            </a:pPr>
            <a:r>
              <a:rPr sz="2300" b="1">
                <a:solidFill>
                  <a:srgbClr val="087F82"/>
                </a:solidFill>
                <a:latin typeface="Arial"/>
              </a:rPr>
              <a:t>feature</a:t>
            </a:r>
          </a:p>
        </p:txBody>
      </p:sp>
      <p:sp>
        <p:nvSpPr>
          <p:cNvPr id="10" name="Rectangle 9"/>
          <p:cNvSpPr/>
          <p:nvPr/>
        </p:nvSpPr>
        <p:spPr>
          <a:xfrm>
            <a:off x="8732520" y="1975104"/>
            <a:ext cx="290779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97112" y="2139696"/>
            <a:ext cx="2578608" cy="411480"/>
          </a:xfrm>
          <a:prstGeom prst="rect">
            <a:avLst/>
          </a:prstGeom>
          <a:noFill/>
        </p:spPr>
        <p:txBody>
          <a:bodyPr wrap="none" lIns="0" rIns="0" tIns="0" bIns="0">
            <a:spAutoFit/>
          </a:bodyPr>
          <a:lstStyle/>
          <a:p>
            <a:pPr algn="ctr">
              <a:lnSpc>
                <a:spcPts val="2944"/>
              </a:lnSpc>
              <a:spcBef>
                <a:spcPts val="0"/>
              </a:spcBef>
              <a:spcAft>
                <a:spcPts val="0"/>
              </a:spcAft>
            </a:pPr>
            <a:r>
              <a:rPr sz="2300" b="1">
                <a:solidFill>
                  <a:srgbClr val="182C3A"/>
                </a:solidFill>
                <a:latin typeface="Arial"/>
              </a:rPr>
              <a:t>state</a:t>
            </a:r>
          </a:p>
        </p:txBody>
      </p:sp>
      <p:sp>
        <p:nvSpPr>
          <p:cNvPr id="12" name="Rectangle 11"/>
          <p:cNvSpPr/>
          <p:nvPr/>
        </p:nvSpPr>
        <p:spPr>
          <a:xfrm>
            <a:off x="548640" y="4215384"/>
            <a:ext cx="292608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4379976"/>
            <a:ext cx="2596896" cy="411480"/>
          </a:xfrm>
          <a:prstGeom prst="rect">
            <a:avLst/>
          </a:prstGeom>
          <a:noFill/>
        </p:spPr>
        <p:txBody>
          <a:bodyPr wrap="none" lIns="0" rIns="0" tIns="0" bIns="0">
            <a:spAutoFit/>
          </a:bodyPr>
          <a:lstStyle/>
          <a:p>
            <a:pPr algn="ctr">
              <a:lnSpc>
                <a:spcPts val="2944"/>
              </a:lnSpc>
              <a:spcBef>
                <a:spcPts val="0"/>
              </a:spcBef>
              <a:spcAft>
                <a:spcPts val="0"/>
              </a:spcAft>
            </a:pPr>
            <a:r>
              <a:rPr sz="2300" b="1">
                <a:solidFill>
                  <a:srgbClr val="182C3A"/>
                </a:solidFill>
                <a:latin typeface="Arial"/>
              </a:rPr>
              <a:t>state</a:t>
            </a:r>
          </a:p>
        </p:txBody>
      </p:sp>
      <p:sp>
        <p:nvSpPr>
          <p:cNvPr id="14" name="Rectangle 13"/>
          <p:cNvSpPr/>
          <p:nvPr/>
        </p:nvSpPr>
        <p:spPr>
          <a:xfrm>
            <a:off x="4572000" y="4215384"/>
            <a:ext cx="2286000"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36592" y="4379976"/>
            <a:ext cx="1956816" cy="411480"/>
          </a:xfrm>
          <a:prstGeom prst="rect">
            <a:avLst/>
          </a:prstGeom>
          <a:noFill/>
        </p:spPr>
        <p:txBody>
          <a:bodyPr wrap="none" lIns="0" rIns="0" tIns="0" bIns="0">
            <a:spAutoFit/>
          </a:bodyPr>
          <a:lstStyle/>
          <a:p>
            <a:pPr algn="ctr">
              <a:lnSpc>
                <a:spcPts val="2944"/>
              </a:lnSpc>
              <a:spcBef>
                <a:spcPts val="0"/>
              </a:spcBef>
              <a:spcAft>
                <a:spcPts val="0"/>
              </a:spcAft>
            </a:pPr>
            <a:r>
              <a:rPr sz="2300" b="1">
                <a:solidFill>
                  <a:srgbClr val="182C3A"/>
                </a:solidFill>
                <a:latin typeface="Arial"/>
              </a:rPr>
              <a:t>process</a:t>
            </a:r>
          </a:p>
        </p:txBody>
      </p:sp>
      <p:sp>
        <p:nvSpPr>
          <p:cNvPr id="16" name="Rectangle 15"/>
          <p:cNvSpPr/>
          <p:nvPr/>
        </p:nvSpPr>
        <p:spPr>
          <a:xfrm>
            <a:off x="8732520" y="4215384"/>
            <a:ext cx="2907792" cy="71323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97112" y="4379976"/>
            <a:ext cx="2578608" cy="411480"/>
          </a:xfrm>
          <a:prstGeom prst="rect">
            <a:avLst/>
          </a:prstGeom>
          <a:noFill/>
        </p:spPr>
        <p:txBody>
          <a:bodyPr wrap="none" lIns="0" rIns="0" tIns="0" bIns="0">
            <a:spAutoFit/>
          </a:bodyPr>
          <a:lstStyle/>
          <a:p>
            <a:pPr algn="ctr">
              <a:lnSpc>
                <a:spcPts val="2944"/>
              </a:lnSpc>
              <a:spcBef>
                <a:spcPts val="0"/>
              </a:spcBef>
              <a:spcAft>
                <a:spcPts val="0"/>
              </a:spcAft>
            </a:pPr>
            <a:r>
              <a:rPr sz="2300" b="1">
                <a:solidFill>
                  <a:srgbClr val="182C3A"/>
                </a:solidFill>
                <a:latin typeface="Arial"/>
              </a:rPr>
              <a:t>resource</a:t>
            </a:r>
          </a:p>
        </p:txBody>
      </p:sp>
      <p:cxnSp>
        <p:nvCxnSpPr>
          <p:cNvPr id="18" name="Connector 17"/>
          <p:cNvCxnSpPr/>
          <p:nvPr/>
        </p:nvCxnSpPr>
        <p:spPr>
          <a:xfrm>
            <a:off x="3182112" y="2331720"/>
            <a:ext cx="1353312" cy="0"/>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3209544" y="1984248"/>
            <a:ext cx="1307592" cy="228600"/>
          </a:xfrm>
          <a:prstGeom prst="rect">
            <a:avLst/>
          </a:prstGeom>
          <a:noFill/>
        </p:spPr>
        <p:txBody>
          <a:bodyPr wrap="none" lIns="0" rIns="0" tIns="0" bIns="0">
            <a:spAutoFit/>
          </a:bodyPr>
          <a:lstStyle/>
          <a:p>
            <a:pPr algn="ctr">
              <a:lnSpc>
                <a:spcPts val="2048"/>
              </a:lnSpc>
              <a:spcBef>
                <a:spcPts val="0"/>
              </a:spcBef>
              <a:spcAft>
                <a:spcPts val="0"/>
              </a:spcAft>
            </a:pPr>
            <a:r>
              <a:rPr sz="1600" b="0">
                <a:solidFill>
                  <a:srgbClr val="087F82"/>
                </a:solidFill>
                <a:latin typeface="Arial"/>
              </a:rPr>
              <a:t>defines</a:t>
            </a:r>
          </a:p>
        </p:txBody>
      </p:sp>
      <p:cxnSp>
        <p:nvCxnSpPr>
          <p:cNvPr id="20" name="Connector 19"/>
          <p:cNvCxnSpPr/>
          <p:nvPr/>
        </p:nvCxnSpPr>
        <p:spPr>
          <a:xfrm>
            <a:off x="6894576" y="2331720"/>
            <a:ext cx="1792224" cy="0"/>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885432" y="1929384"/>
            <a:ext cx="1828800" cy="246888"/>
          </a:xfrm>
          <a:prstGeom prst="rect">
            <a:avLst/>
          </a:prstGeom>
          <a:noFill/>
        </p:spPr>
        <p:txBody>
          <a:bodyPr wrap="none" lIns="0" rIns="0" tIns="0" bIns="0">
            <a:spAutoFit/>
          </a:bodyPr>
          <a:lstStyle/>
          <a:p>
            <a:pPr algn="ctr">
              <a:lnSpc>
                <a:spcPts val="1792"/>
              </a:lnSpc>
              <a:spcBef>
                <a:spcPts val="0"/>
              </a:spcBef>
              <a:spcAft>
                <a:spcPts val="0"/>
              </a:spcAft>
            </a:pPr>
            <a:r>
              <a:rPr sz="1400" b="0">
                <a:solidFill>
                  <a:srgbClr val="087F82"/>
                </a:solidFill>
                <a:latin typeface="Arial"/>
              </a:rPr>
              <a:t>hasdesiredstate</a:t>
            </a:r>
          </a:p>
        </p:txBody>
      </p:sp>
      <p:sp>
        <p:nvSpPr>
          <p:cNvPr id="22" name="TextBox 21"/>
          <p:cNvSpPr txBox="1"/>
          <p:nvPr/>
        </p:nvSpPr>
        <p:spPr>
          <a:xfrm>
            <a:off x="8878824" y="2816352"/>
            <a:ext cx="2606040" cy="265176"/>
          </a:xfrm>
          <a:prstGeom prst="rect">
            <a:avLst/>
          </a:prstGeom>
          <a:noFill/>
        </p:spPr>
        <p:txBody>
          <a:bodyPr wrap="none" lIns="0" rIns="0" tIns="0" bIns="0">
            <a:spAutoFit/>
          </a:bodyPr>
          <a:lstStyle/>
          <a:p>
            <a:pPr algn="ctr">
              <a:lnSpc>
                <a:spcPts val="2176"/>
              </a:lnSpc>
              <a:spcBef>
                <a:spcPts val="0"/>
              </a:spcBef>
              <a:spcAft>
                <a:spcPts val="0"/>
              </a:spcAft>
            </a:pPr>
            <a:r>
              <a:rPr sz="1700" b="0">
                <a:solidFill>
                  <a:srgbClr val="52616A"/>
                </a:solidFill>
                <a:latin typeface="Arial"/>
              </a:rPr>
              <a:t>desired state role</a:t>
            </a:r>
          </a:p>
        </p:txBody>
      </p:sp>
      <p:cxnSp>
        <p:nvCxnSpPr>
          <p:cNvPr id="23" name="Connector 22"/>
          <p:cNvCxnSpPr/>
          <p:nvPr/>
        </p:nvCxnSpPr>
        <p:spPr>
          <a:xfrm flipH="1">
            <a:off x="3319272" y="2724912"/>
            <a:ext cx="1325880" cy="1453896"/>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41832" y="3264408"/>
            <a:ext cx="3127248" cy="301752"/>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087F82"/>
                </a:solidFill>
                <a:latin typeface="Arial"/>
              </a:rPr>
              <a:t>hascurrentstate</a:t>
            </a:r>
          </a:p>
        </p:txBody>
      </p:sp>
      <p:sp>
        <p:nvSpPr>
          <p:cNvPr id="25" name="TextBox 24"/>
          <p:cNvSpPr txBox="1"/>
          <p:nvPr/>
        </p:nvSpPr>
        <p:spPr>
          <a:xfrm>
            <a:off x="722376" y="5047488"/>
            <a:ext cx="2569464" cy="246888"/>
          </a:xfrm>
          <a:prstGeom prst="rect">
            <a:avLst/>
          </a:prstGeom>
          <a:noFill/>
        </p:spPr>
        <p:txBody>
          <a:bodyPr wrap="none" lIns="0" rIns="0" tIns="0" bIns="0">
            <a:spAutoFit/>
          </a:bodyPr>
          <a:lstStyle/>
          <a:p>
            <a:pPr algn="ctr">
              <a:lnSpc>
                <a:spcPts val="2176"/>
              </a:lnSpc>
              <a:spcBef>
                <a:spcPts val="0"/>
              </a:spcBef>
              <a:spcAft>
                <a:spcPts val="0"/>
              </a:spcAft>
            </a:pPr>
            <a:r>
              <a:rPr sz="1700" b="0">
                <a:solidFill>
                  <a:srgbClr val="52616A"/>
                </a:solidFill>
                <a:latin typeface="Arial"/>
              </a:rPr>
              <a:t>current state role</a:t>
            </a:r>
          </a:p>
        </p:txBody>
      </p:sp>
      <p:cxnSp>
        <p:nvCxnSpPr>
          <p:cNvPr id="26" name="Connector 25"/>
          <p:cNvCxnSpPr/>
          <p:nvPr/>
        </p:nvCxnSpPr>
        <p:spPr>
          <a:xfrm flipV="1">
            <a:off x="5715000" y="2724912"/>
            <a:ext cx="0" cy="1453896"/>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007608" y="3383280"/>
            <a:ext cx="2313432" cy="256032"/>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087F82"/>
                </a:solidFill>
                <a:latin typeface="Arial"/>
              </a:rPr>
              <a:t>realizes</a:t>
            </a:r>
          </a:p>
        </p:txBody>
      </p:sp>
      <p:cxnSp>
        <p:nvCxnSpPr>
          <p:cNvPr id="28" name="Connector 27"/>
          <p:cNvCxnSpPr/>
          <p:nvPr/>
        </p:nvCxnSpPr>
        <p:spPr>
          <a:xfrm flipH="1">
            <a:off x="6894576" y="4572000"/>
            <a:ext cx="1801368" cy="0"/>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903720" y="4206240"/>
            <a:ext cx="1783080" cy="246888"/>
          </a:xfrm>
          <a:prstGeom prst="rect">
            <a:avLst/>
          </a:prstGeom>
          <a:noFill/>
        </p:spPr>
        <p:txBody>
          <a:bodyPr wrap="none" lIns="0" rIns="0" tIns="0" bIns="0">
            <a:spAutoFit/>
          </a:bodyPr>
          <a:lstStyle/>
          <a:p>
            <a:pPr algn="ctr">
              <a:lnSpc>
                <a:spcPts val="2048"/>
              </a:lnSpc>
              <a:spcBef>
                <a:spcPts val="0"/>
              </a:spcBef>
              <a:spcAft>
                <a:spcPts val="0"/>
              </a:spcAft>
            </a:pPr>
            <a:r>
              <a:rPr sz="1600" b="0">
                <a:solidFill>
                  <a:srgbClr val="087F82"/>
                </a:solidFill>
                <a:latin typeface="Arial"/>
              </a:rPr>
              <a:t>capableOf</a:t>
            </a:r>
          </a:p>
        </p:txBody>
      </p:sp>
      <p:sp>
        <p:nvSpPr>
          <p:cNvPr id="30" name="Rectangle 29"/>
          <p:cNvSpPr/>
          <p:nvPr/>
        </p:nvSpPr>
        <p:spPr>
          <a:xfrm>
            <a:off x="548640" y="5632704"/>
            <a:ext cx="11091672" cy="49377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 y="5760720"/>
            <a:ext cx="10707624" cy="283464"/>
          </a:xfrm>
          <a:prstGeom prst="rect">
            <a:avLst/>
          </a:prstGeom>
          <a:noFill/>
        </p:spPr>
        <p:txBody>
          <a:bodyPr wrap="none" lIns="0" rIns="0" tIns="0" bIns="0">
            <a:spAutoFit/>
          </a:bodyPr>
          <a:lstStyle/>
          <a:p>
            <a:pPr algn="l">
              <a:lnSpc>
                <a:spcPts val="2944"/>
              </a:lnSpc>
              <a:spcBef>
                <a:spcPts val="0"/>
              </a:spcBef>
              <a:spcAft>
                <a:spcPts val="0"/>
              </a:spcAft>
            </a:pPr>
            <a:r>
              <a:rPr sz="2300" b="1">
                <a:solidFill>
                  <a:srgbClr val="087F82"/>
                </a:solidFill>
                <a:latin typeface="Arial"/>
              </a:rPr>
              <a:t>specification → feature ← process ← resource</a:t>
            </a:r>
          </a:p>
        </p:txBody>
      </p:sp>
      <p:sp>
        <p:nvSpPr>
          <p:cNvPr id="32" name="TextBox 31"/>
          <p:cNvSpPr txBox="1"/>
          <p:nvPr/>
        </p:nvSpPr>
        <p:spPr>
          <a:xfrm>
            <a:off x="576072" y="6217920"/>
            <a:ext cx="10972800" cy="155448"/>
          </a:xfrm>
          <a:prstGeom prst="rect">
            <a:avLst/>
          </a:prstGeom>
          <a:noFill/>
        </p:spPr>
        <p:txBody>
          <a:bodyPr wrap="none" lIns="0" rIns="0" tIns="0" bIns="0">
            <a:spAutoFit/>
          </a:bodyPr>
          <a:lstStyle/>
          <a:p>
            <a:pPr algn="l">
              <a:lnSpc>
                <a:spcPts val="1280"/>
              </a:lnSpc>
              <a:spcBef>
                <a:spcPts val="0"/>
              </a:spcBef>
              <a:spcAft>
                <a:spcPts val="0"/>
              </a:spcAft>
            </a:pPr>
            <a:r>
              <a:rPr sz="1000" b="0">
                <a:solidFill>
                  <a:srgbClr val="52616A"/>
                </a:solidFill>
                <a:latin typeface="Arial"/>
              </a:rPr>
              <a:t>Schema view: class boxes and property domain → range. Product ownership and assignment are detailed in later slides.</a:t>
            </a:r>
          </a:p>
        </p:txBody>
      </p:sp>
      <p:sp>
        <p:nvSpPr>
          <p:cNvPr id="33" name="TextBox 32"/>
          <p:cNvSpPr txBox="1"/>
          <p:nvPr/>
        </p:nvSpPr>
        <p:spPr>
          <a:xfrm>
            <a:off x="10972800" y="6483096"/>
            <a:ext cx="667512"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ONTOLOGY  /  TBOX / ABOX / RECORDS</a:t>
            </a:r>
          </a:p>
        </p:txBody>
      </p:sp>
      <p:sp>
        <p:nvSpPr>
          <p:cNvPr id="3" name="TextBox 2"/>
          <p:cNvSpPr txBox="1"/>
          <p:nvPr/>
        </p:nvSpPr>
        <p:spPr>
          <a:xfrm>
            <a:off x="548640" y="832104"/>
            <a:ext cx="11091672" cy="777240"/>
          </a:xfrm>
          <a:prstGeom prst="rect">
            <a:avLst/>
          </a:prstGeom>
          <a:noFill/>
        </p:spPr>
        <p:txBody>
          <a:bodyPr wrap="none" lIns="0" rIns="0" tIns="0" bIns="0">
            <a:spAutoFit/>
          </a:bodyPr>
          <a:lstStyle/>
          <a:p>
            <a:pPr algn="l">
              <a:lnSpc>
                <a:spcPts val="3711"/>
              </a:lnSpc>
              <a:spcBef>
                <a:spcPts val="0"/>
              </a:spcBef>
              <a:spcAft>
                <a:spcPts val="0"/>
              </a:spcAft>
            </a:pPr>
            <a:r>
              <a:rPr sz="2900" b="1">
                <a:solidFill>
                  <a:srgbClr val="182C3A"/>
                </a:solidFill>
                <a:latin typeface="Arial"/>
              </a:rPr>
              <a:t>Schema, facts and evidence have different jobs</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4128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Supplied OWL + current code + saved ABox • 09 Sep 2026 • Sources in notes</a:t>
            </a:r>
          </a:p>
        </p:txBody>
      </p:sp>
      <p:sp>
        <p:nvSpPr>
          <p:cNvPr id="6" name="Rectangle 5"/>
          <p:cNvSpPr/>
          <p:nvPr/>
        </p:nvSpPr>
        <p:spPr>
          <a:xfrm>
            <a:off x="548640" y="1856231"/>
            <a:ext cx="5385816" cy="1719072"/>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048255"/>
            <a:ext cx="4956048" cy="365760"/>
          </a:xfrm>
          <a:prstGeom prst="rect">
            <a:avLst/>
          </a:prstGeom>
          <a:noFill/>
        </p:spPr>
        <p:txBody>
          <a:bodyPr wrap="none" lIns="0" rIns="0" tIns="0" bIns="0">
            <a:spAutoFit/>
          </a:bodyPr>
          <a:lstStyle/>
          <a:p>
            <a:pPr algn="l">
              <a:lnSpc>
                <a:spcPts val="2816"/>
              </a:lnSpc>
              <a:spcBef>
                <a:spcPts val="0"/>
              </a:spcBef>
              <a:spcAft>
                <a:spcPts val="0"/>
              </a:spcAft>
            </a:pPr>
            <a:r>
              <a:rPr sz="2200" b="1">
                <a:solidFill>
                  <a:srgbClr val="087F82"/>
                </a:solidFill>
                <a:latin typeface="Arial"/>
              </a:rPr>
              <a:t>TBox — supplied schema</a:t>
            </a:r>
          </a:p>
        </p:txBody>
      </p:sp>
      <p:sp>
        <p:nvSpPr>
          <p:cNvPr id="8" name="TextBox 7"/>
          <p:cNvSpPr txBox="1"/>
          <p:nvPr/>
        </p:nvSpPr>
        <p:spPr>
          <a:xfrm>
            <a:off x="758952" y="2624327"/>
            <a:ext cx="4956048" cy="804672"/>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Classes, properties, hierarchy</a:t>
            </a:r>
          </a:p>
          <a:p>
            <a:pPr algn="l">
              <a:lnSpc>
                <a:spcPts val="2304"/>
              </a:lnSpc>
              <a:spcBef>
                <a:spcPts val="0"/>
              </a:spcBef>
              <a:spcAft>
                <a:spcPts val="0"/>
              </a:spcAft>
            </a:pPr>
            <a:r>
              <a:rPr sz="1800" b="0">
                <a:solidFill>
                  <a:srgbClr val="182C3A"/>
                </a:solidFill>
                <a:latin typeface="Arial"/>
              </a:rPr>
              <a:t>Pairwise cardinality</a:t>
            </a:r>
          </a:p>
          <a:p>
            <a:pPr algn="l">
              <a:lnSpc>
                <a:spcPts val="2304"/>
              </a:lnSpc>
              <a:spcBef>
                <a:spcPts val="0"/>
              </a:spcBef>
              <a:spcAft>
                <a:spcPts val="0"/>
              </a:spcAft>
            </a:pPr>
            <a:r>
              <a:rPr sz="1800" b="0">
                <a:solidFill>
                  <a:srgbClr val="182C3A"/>
                </a:solidFill>
                <a:latin typeface="Arial"/>
              </a:rPr>
              <a:t>No task or resource instances</a:t>
            </a:r>
          </a:p>
        </p:txBody>
      </p:sp>
      <p:sp>
        <p:nvSpPr>
          <p:cNvPr id="9" name="Rectangle 8"/>
          <p:cNvSpPr/>
          <p:nvPr/>
        </p:nvSpPr>
        <p:spPr>
          <a:xfrm>
            <a:off x="6153912" y="1856231"/>
            <a:ext cx="5477256" cy="17190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2048255"/>
            <a:ext cx="4956048" cy="365760"/>
          </a:xfrm>
          <a:prstGeom prst="rect">
            <a:avLst/>
          </a:prstGeom>
          <a:noFill/>
        </p:spPr>
        <p:txBody>
          <a:bodyPr wrap="none" lIns="0" rIns="0" tIns="0" bIns="0">
            <a:spAutoFit/>
          </a:bodyPr>
          <a:lstStyle/>
          <a:p>
            <a:pPr algn="l">
              <a:lnSpc>
                <a:spcPts val="2816"/>
              </a:lnSpc>
              <a:spcBef>
                <a:spcPts val="0"/>
              </a:spcBef>
              <a:spcAft>
                <a:spcPts val="0"/>
              </a:spcAft>
            </a:pPr>
            <a:r>
              <a:rPr sz="2200" b="1">
                <a:solidFill>
                  <a:srgbClr val="087F82"/>
                </a:solidFill>
                <a:latin typeface="Arial"/>
              </a:rPr>
              <a:t>Interaction ABox — this task</a:t>
            </a:r>
          </a:p>
        </p:txBody>
      </p:sp>
      <p:sp>
        <p:nvSpPr>
          <p:cNvPr id="11" name="TextBox 10"/>
          <p:cNvSpPr txBox="1"/>
          <p:nvPr/>
        </p:nvSpPr>
        <p:spPr>
          <a:xfrm>
            <a:off x="6364224" y="2624327"/>
            <a:ext cx="4956048" cy="804672"/>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specification + target feature</a:t>
            </a:r>
          </a:p>
          <a:p>
            <a:pPr algn="l">
              <a:lnSpc>
                <a:spcPts val="2304"/>
              </a:lnSpc>
              <a:spcBef>
                <a:spcPts val="0"/>
              </a:spcBef>
              <a:spcAft>
                <a:spcPts val="0"/>
              </a:spcAft>
            </a:pPr>
            <a:r>
              <a:rPr sz="1800" b="0">
                <a:solidFill>
                  <a:srgbClr val="182C3A"/>
                </a:solidFill>
                <a:latin typeface="Arial"/>
              </a:rPr>
              <a:t>States + assembly relationships</a:t>
            </a:r>
          </a:p>
          <a:p>
            <a:pPr algn="l">
              <a:lnSpc>
                <a:spcPts val="2304"/>
              </a:lnSpc>
              <a:spcBef>
                <a:spcPts val="0"/>
              </a:spcBef>
              <a:spcAft>
                <a:spcPts val="0"/>
              </a:spcAft>
            </a:pPr>
            <a:r>
              <a:rPr sz="1800" b="0">
                <a:solidFill>
                  <a:srgbClr val="182C3A"/>
                </a:solidFill>
                <a:latin typeface="Arial"/>
              </a:rPr>
              <a:t>Selected assignment</a:t>
            </a:r>
          </a:p>
        </p:txBody>
      </p:sp>
      <p:sp>
        <p:nvSpPr>
          <p:cNvPr id="12" name="Rectangle 11"/>
          <p:cNvSpPr/>
          <p:nvPr/>
        </p:nvSpPr>
        <p:spPr>
          <a:xfrm>
            <a:off x="548640" y="3758184"/>
            <a:ext cx="5385816" cy="17190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3950208"/>
            <a:ext cx="4956048" cy="365760"/>
          </a:xfrm>
          <a:prstGeom prst="rect">
            <a:avLst/>
          </a:prstGeom>
          <a:noFill/>
        </p:spPr>
        <p:txBody>
          <a:bodyPr wrap="none" lIns="0" rIns="0" tIns="0" bIns="0">
            <a:spAutoFit/>
          </a:bodyPr>
          <a:lstStyle/>
          <a:p>
            <a:pPr algn="l">
              <a:lnSpc>
                <a:spcPts val="2816"/>
              </a:lnSpc>
              <a:spcBef>
                <a:spcPts val="0"/>
              </a:spcBef>
              <a:spcAft>
                <a:spcPts val="0"/>
              </a:spcAft>
            </a:pPr>
            <a:r>
              <a:rPr sz="2200" b="1">
                <a:solidFill>
                  <a:srgbClr val="087F82"/>
                </a:solidFill>
                <a:latin typeface="Arial"/>
              </a:rPr>
              <a:t>Workcell ABox — configuration</a:t>
            </a:r>
          </a:p>
        </p:txBody>
      </p:sp>
      <p:sp>
        <p:nvSpPr>
          <p:cNvPr id="14" name="TextBox 13"/>
          <p:cNvSpPr txBox="1"/>
          <p:nvPr/>
        </p:nvSpPr>
        <p:spPr>
          <a:xfrm>
            <a:off x="758952" y="4526280"/>
            <a:ext cx="4956048" cy="804672"/>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process and resource individuals</a:t>
            </a:r>
          </a:p>
          <a:p>
            <a:pPr algn="l">
              <a:lnSpc>
                <a:spcPts val="2304"/>
              </a:lnSpc>
              <a:spcBef>
                <a:spcPts val="0"/>
              </a:spcBef>
              <a:spcAft>
                <a:spcPts val="0"/>
              </a:spcAft>
            </a:pPr>
            <a:r>
              <a:rPr sz="1800" b="0">
                <a:solidFill>
                  <a:srgbClr val="182C3A"/>
                </a:solidFill>
                <a:latin typeface="Arial"/>
              </a:rPr>
              <a:t>resource capableOf process</a:t>
            </a:r>
          </a:p>
          <a:p>
            <a:pPr algn="l">
              <a:lnSpc>
                <a:spcPts val="2304"/>
              </a:lnSpc>
              <a:spcBef>
                <a:spcPts val="0"/>
              </a:spcBef>
              <a:spcAft>
                <a:spcPts val="0"/>
              </a:spcAft>
            </a:pPr>
            <a:r>
              <a:rPr sz="1800" b="0">
                <a:solidFill>
                  <a:srgbClr val="182C3A"/>
                </a:solidFill>
                <a:latin typeface="Arial"/>
              </a:rPr>
              <a:t>System-owned capability authority</a:t>
            </a:r>
          </a:p>
        </p:txBody>
      </p:sp>
      <p:sp>
        <p:nvSpPr>
          <p:cNvPr id="15" name="Rectangle 14"/>
          <p:cNvSpPr/>
          <p:nvPr/>
        </p:nvSpPr>
        <p:spPr>
          <a:xfrm>
            <a:off x="6153912" y="3758184"/>
            <a:ext cx="5477256" cy="1719072"/>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64224" y="3950208"/>
            <a:ext cx="4956048" cy="365760"/>
          </a:xfrm>
          <a:prstGeom prst="rect">
            <a:avLst/>
          </a:prstGeom>
          <a:noFill/>
        </p:spPr>
        <p:txBody>
          <a:bodyPr wrap="none" lIns="0" rIns="0" tIns="0" bIns="0">
            <a:spAutoFit/>
          </a:bodyPr>
          <a:lstStyle/>
          <a:p>
            <a:pPr algn="l">
              <a:lnSpc>
                <a:spcPts val="2816"/>
              </a:lnSpc>
              <a:spcBef>
                <a:spcPts val="0"/>
              </a:spcBef>
              <a:spcAft>
                <a:spcPts val="0"/>
              </a:spcAft>
            </a:pPr>
            <a:r>
              <a:rPr sz="2200" b="1">
                <a:solidFill>
                  <a:srgbClr val="087F82"/>
                </a:solidFill>
                <a:latin typeface="Arial"/>
              </a:rPr>
              <a:t>Linked records — grounding detail</a:t>
            </a:r>
          </a:p>
        </p:txBody>
      </p:sp>
      <p:sp>
        <p:nvSpPr>
          <p:cNvPr id="17" name="TextBox 16"/>
          <p:cNvSpPr txBox="1"/>
          <p:nvPr/>
        </p:nvSpPr>
        <p:spPr>
          <a:xfrm>
            <a:off x="6364224" y="4526280"/>
            <a:ext cx="4956048" cy="804672"/>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State text, names and value_ref</a:t>
            </a:r>
          </a:p>
          <a:p>
            <a:pPr algn="l">
              <a:lnSpc>
                <a:spcPts val="2304"/>
              </a:lnSpc>
              <a:spcBef>
                <a:spcPts val="0"/>
              </a:spcBef>
              <a:spcAft>
                <a:spcPts val="0"/>
              </a:spcAft>
            </a:pPr>
            <a:r>
              <a:rPr sz="1800" b="0">
                <a:solidFill>
                  <a:srgbClr val="182C3A"/>
                </a:solidFill>
                <a:latin typeface="Arial"/>
              </a:rPr>
              <a:t>Typed geometry + uncertainty</a:t>
            </a:r>
          </a:p>
          <a:p>
            <a:pPr algn="l">
              <a:lnSpc>
                <a:spcPts val="2304"/>
              </a:lnSpc>
              <a:spcBef>
                <a:spcPts val="0"/>
              </a:spcBef>
              <a:spcAft>
                <a:spcPts val="0"/>
              </a:spcAft>
            </a:pPr>
            <a:r>
              <a:rPr sz="1800" b="0">
                <a:solidFill>
                  <a:srgbClr val="182C3A"/>
                </a:solidFill>
                <a:latin typeface="Arial"/>
              </a:rPr>
              <a:t>Evidence references and hashes</a:t>
            </a:r>
          </a:p>
        </p:txBody>
      </p:sp>
      <p:sp>
        <p:nvSpPr>
          <p:cNvPr id="18" name="Rectangle 17"/>
          <p:cNvSpPr/>
          <p:nvPr/>
        </p:nvSpPr>
        <p:spPr>
          <a:xfrm>
            <a:off x="548640" y="5696712"/>
            <a:ext cx="11091672" cy="49377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0664" y="5824728"/>
            <a:ext cx="10707624" cy="283464"/>
          </a:xfrm>
          <a:prstGeom prst="rect">
            <a:avLst/>
          </a:prstGeom>
          <a:noFill/>
        </p:spPr>
        <p:txBody>
          <a:bodyPr wrap="none" lIns="0" rIns="0" tIns="0" bIns="0">
            <a:spAutoFit/>
          </a:bodyPr>
          <a:lstStyle/>
          <a:p>
            <a:pPr algn="l">
              <a:lnSpc>
                <a:spcPts val="2432"/>
              </a:lnSpc>
              <a:spcBef>
                <a:spcPts val="0"/>
              </a:spcBef>
              <a:spcAft>
                <a:spcPts val="0"/>
              </a:spcAft>
            </a:pPr>
            <a:r>
              <a:rPr sz="1900" b="1">
                <a:solidFill>
                  <a:srgbClr val="087F82"/>
                </a:solidFill>
                <a:latin typeface="Arial"/>
              </a:rPr>
              <a:t>The graph carries explicit relations; linked records preserve their evidence and values.</a:t>
            </a:r>
          </a:p>
        </p:txBody>
      </p:sp>
      <p:sp>
        <p:nvSpPr>
          <p:cNvPr id="20" name="TextBox 19"/>
          <p:cNvSpPr txBox="1"/>
          <p:nvPr/>
        </p:nvSpPr>
        <p:spPr>
          <a:xfrm>
            <a:off x="10972800" y="6483096"/>
            <a:ext cx="667512"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ONTOLOGY  /  CLASS HIERARCHY</a:t>
            </a:r>
          </a:p>
        </p:txBody>
      </p:sp>
      <p:sp>
        <p:nvSpPr>
          <p:cNvPr id="3" name="TextBox 2"/>
          <p:cNvSpPr txBox="1"/>
          <p:nvPr/>
        </p:nvSpPr>
        <p:spPr>
          <a:xfrm>
            <a:off x="548640" y="832104"/>
            <a:ext cx="11091672" cy="777240"/>
          </a:xfrm>
          <a:prstGeom prst="rect">
            <a:avLst/>
          </a:prstGeom>
          <a:noFill/>
        </p:spPr>
        <p:txBody>
          <a:bodyPr wrap="none" lIns="0" rIns="0" tIns="0" bIns="0">
            <a:spAutoFit/>
          </a:bodyPr>
          <a:lstStyle/>
          <a:p>
            <a:pPr algn="l">
              <a:lnSpc>
                <a:spcPts val="3711"/>
              </a:lnSpc>
              <a:spcBef>
                <a:spcPts val="0"/>
              </a:spcBef>
              <a:spcAft>
                <a:spcPts val="0"/>
              </a:spcAft>
            </a:pPr>
            <a:r>
              <a:rPr sz="2900" b="1">
                <a:solidFill>
                  <a:srgbClr val="182C3A"/>
                </a:solidFill>
                <a:latin typeface="Arial"/>
              </a:rPr>
              <a:t>The assembly extension adds four classes</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4128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Supplied OWL + current code + saved ABox • 09 Sep 2026 • Sources in notes</a:t>
            </a:r>
          </a:p>
        </p:txBody>
      </p:sp>
      <p:sp>
        <p:nvSpPr>
          <p:cNvPr id="6" name="Rectangle 5"/>
          <p:cNvSpPr/>
          <p:nvPr/>
        </p:nvSpPr>
        <p:spPr>
          <a:xfrm>
            <a:off x="548640" y="1810512"/>
            <a:ext cx="4663440" cy="68580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1975104"/>
            <a:ext cx="4334255" cy="411480"/>
          </a:xfrm>
          <a:prstGeom prst="rect">
            <a:avLst/>
          </a:prstGeom>
          <a:noFill/>
        </p:spPr>
        <p:txBody>
          <a:bodyPr wrap="none" lIns="0" rIns="0" tIns="0" bIns="0">
            <a:spAutoFit/>
          </a:bodyPr>
          <a:lstStyle/>
          <a:p>
            <a:pPr algn="ctr">
              <a:lnSpc>
                <a:spcPts val="2688"/>
              </a:lnSpc>
              <a:spcBef>
                <a:spcPts val="0"/>
              </a:spcBef>
              <a:spcAft>
                <a:spcPts val="0"/>
              </a:spcAft>
            </a:pPr>
            <a:r>
              <a:rPr sz="2100" b="1">
                <a:solidFill>
                  <a:srgbClr val="087F82"/>
                </a:solidFill>
                <a:latin typeface="Arial"/>
              </a:rPr>
              <a:t>Assembly</a:t>
            </a:r>
          </a:p>
        </p:txBody>
      </p:sp>
      <p:sp>
        <p:nvSpPr>
          <p:cNvPr id="8" name="Rectangle 7"/>
          <p:cNvSpPr/>
          <p:nvPr/>
        </p:nvSpPr>
        <p:spPr>
          <a:xfrm>
            <a:off x="8375904" y="1810512"/>
            <a:ext cx="3264408"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40496" y="1975104"/>
            <a:ext cx="2935224" cy="411480"/>
          </a:xfrm>
          <a:prstGeom prst="rect">
            <a:avLst/>
          </a:prstGeom>
          <a:noFill/>
        </p:spPr>
        <p:txBody>
          <a:bodyPr wrap="none" lIns="0" rIns="0" tIns="0" bIns="0">
            <a:spAutoFit/>
          </a:bodyPr>
          <a:lstStyle/>
          <a:p>
            <a:pPr algn="ctr">
              <a:lnSpc>
                <a:spcPts val="2944"/>
              </a:lnSpc>
              <a:spcBef>
                <a:spcPts val="0"/>
              </a:spcBef>
              <a:spcAft>
                <a:spcPts val="0"/>
              </a:spcAft>
            </a:pPr>
            <a:r>
              <a:rPr sz="2300" b="1">
                <a:solidFill>
                  <a:srgbClr val="182C3A"/>
                </a:solidFill>
                <a:latin typeface="Arial"/>
              </a:rPr>
              <a:t>product</a:t>
            </a:r>
          </a:p>
        </p:txBody>
      </p:sp>
      <p:cxnSp>
        <p:nvCxnSpPr>
          <p:cNvPr id="10" name="Connector 9"/>
          <p:cNvCxnSpPr/>
          <p:nvPr/>
        </p:nvCxnSpPr>
        <p:spPr>
          <a:xfrm>
            <a:off x="5257800" y="2157984"/>
            <a:ext cx="3072383" cy="0"/>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349240" y="1865376"/>
            <a:ext cx="2880360" cy="228600"/>
          </a:xfrm>
          <a:prstGeom prst="rect">
            <a:avLst/>
          </a:prstGeom>
          <a:noFill/>
        </p:spPr>
        <p:txBody>
          <a:bodyPr wrap="none" lIns="0" rIns="0" tIns="0" bIns="0">
            <a:spAutoFit/>
          </a:bodyPr>
          <a:lstStyle/>
          <a:p>
            <a:pPr algn="ctr">
              <a:lnSpc>
                <a:spcPts val="1920"/>
              </a:lnSpc>
              <a:spcBef>
                <a:spcPts val="0"/>
              </a:spcBef>
              <a:spcAft>
                <a:spcPts val="0"/>
              </a:spcAft>
            </a:pPr>
            <a:r>
              <a:rPr sz="1500" b="0">
                <a:solidFill>
                  <a:srgbClr val="52616A"/>
                </a:solidFill>
                <a:latin typeface="Arial"/>
              </a:rPr>
              <a:t>rdfs:subClassOf</a:t>
            </a:r>
          </a:p>
        </p:txBody>
      </p:sp>
      <p:sp>
        <p:nvSpPr>
          <p:cNvPr id="12" name="Rectangle 11"/>
          <p:cNvSpPr/>
          <p:nvPr/>
        </p:nvSpPr>
        <p:spPr>
          <a:xfrm>
            <a:off x="548640" y="2761488"/>
            <a:ext cx="4663440" cy="68580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2926080"/>
            <a:ext cx="4334255" cy="411480"/>
          </a:xfrm>
          <a:prstGeom prst="rect">
            <a:avLst/>
          </a:prstGeom>
          <a:noFill/>
        </p:spPr>
        <p:txBody>
          <a:bodyPr wrap="none" lIns="0" rIns="0" tIns="0" bIns="0">
            <a:spAutoFit/>
          </a:bodyPr>
          <a:lstStyle/>
          <a:p>
            <a:pPr algn="ctr">
              <a:lnSpc>
                <a:spcPts val="2688"/>
              </a:lnSpc>
              <a:spcBef>
                <a:spcPts val="0"/>
              </a:spcBef>
              <a:spcAft>
                <a:spcPts val="0"/>
              </a:spcAft>
            </a:pPr>
            <a:r>
              <a:rPr sz="2100" b="1">
                <a:solidFill>
                  <a:srgbClr val="087F82"/>
                </a:solidFill>
                <a:latin typeface="Arial"/>
              </a:rPr>
              <a:t>Part</a:t>
            </a:r>
          </a:p>
        </p:txBody>
      </p:sp>
      <p:sp>
        <p:nvSpPr>
          <p:cNvPr id="14" name="Rectangle 13"/>
          <p:cNvSpPr/>
          <p:nvPr/>
        </p:nvSpPr>
        <p:spPr>
          <a:xfrm>
            <a:off x="8375904" y="2761488"/>
            <a:ext cx="3264408"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40496" y="2926080"/>
            <a:ext cx="2935224" cy="411480"/>
          </a:xfrm>
          <a:prstGeom prst="rect">
            <a:avLst/>
          </a:prstGeom>
          <a:noFill/>
        </p:spPr>
        <p:txBody>
          <a:bodyPr wrap="none" lIns="0" rIns="0" tIns="0" bIns="0">
            <a:spAutoFit/>
          </a:bodyPr>
          <a:lstStyle/>
          <a:p>
            <a:pPr algn="ctr">
              <a:lnSpc>
                <a:spcPts val="2944"/>
              </a:lnSpc>
              <a:spcBef>
                <a:spcPts val="0"/>
              </a:spcBef>
              <a:spcAft>
                <a:spcPts val="0"/>
              </a:spcAft>
            </a:pPr>
            <a:r>
              <a:rPr sz="2300" b="1">
                <a:solidFill>
                  <a:srgbClr val="182C3A"/>
                </a:solidFill>
                <a:latin typeface="Arial"/>
              </a:rPr>
              <a:t>product</a:t>
            </a:r>
          </a:p>
        </p:txBody>
      </p:sp>
      <p:cxnSp>
        <p:nvCxnSpPr>
          <p:cNvPr id="16" name="Connector 15"/>
          <p:cNvCxnSpPr/>
          <p:nvPr/>
        </p:nvCxnSpPr>
        <p:spPr>
          <a:xfrm>
            <a:off x="5257800" y="3108960"/>
            <a:ext cx="3072383" cy="0"/>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349240" y="2816352"/>
            <a:ext cx="2880360" cy="228600"/>
          </a:xfrm>
          <a:prstGeom prst="rect">
            <a:avLst/>
          </a:prstGeom>
          <a:noFill/>
        </p:spPr>
        <p:txBody>
          <a:bodyPr wrap="none" lIns="0" rIns="0" tIns="0" bIns="0">
            <a:spAutoFit/>
          </a:bodyPr>
          <a:lstStyle/>
          <a:p>
            <a:pPr algn="ctr">
              <a:lnSpc>
                <a:spcPts val="1920"/>
              </a:lnSpc>
              <a:spcBef>
                <a:spcPts val="0"/>
              </a:spcBef>
              <a:spcAft>
                <a:spcPts val="0"/>
              </a:spcAft>
            </a:pPr>
            <a:r>
              <a:rPr sz="1500" b="0">
                <a:solidFill>
                  <a:srgbClr val="52616A"/>
                </a:solidFill>
                <a:latin typeface="Arial"/>
              </a:rPr>
              <a:t>rdfs:subClassOf</a:t>
            </a:r>
          </a:p>
        </p:txBody>
      </p:sp>
      <p:sp>
        <p:nvSpPr>
          <p:cNvPr id="18" name="Rectangle 17"/>
          <p:cNvSpPr/>
          <p:nvPr/>
        </p:nvSpPr>
        <p:spPr>
          <a:xfrm>
            <a:off x="548640" y="3712463"/>
            <a:ext cx="4663440" cy="68580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3877055"/>
            <a:ext cx="4334255" cy="411480"/>
          </a:xfrm>
          <a:prstGeom prst="rect">
            <a:avLst/>
          </a:prstGeom>
          <a:noFill/>
        </p:spPr>
        <p:txBody>
          <a:bodyPr wrap="none" lIns="0" rIns="0" tIns="0" bIns="0">
            <a:spAutoFit/>
          </a:bodyPr>
          <a:lstStyle/>
          <a:p>
            <a:pPr algn="ctr">
              <a:lnSpc>
                <a:spcPts val="2688"/>
              </a:lnSpc>
              <a:spcBef>
                <a:spcPts val="0"/>
              </a:spcBef>
              <a:spcAft>
                <a:spcPts val="0"/>
              </a:spcAft>
            </a:pPr>
            <a:r>
              <a:rPr sz="2100" b="1">
                <a:solidFill>
                  <a:srgbClr val="087F82"/>
                </a:solidFill>
                <a:latin typeface="Arial"/>
              </a:rPr>
              <a:t>AssemblyFeature</a:t>
            </a:r>
          </a:p>
        </p:txBody>
      </p:sp>
      <p:sp>
        <p:nvSpPr>
          <p:cNvPr id="20" name="Rectangle 19"/>
          <p:cNvSpPr/>
          <p:nvPr/>
        </p:nvSpPr>
        <p:spPr>
          <a:xfrm>
            <a:off x="8375904" y="3712463"/>
            <a:ext cx="3264408"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40496" y="3877055"/>
            <a:ext cx="2935224" cy="411480"/>
          </a:xfrm>
          <a:prstGeom prst="rect">
            <a:avLst/>
          </a:prstGeom>
          <a:noFill/>
        </p:spPr>
        <p:txBody>
          <a:bodyPr wrap="none" lIns="0" rIns="0" tIns="0" bIns="0">
            <a:spAutoFit/>
          </a:bodyPr>
          <a:lstStyle/>
          <a:p>
            <a:pPr algn="ctr">
              <a:lnSpc>
                <a:spcPts val="2944"/>
              </a:lnSpc>
              <a:spcBef>
                <a:spcPts val="0"/>
              </a:spcBef>
              <a:spcAft>
                <a:spcPts val="0"/>
              </a:spcAft>
            </a:pPr>
            <a:r>
              <a:rPr sz="2300" b="1">
                <a:solidFill>
                  <a:srgbClr val="182C3A"/>
                </a:solidFill>
                <a:latin typeface="Arial"/>
              </a:rPr>
              <a:t>feature</a:t>
            </a:r>
          </a:p>
        </p:txBody>
      </p:sp>
      <p:cxnSp>
        <p:nvCxnSpPr>
          <p:cNvPr id="22" name="Connector 21"/>
          <p:cNvCxnSpPr/>
          <p:nvPr/>
        </p:nvCxnSpPr>
        <p:spPr>
          <a:xfrm>
            <a:off x="5257800" y="4059935"/>
            <a:ext cx="3072383" cy="0"/>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349240" y="3767327"/>
            <a:ext cx="2880360" cy="228600"/>
          </a:xfrm>
          <a:prstGeom prst="rect">
            <a:avLst/>
          </a:prstGeom>
          <a:noFill/>
        </p:spPr>
        <p:txBody>
          <a:bodyPr wrap="none" lIns="0" rIns="0" tIns="0" bIns="0">
            <a:spAutoFit/>
          </a:bodyPr>
          <a:lstStyle/>
          <a:p>
            <a:pPr algn="ctr">
              <a:lnSpc>
                <a:spcPts val="1920"/>
              </a:lnSpc>
              <a:spcBef>
                <a:spcPts val="0"/>
              </a:spcBef>
              <a:spcAft>
                <a:spcPts val="0"/>
              </a:spcAft>
            </a:pPr>
            <a:r>
              <a:rPr sz="1500" b="0">
                <a:solidFill>
                  <a:srgbClr val="52616A"/>
                </a:solidFill>
                <a:latin typeface="Arial"/>
              </a:rPr>
              <a:t>rdfs:subClassOf</a:t>
            </a:r>
          </a:p>
        </p:txBody>
      </p:sp>
      <p:sp>
        <p:nvSpPr>
          <p:cNvPr id="24" name="Rectangle 23"/>
          <p:cNvSpPr/>
          <p:nvPr/>
        </p:nvSpPr>
        <p:spPr>
          <a:xfrm>
            <a:off x="548640" y="4663440"/>
            <a:ext cx="4663440" cy="68580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3232" y="4828031"/>
            <a:ext cx="4334255" cy="411480"/>
          </a:xfrm>
          <a:prstGeom prst="rect">
            <a:avLst/>
          </a:prstGeom>
          <a:noFill/>
        </p:spPr>
        <p:txBody>
          <a:bodyPr wrap="none" lIns="0" rIns="0" tIns="0" bIns="0">
            <a:spAutoFit/>
          </a:bodyPr>
          <a:lstStyle/>
          <a:p>
            <a:pPr algn="ctr">
              <a:lnSpc>
                <a:spcPts val="2688"/>
              </a:lnSpc>
              <a:spcBef>
                <a:spcPts val="0"/>
              </a:spcBef>
              <a:spcAft>
                <a:spcPts val="0"/>
              </a:spcAft>
            </a:pPr>
            <a:r>
              <a:rPr sz="2100" b="1">
                <a:solidFill>
                  <a:srgbClr val="087F82"/>
                </a:solidFill>
                <a:latin typeface="Arial"/>
              </a:rPr>
              <a:t>AssemblyFeatureAssociation</a:t>
            </a:r>
          </a:p>
        </p:txBody>
      </p:sp>
      <p:sp>
        <p:nvSpPr>
          <p:cNvPr id="26" name="Rectangle 25"/>
          <p:cNvSpPr/>
          <p:nvPr/>
        </p:nvSpPr>
        <p:spPr>
          <a:xfrm>
            <a:off x="8375904" y="4663440"/>
            <a:ext cx="3264408"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40496" y="4828031"/>
            <a:ext cx="2935224" cy="411480"/>
          </a:xfrm>
          <a:prstGeom prst="rect">
            <a:avLst/>
          </a:prstGeom>
          <a:noFill/>
        </p:spPr>
        <p:txBody>
          <a:bodyPr wrap="none" lIns="0" rIns="0" tIns="0" bIns="0">
            <a:spAutoFit/>
          </a:bodyPr>
          <a:lstStyle/>
          <a:p>
            <a:pPr algn="ctr">
              <a:lnSpc>
                <a:spcPts val="2944"/>
              </a:lnSpc>
              <a:spcBef>
                <a:spcPts val="0"/>
              </a:spcBef>
              <a:spcAft>
                <a:spcPts val="0"/>
              </a:spcAft>
            </a:pPr>
            <a:r>
              <a:rPr sz="2300" b="1">
                <a:solidFill>
                  <a:srgbClr val="182C3A"/>
                </a:solidFill>
                <a:latin typeface="Arial"/>
              </a:rPr>
              <a:t>feature</a:t>
            </a:r>
          </a:p>
        </p:txBody>
      </p:sp>
      <p:cxnSp>
        <p:nvCxnSpPr>
          <p:cNvPr id="28" name="Connector 27"/>
          <p:cNvCxnSpPr/>
          <p:nvPr/>
        </p:nvCxnSpPr>
        <p:spPr>
          <a:xfrm>
            <a:off x="5257800" y="5010912"/>
            <a:ext cx="3072383" cy="0"/>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349240" y="4718303"/>
            <a:ext cx="2880360" cy="228600"/>
          </a:xfrm>
          <a:prstGeom prst="rect">
            <a:avLst/>
          </a:prstGeom>
          <a:noFill/>
        </p:spPr>
        <p:txBody>
          <a:bodyPr wrap="none" lIns="0" rIns="0" tIns="0" bIns="0">
            <a:spAutoFit/>
          </a:bodyPr>
          <a:lstStyle/>
          <a:p>
            <a:pPr algn="ctr">
              <a:lnSpc>
                <a:spcPts val="1920"/>
              </a:lnSpc>
              <a:spcBef>
                <a:spcPts val="0"/>
              </a:spcBef>
              <a:spcAft>
                <a:spcPts val="0"/>
              </a:spcAft>
            </a:pPr>
            <a:r>
              <a:rPr sz="1500" b="0">
                <a:solidFill>
                  <a:srgbClr val="52616A"/>
                </a:solidFill>
                <a:latin typeface="Arial"/>
              </a:rPr>
              <a:t>rdfs:subClassOf</a:t>
            </a:r>
          </a:p>
        </p:txBody>
      </p:sp>
      <p:sp>
        <p:nvSpPr>
          <p:cNvPr id="30" name="Rectangle 29"/>
          <p:cNvSpPr/>
          <p:nvPr/>
        </p:nvSpPr>
        <p:spPr>
          <a:xfrm>
            <a:off x="548640" y="5669280"/>
            <a:ext cx="11091672" cy="49377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40664" y="5797296"/>
            <a:ext cx="10707624" cy="283464"/>
          </a:xfrm>
          <a:prstGeom prst="rect">
            <a:avLst/>
          </a:prstGeom>
          <a:noFill/>
        </p:spPr>
        <p:txBody>
          <a:bodyPr wrap="none" lIns="0" rIns="0" tIns="0" bIns="0">
            <a:spAutoFit/>
          </a:bodyPr>
          <a:lstStyle/>
          <a:p>
            <a:pPr algn="l">
              <a:lnSpc>
                <a:spcPts val="2688"/>
              </a:lnSpc>
              <a:spcBef>
                <a:spcPts val="0"/>
              </a:spcBef>
              <a:spcAft>
                <a:spcPts val="0"/>
              </a:spcAft>
            </a:pPr>
            <a:r>
              <a:rPr sz="2100" b="1">
                <a:solidFill>
                  <a:srgbClr val="087F82"/>
                </a:solidFill>
                <a:latin typeface="Arial"/>
              </a:rPr>
              <a:t>An assembly relationship can use the existing feature-state vocabulary.</a:t>
            </a:r>
          </a:p>
        </p:txBody>
      </p:sp>
      <p:sp>
        <p:nvSpPr>
          <p:cNvPr id="32" name="TextBox 31"/>
          <p:cNvSpPr txBox="1"/>
          <p:nvPr/>
        </p:nvSpPr>
        <p:spPr>
          <a:xfrm>
            <a:off x="10972800" y="6483096"/>
            <a:ext cx="667512"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ONTOLOGY  /  ASSEMBLY RELATIONS</a:t>
            </a:r>
          </a:p>
        </p:txBody>
      </p:sp>
      <p:sp>
        <p:nvSpPr>
          <p:cNvPr id="3" name="TextBox 2"/>
          <p:cNvSpPr txBox="1"/>
          <p:nvPr/>
        </p:nvSpPr>
        <p:spPr>
          <a:xfrm>
            <a:off x="548640" y="832104"/>
            <a:ext cx="11091672" cy="777240"/>
          </a:xfrm>
          <a:prstGeom prst="rect">
            <a:avLst/>
          </a:prstGeom>
          <a:noFill/>
        </p:spPr>
        <p:txBody>
          <a:bodyPr wrap="none" lIns="0" rIns="0" tIns="0" bIns="0">
            <a:spAutoFit/>
          </a:bodyPr>
          <a:lstStyle/>
          <a:p>
            <a:pPr algn="l">
              <a:lnSpc>
                <a:spcPts val="3711"/>
              </a:lnSpc>
              <a:spcBef>
                <a:spcPts val="0"/>
              </a:spcBef>
              <a:spcAft>
                <a:spcPts val="0"/>
              </a:spcAft>
            </a:pPr>
            <a:r>
              <a:rPr sz="2900" b="1">
                <a:solidFill>
                  <a:srgbClr val="182C3A"/>
                </a:solidFill>
                <a:latin typeface="Arial"/>
              </a:rPr>
              <a:t>Four properties add ownership and pairwise relations</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4128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Supplied OWL + current code + saved ABox • 09 Sep 2026 • Sources in notes</a:t>
            </a:r>
          </a:p>
        </p:txBody>
      </p:sp>
      <p:sp>
        <p:nvSpPr>
          <p:cNvPr id="6" name="Rectangle 5"/>
          <p:cNvSpPr/>
          <p:nvPr/>
        </p:nvSpPr>
        <p:spPr>
          <a:xfrm>
            <a:off x="548640" y="1856231"/>
            <a:ext cx="11091672" cy="457200"/>
          </a:xfrm>
          <a:prstGeom prst="rect">
            <a:avLst/>
          </a:prstGeom>
          <a:solidFill>
            <a:srgbClr val="18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984248"/>
            <a:ext cx="2788920" cy="246888"/>
          </a:xfrm>
          <a:prstGeom prst="rect">
            <a:avLst/>
          </a:prstGeom>
          <a:noFill/>
        </p:spPr>
        <p:txBody>
          <a:bodyPr wrap="none" lIns="0" rIns="0" tIns="0" bIns="0">
            <a:spAutoFit/>
          </a:bodyPr>
          <a:lstStyle/>
          <a:p>
            <a:pPr algn="l">
              <a:lnSpc>
                <a:spcPts val="1920"/>
              </a:lnSpc>
              <a:spcBef>
                <a:spcPts val="0"/>
              </a:spcBef>
              <a:spcAft>
                <a:spcPts val="0"/>
              </a:spcAft>
            </a:pPr>
            <a:r>
              <a:rPr sz="1500" b="1">
                <a:solidFill>
                  <a:srgbClr val="FFFFFF"/>
                </a:solidFill>
                <a:latin typeface="Arial"/>
              </a:rPr>
              <a:t>Domain</a:t>
            </a:r>
          </a:p>
        </p:txBody>
      </p:sp>
      <p:sp>
        <p:nvSpPr>
          <p:cNvPr id="8" name="TextBox 7"/>
          <p:cNvSpPr txBox="1"/>
          <p:nvPr/>
        </p:nvSpPr>
        <p:spPr>
          <a:xfrm>
            <a:off x="3694176" y="1984248"/>
            <a:ext cx="4041648" cy="246888"/>
          </a:xfrm>
          <a:prstGeom prst="rect">
            <a:avLst/>
          </a:prstGeom>
          <a:noFill/>
        </p:spPr>
        <p:txBody>
          <a:bodyPr wrap="none" lIns="0" rIns="0" tIns="0" bIns="0">
            <a:spAutoFit/>
          </a:bodyPr>
          <a:lstStyle/>
          <a:p>
            <a:pPr algn="l">
              <a:lnSpc>
                <a:spcPts val="1920"/>
              </a:lnSpc>
              <a:spcBef>
                <a:spcPts val="0"/>
              </a:spcBef>
              <a:spcAft>
                <a:spcPts val="0"/>
              </a:spcAft>
            </a:pPr>
            <a:r>
              <a:rPr sz="1500" b="1">
                <a:solidFill>
                  <a:srgbClr val="FFFFFF"/>
                </a:solidFill>
                <a:latin typeface="Arial"/>
              </a:rPr>
              <a:t>Property</a:t>
            </a:r>
          </a:p>
        </p:txBody>
      </p:sp>
      <p:sp>
        <p:nvSpPr>
          <p:cNvPr id="9" name="TextBox 8"/>
          <p:cNvSpPr txBox="1"/>
          <p:nvPr/>
        </p:nvSpPr>
        <p:spPr>
          <a:xfrm>
            <a:off x="7973568" y="1984248"/>
            <a:ext cx="3547872" cy="246888"/>
          </a:xfrm>
          <a:prstGeom prst="rect">
            <a:avLst/>
          </a:prstGeom>
          <a:noFill/>
        </p:spPr>
        <p:txBody>
          <a:bodyPr wrap="none" lIns="0" rIns="0" tIns="0" bIns="0">
            <a:spAutoFit/>
          </a:bodyPr>
          <a:lstStyle/>
          <a:p>
            <a:pPr algn="l">
              <a:lnSpc>
                <a:spcPts val="1920"/>
              </a:lnSpc>
              <a:spcBef>
                <a:spcPts val="0"/>
              </a:spcBef>
              <a:spcAft>
                <a:spcPts val="0"/>
              </a:spcAft>
            </a:pPr>
            <a:r>
              <a:rPr sz="1500" b="1">
                <a:solidFill>
                  <a:srgbClr val="FFFFFF"/>
                </a:solidFill>
                <a:latin typeface="Arial"/>
              </a:rPr>
              <a:t>Range</a:t>
            </a:r>
          </a:p>
        </p:txBody>
      </p:sp>
      <p:sp>
        <p:nvSpPr>
          <p:cNvPr id="10" name="Rectangle 9"/>
          <p:cNvSpPr/>
          <p:nvPr/>
        </p:nvSpPr>
        <p:spPr>
          <a:xfrm>
            <a:off x="548640" y="2331720"/>
            <a:ext cx="11091672" cy="68580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78024"/>
            <a:ext cx="2788920"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Assembly</a:t>
            </a:r>
          </a:p>
        </p:txBody>
      </p:sp>
      <p:sp>
        <p:nvSpPr>
          <p:cNvPr id="12" name="TextBox 11"/>
          <p:cNvSpPr txBox="1"/>
          <p:nvPr/>
        </p:nvSpPr>
        <p:spPr>
          <a:xfrm>
            <a:off x="3694176" y="2478024"/>
            <a:ext cx="4041648"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hasPart</a:t>
            </a:r>
          </a:p>
        </p:txBody>
      </p:sp>
      <p:sp>
        <p:nvSpPr>
          <p:cNvPr id="13" name="TextBox 12"/>
          <p:cNvSpPr txBox="1"/>
          <p:nvPr/>
        </p:nvSpPr>
        <p:spPr>
          <a:xfrm>
            <a:off x="7973568" y="2478024"/>
            <a:ext cx="3547872"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product</a:t>
            </a:r>
          </a:p>
        </p:txBody>
      </p:sp>
      <p:sp>
        <p:nvSpPr>
          <p:cNvPr id="14" name="Rectangle 13"/>
          <p:cNvSpPr/>
          <p:nvPr/>
        </p:nvSpPr>
        <p:spPr>
          <a:xfrm>
            <a:off x="548640" y="3035808"/>
            <a:ext cx="11091672"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3182112"/>
            <a:ext cx="2788920"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product</a:t>
            </a:r>
          </a:p>
        </p:txBody>
      </p:sp>
      <p:sp>
        <p:nvSpPr>
          <p:cNvPr id="16" name="TextBox 15"/>
          <p:cNvSpPr txBox="1"/>
          <p:nvPr/>
        </p:nvSpPr>
        <p:spPr>
          <a:xfrm>
            <a:off x="3694176" y="3182112"/>
            <a:ext cx="4041648"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hasAssemblyFeature</a:t>
            </a:r>
          </a:p>
        </p:txBody>
      </p:sp>
      <p:sp>
        <p:nvSpPr>
          <p:cNvPr id="17" name="TextBox 16"/>
          <p:cNvSpPr txBox="1"/>
          <p:nvPr/>
        </p:nvSpPr>
        <p:spPr>
          <a:xfrm>
            <a:off x="7973568" y="3182112"/>
            <a:ext cx="3547872"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AssemblyFeature</a:t>
            </a:r>
          </a:p>
        </p:txBody>
      </p:sp>
      <p:sp>
        <p:nvSpPr>
          <p:cNvPr id="18" name="Rectangle 17"/>
          <p:cNvSpPr/>
          <p:nvPr/>
        </p:nvSpPr>
        <p:spPr>
          <a:xfrm>
            <a:off x="548640" y="3739896"/>
            <a:ext cx="11091672" cy="68580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886200"/>
            <a:ext cx="2788920"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Assembly</a:t>
            </a:r>
          </a:p>
        </p:txBody>
      </p:sp>
      <p:sp>
        <p:nvSpPr>
          <p:cNvPr id="20" name="TextBox 19"/>
          <p:cNvSpPr txBox="1"/>
          <p:nvPr/>
        </p:nvSpPr>
        <p:spPr>
          <a:xfrm>
            <a:off x="3694176" y="3886200"/>
            <a:ext cx="4041648"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hasAssemblyFeatureAssociation</a:t>
            </a:r>
          </a:p>
        </p:txBody>
      </p:sp>
      <p:sp>
        <p:nvSpPr>
          <p:cNvPr id="21" name="TextBox 20"/>
          <p:cNvSpPr txBox="1"/>
          <p:nvPr/>
        </p:nvSpPr>
        <p:spPr>
          <a:xfrm>
            <a:off x="7973568" y="3886200"/>
            <a:ext cx="3547872"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AssemblyFeatureAssociation</a:t>
            </a:r>
          </a:p>
        </p:txBody>
      </p:sp>
      <p:sp>
        <p:nvSpPr>
          <p:cNvPr id="22" name="Rectangle 21"/>
          <p:cNvSpPr/>
          <p:nvPr/>
        </p:nvSpPr>
        <p:spPr>
          <a:xfrm>
            <a:off x="548640" y="4443983"/>
            <a:ext cx="11091672"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4590288"/>
            <a:ext cx="2788920"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AssemblyFeatureAssociation</a:t>
            </a:r>
          </a:p>
        </p:txBody>
      </p:sp>
      <p:sp>
        <p:nvSpPr>
          <p:cNvPr id="24" name="TextBox 23"/>
          <p:cNvSpPr txBox="1"/>
          <p:nvPr/>
        </p:nvSpPr>
        <p:spPr>
          <a:xfrm>
            <a:off x="3694176" y="4590288"/>
            <a:ext cx="4041648"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relatesAssemblyFeature</a:t>
            </a:r>
          </a:p>
        </p:txBody>
      </p:sp>
      <p:sp>
        <p:nvSpPr>
          <p:cNvPr id="25" name="TextBox 24"/>
          <p:cNvSpPr txBox="1"/>
          <p:nvPr/>
        </p:nvSpPr>
        <p:spPr>
          <a:xfrm>
            <a:off x="7973568" y="4590288"/>
            <a:ext cx="3547872"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AssemblyFeature</a:t>
            </a:r>
          </a:p>
        </p:txBody>
      </p:sp>
      <p:sp>
        <p:nvSpPr>
          <p:cNvPr id="26" name="Rectangle 25"/>
          <p:cNvSpPr/>
          <p:nvPr/>
        </p:nvSpPr>
        <p:spPr>
          <a:xfrm>
            <a:off x="548640" y="5349240"/>
            <a:ext cx="11091672" cy="49377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 y="5477255"/>
            <a:ext cx="10707624" cy="283464"/>
          </a:xfrm>
          <a:prstGeom prst="rect">
            <a:avLst/>
          </a:prstGeom>
          <a:noFill/>
        </p:spPr>
        <p:txBody>
          <a:bodyPr wrap="none" lIns="0" rIns="0" tIns="0" bIns="0">
            <a:spAutoFit/>
          </a:bodyPr>
          <a:lstStyle/>
          <a:p>
            <a:pPr algn="l">
              <a:lnSpc>
                <a:spcPts val="2304"/>
              </a:lnSpc>
              <a:spcBef>
                <a:spcPts val="0"/>
              </a:spcBef>
              <a:spcAft>
                <a:spcPts val="0"/>
              </a:spcAft>
            </a:pPr>
            <a:r>
              <a:rPr sz="1800" b="1">
                <a:solidFill>
                  <a:srgbClr val="087F82"/>
                </a:solidFill>
                <a:latin typeface="Arial"/>
              </a:rPr>
              <a:t>Each AssemblyFeatureAssociation relates exactly two AssemblyFeature endpoints.</a:t>
            </a:r>
          </a:p>
        </p:txBody>
      </p:sp>
      <p:sp>
        <p:nvSpPr>
          <p:cNvPr id="28" name="TextBox 27"/>
          <p:cNvSpPr txBox="1"/>
          <p:nvPr/>
        </p:nvSpPr>
        <p:spPr>
          <a:xfrm>
            <a:off x="594360" y="5998464"/>
            <a:ext cx="10972800" cy="246888"/>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More relationships → more association individuals. Exact owners and endpoints can be shared.</a:t>
            </a:r>
          </a:p>
        </p:txBody>
      </p:sp>
      <p:sp>
        <p:nvSpPr>
          <p:cNvPr id="29" name="TextBox 28"/>
          <p:cNvSpPr txBox="1"/>
          <p:nvPr/>
        </p:nvSpPr>
        <p:spPr>
          <a:xfrm>
            <a:off x="10972800" y="6483096"/>
            <a:ext cx="667512"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ONTOLOGY  /  SAVED ASSEMBLY ABOX</a:t>
            </a:r>
          </a:p>
        </p:txBody>
      </p:sp>
      <p:sp>
        <p:nvSpPr>
          <p:cNvPr id="3" name="TextBox 2"/>
          <p:cNvSpPr txBox="1"/>
          <p:nvPr/>
        </p:nvSpPr>
        <p:spPr>
          <a:xfrm>
            <a:off x="548640" y="832104"/>
            <a:ext cx="11091672" cy="777240"/>
          </a:xfrm>
          <a:prstGeom prst="rect">
            <a:avLst/>
          </a:prstGeom>
          <a:noFill/>
        </p:spPr>
        <p:txBody>
          <a:bodyPr wrap="none" lIns="0" rIns="0" tIns="0" bIns="0">
            <a:spAutoFit/>
          </a:bodyPr>
          <a:lstStyle/>
          <a:p>
            <a:pPr algn="l">
              <a:lnSpc>
                <a:spcPts val="3711"/>
              </a:lnSpc>
              <a:spcBef>
                <a:spcPts val="0"/>
              </a:spcBef>
              <a:spcAft>
                <a:spcPts val="0"/>
              </a:spcAft>
            </a:pPr>
            <a:r>
              <a:rPr sz="2900" b="1">
                <a:solidFill>
                  <a:srgbClr val="182C3A"/>
                </a:solidFill>
                <a:latin typeface="Arial"/>
              </a:rPr>
              <a:t>The medium-gear goal becomes concrete instances</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4128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Supplied OWL + current code + saved ABox • 09 Sep 2026 • Sources in notes</a:t>
            </a:r>
          </a:p>
        </p:txBody>
      </p:sp>
      <p:sp>
        <p:nvSpPr>
          <p:cNvPr id="6" name="Rectangle 5"/>
          <p:cNvSpPr/>
          <p:nvPr/>
        </p:nvSpPr>
        <p:spPr>
          <a:xfrm>
            <a:off x="3502152" y="1673352"/>
            <a:ext cx="5193792" cy="86868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66744" y="1837944"/>
            <a:ext cx="4864607" cy="411480"/>
          </a:xfrm>
          <a:prstGeom prst="rect">
            <a:avLst/>
          </a:prstGeom>
          <a:noFill/>
        </p:spPr>
        <p:txBody>
          <a:bodyPr wrap="none" lIns="0" rIns="0" tIns="0" bIns="0">
            <a:spAutoFit/>
          </a:bodyPr>
          <a:lstStyle/>
          <a:p>
            <a:pPr algn="ctr">
              <a:lnSpc>
                <a:spcPts val="2432"/>
              </a:lnSpc>
              <a:spcBef>
                <a:spcPts val="0"/>
              </a:spcBef>
              <a:spcAft>
                <a:spcPts val="0"/>
              </a:spcAft>
            </a:pPr>
            <a:r>
              <a:rPr sz="1900" b="1">
                <a:solidFill>
                  <a:srgbClr val="087F82"/>
                </a:solidFill>
                <a:latin typeface="Arial"/>
              </a:rPr>
              <a:t>assembly_0001 : Assembly</a:t>
            </a:r>
          </a:p>
        </p:txBody>
      </p:sp>
      <p:sp>
        <p:nvSpPr>
          <p:cNvPr id="8" name="TextBox 7"/>
          <p:cNvSpPr txBox="1"/>
          <p:nvPr/>
        </p:nvSpPr>
        <p:spPr>
          <a:xfrm>
            <a:off x="3666744" y="2258568"/>
            <a:ext cx="4864607" cy="283463"/>
          </a:xfrm>
          <a:prstGeom prst="rect">
            <a:avLst/>
          </a:prstGeom>
          <a:noFill/>
        </p:spPr>
        <p:txBody>
          <a:bodyPr wrap="none" lIns="0" rIns="0" tIns="0" bIns="0">
            <a:spAutoFit/>
          </a:bodyPr>
          <a:lstStyle/>
          <a:p>
            <a:pPr algn="ctr">
              <a:lnSpc>
                <a:spcPts val="2304"/>
              </a:lnSpc>
              <a:spcBef>
                <a:spcPts val="0"/>
              </a:spcBef>
              <a:spcAft>
                <a:spcPts val="0"/>
              </a:spcAft>
            </a:pPr>
            <a:r>
              <a:rPr sz="1800" b="0">
                <a:solidFill>
                  <a:srgbClr val="52616A"/>
                </a:solidFill>
                <a:latin typeface="Arial"/>
              </a:rPr>
              <a:t>gear plate assembly</a:t>
            </a:r>
          </a:p>
        </p:txBody>
      </p:sp>
      <p:sp>
        <p:nvSpPr>
          <p:cNvPr id="9" name="Rectangle 8"/>
          <p:cNvSpPr/>
          <p:nvPr/>
        </p:nvSpPr>
        <p:spPr>
          <a:xfrm>
            <a:off x="548640" y="3090672"/>
            <a:ext cx="4983480" cy="9052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3255264"/>
            <a:ext cx="4654296" cy="411480"/>
          </a:xfrm>
          <a:prstGeom prst="rect">
            <a:avLst/>
          </a:prstGeom>
          <a:noFill/>
        </p:spPr>
        <p:txBody>
          <a:bodyPr wrap="none" lIns="0" rIns="0" tIns="0" bIns="0">
            <a:spAutoFit/>
          </a:bodyPr>
          <a:lstStyle/>
          <a:p>
            <a:pPr algn="ctr">
              <a:lnSpc>
                <a:spcPts val="2304"/>
              </a:lnSpc>
              <a:spcBef>
                <a:spcPts val="0"/>
              </a:spcBef>
              <a:spcAft>
                <a:spcPts val="0"/>
              </a:spcAft>
            </a:pPr>
            <a:r>
              <a:rPr sz="1800" b="1">
                <a:solidFill>
                  <a:srgbClr val="182C3A"/>
                </a:solidFill>
                <a:latin typeface="Arial"/>
              </a:rPr>
              <a:t>part_0001 : Part</a:t>
            </a:r>
          </a:p>
        </p:txBody>
      </p:sp>
      <p:sp>
        <p:nvSpPr>
          <p:cNvPr id="11" name="TextBox 10"/>
          <p:cNvSpPr txBox="1"/>
          <p:nvPr/>
        </p:nvSpPr>
        <p:spPr>
          <a:xfrm>
            <a:off x="713232" y="3675887"/>
            <a:ext cx="4654296" cy="320040"/>
          </a:xfrm>
          <a:prstGeom prst="rect">
            <a:avLst/>
          </a:prstGeom>
          <a:noFill/>
        </p:spPr>
        <p:txBody>
          <a:bodyPr wrap="none" lIns="0" rIns="0" tIns="0" bIns="0">
            <a:spAutoFit/>
          </a:bodyPr>
          <a:lstStyle/>
          <a:p>
            <a:pPr algn="ctr">
              <a:lnSpc>
                <a:spcPts val="2432"/>
              </a:lnSpc>
              <a:spcBef>
                <a:spcPts val="0"/>
              </a:spcBef>
              <a:spcAft>
                <a:spcPts val="0"/>
              </a:spcAft>
            </a:pPr>
            <a:r>
              <a:rPr sz="1900" b="0">
                <a:solidFill>
                  <a:srgbClr val="52616A"/>
                </a:solidFill>
                <a:latin typeface="Arial"/>
              </a:rPr>
              <a:t>medium gear</a:t>
            </a:r>
          </a:p>
        </p:txBody>
      </p:sp>
      <p:sp>
        <p:nvSpPr>
          <p:cNvPr id="12" name="Rectangle 11"/>
          <p:cNvSpPr/>
          <p:nvPr/>
        </p:nvSpPr>
        <p:spPr>
          <a:xfrm>
            <a:off x="6473952" y="3090672"/>
            <a:ext cx="5166360" cy="9052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38544" y="3255264"/>
            <a:ext cx="4837176" cy="411480"/>
          </a:xfrm>
          <a:prstGeom prst="rect">
            <a:avLst/>
          </a:prstGeom>
          <a:noFill/>
        </p:spPr>
        <p:txBody>
          <a:bodyPr wrap="none" lIns="0" rIns="0" tIns="0" bIns="0">
            <a:spAutoFit/>
          </a:bodyPr>
          <a:lstStyle/>
          <a:p>
            <a:pPr algn="ctr">
              <a:lnSpc>
                <a:spcPts val="2304"/>
              </a:lnSpc>
              <a:spcBef>
                <a:spcPts val="0"/>
              </a:spcBef>
              <a:spcAft>
                <a:spcPts val="0"/>
              </a:spcAft>
            </a:pPr>
            <a:r>
              <a:rPr sz="1800" b="1">
                <a:solidFill>
                  <a:srgbClr val="182C3A"/>
                </a:solidFill>
                <a:latin typeface="Arial"/>
              </a:rPr>
              <a:t>assembly_0002 : Assembly</a:t>
            </a:r>
          </a:p>
        </p:txBody>
      </p:sp>
      <p:sp>
        <p:nvSpPr>
          <p:cNvPr id="14" name="TextBox 13"/>
          <p:cNvSpPr txBox="1"/>
          <p:nvPr/>
        </p:nvSpPr>
        <p:spPr>
          <a:xfrm>
            <a:off x="6638544" y="3675887"/>
            <a:ext cx="4837176" cy="320040"/>
          </a:xfrm>
          <a:prstGeom prst="rect">
            <a:avLst/>
          </a:prstGeom>
          <a:noFill/>
        </p:spPr>
        <p:txBody>
          <a:bodyPr wrap="none" lIns="0" rIns="0" tIns="0" bIns="0">
            <a:spAutoFit/>
          </a:bodyPr>
          <a:lstStyle/>
          <a:p>
            <a:pPr algn="ctr">
              <a:lnSpc>
                <a:spcPts val="2176"/>
              </a:lnSpc>
              <a:spcBef>
                <a:spcPts val="0"/>
              </a:spcBef>
              <a:spcAft>
                <a:spcPts val="0"/>
              </a:spcAft>
            </a:pPr>
            <a:r>
              <a:rPr sz="1700" b="0">
                <a:solidFill>
                  <a:srgbClr val="52616A"/>
                </a:solidFill>
                <a:latin typeface="Arial"/>
              </a:rPr>
              <a:t>middle gear shaft on gear plate</a:t>
            </a:r>
          </a:p>
        </p:txBody>
      </p:sp>
      <p:cxnSp>
        <p:nvCxnSpPr>
          <p:cNvPr id="15" name="Connector 14"/>
          <p:cNvCxnSpPr/>
          <p:nvPr/>
        </p:nvCxnSpPr>
        <p:spPr>
          <a:xfrm flipH="1">
            <a:off x="3337560" y="2578608"/>
            <a:ext cx="868680" cy="466344"/>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973568" y="2578608"/>
            <a:ext cx="758952" cy="466344"/>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1298448" y="2697480"/>
            <a:ext cx="2816352" cy="246888"/>
          </a:xfrm>
          <a:prstGeom prst="rect">
            <a:avLst/>
          </a:prstGeom>
          <a:noFill/>
        </p:spPr>
        <p:txBody>
          <a:bodyPr wrap="none" lIns="0" rIns="0" tIns="0" bIns="0">
            <a:spAutoFit/>
          </a:bodyPr>
          <a:lstStyle/>
          <a:p>
            <a:pPr algn="ctr">
              <a:lnSpc>
                <a:spcPts val="1920"/>
              </a:lnSpc>
              <a:spcBef>
                <a:spcPts val="0"/>
              </a:spcBef>
              <a:spcAft>
                <a:spcPts val="0"/>
              </a:spcAft>
            </a:pPr>
            <a:r>
              <a:rPr sz="1500" b="0">
                <a:solidFill>
                  <a:srgbClr val="087F82"/>
                </a:solidFill>
                <a:latin typeface="Arial"/>
              </a:rPr>
              <a:t>hasPart</a:t>
            </a:r>
          </a:p>
        </p:txBody>
      </p:sp>
      <p:sp>
        <p:nvSpPr>
          <p:cNvPr id="18" name="TextBox 17"/>
          <p:cNvSpPr txBox="1"/>
          <p:nvPr/>
        </p:nvSpPr>
        <p:spPr>
          <a:xfrm>
            <a:off x="8229600" y="2697480"/>
            <a:ext cx="2798064" cy="246888"/>
          </a:xfrm>
          <a:prstGeom prst="rect">
            <a:avLst/>
          </a:prstGeom>
          <a:noFill/>
        </p:spPr>
        <p:txBody>
          <a:bodyPr wrap="none" lIns="0" rIns="0" tIns="0" bIns="0">
            <a:spAutoFit/>
          </a:bodyPr>
          <a:lstStyle/>
          <a:p>
            <a:pPr algn="ctr">
              <a:lnSpc>
                <a:spcPts val="1920"/>
              </a:lnSpc>
              <a:spcBef>
                <a:spcPts val="0"/>
              </a:spcBef>
              <a:spcAft>
                <a:spcPts val="0"/>
              </a:spcAft>
            </a:pPr>
            <a:r>
              <a:rPr sz="1500" b="0">
                <a:solidFill>
                  <a:srgbClr val="087F82"/>
                </a:solidFill>
                <a:latin typeface="Arial"/>
              </a:rPr>
              <a:t>hasPart</a:t>
            </a:r>
          </a:p>
        </p:txBody>
      </p:sp>
      <p:sp>
        <p:nvSpPr>
          <p:cNvPr id="19" name="Rectangle 18"/>
          <p:cNvSpPr/>
          <p:nvPr/>
        </p:nvSpPr>
        <p:spPr>
          <a:xfrm>
            <a:off x="548640" y="4517136"/>
            <a:ext cx="4983480" cy="8321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681728"/>
            <a:ext cx="4654296" cy="411480"/>
          </a:xfrm>
          <a:prstGeom prst="rect">
            <a:avLst/>
          </a:prstGeom>
          <a:noFill/>
        </p:spPr>
        <p:txBody>
          <a:bodyPr wrap="none" lIns="0" rIns="0" tIns="0" bIns="0">
            <a:spAutoFit/>
          </a:bodyPr>
          <a:lstStyle/>
          <a:p>
            <a:pPr algn="ctr">
              <a:lnSpc>
                <a:spcPts val="2176"/>
              </a:lnSpc>
              <a:spcBef>
                <a:spcPts val="0"/>
              </a:spcBef>
              <a:spcAft>
                <a:spcPts val="0"/>
              </a:spcAft>
            </a:pPr>
            <a:r>
              <a:rPr sz="1700" b="1">
                <a:solidFill>
                  <a:srgbClr val="182C3A"/>
                </a:solidFill>
                <a:latin typeface="Arial"/>
              </a:rPr>
              <a:t>assemblyfeature_0001</a:t>
            </a:r>
          </a:p>
        </p:txBody>
      </p:sp>
      <p:sp>
        <p:nvSpPr>
          <p:cNvPr id="21" name="TextBox 20"/>
          <p:cNvSpPr txBox="1"/>
          <p:nvPr/>
        </p:nvSpPr>
        <p:spPr>
          <a:xfrm>
            <a:off x="713232" y="5102352"/>
            <a:ext cx="4654296" cy="246888"/>
          </a:xfrm>
          <a:prstGeom prst="rect">
            <a:avLst/>
          </a:prstGeom>
          <a:noFill/>
        </p:spPr>
        <p:txBody>
          <a:bodyPr wrap="none" lIns="0" rIns="0" tIns="0" bIns="0">
            <a:spAutoFit/>
          </a:bodyPr>
          <a:lstStyle/>
          <a:p>
            <a:pPr algn="ctr">
              <a:lnSpc>
                <a:spcPts val="2304"/>
              </a:lnSpc>
              <a:spcBef>
                <a:spcPts val="0"/>
              </a:spcBef>
              <a:spcAft>
                <a:spcPts val="0"/>
              </a:spcAft>
            </a:pPr>
            <a:r>
              <a:rPr sz="1800" b="0">
                <a:solidFill>
                  <a:srgbClr val="52616A"/>
                </a:solidFill>
                <a:latin typeface="Arial"/>
              </a:rPr>
              <a:t>medium gear central bore</a:t>
            </a:r>
          </a:p>
        </p:txBody>
      </p:sp>
      <p:sp>
        <p:nvSpPr>
          <p:cNvPr id="22" name="Rectangle 21"/>
          <p:cNvSpPr/>
          <p:nvPr/>
        </p:nvSpPr>
        <p:spPr>
          <a:xfrm>
            <a:off x="6473952" y="4517136"/>
            <a:ext cx="5166360" cy="8321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38544" y="4681728"/>
            <a:ext cx="4837176" cy="411480"/>
          </a:xfrm>
          <a:prstGeom prst="rect">
            <a:avLst/>
          </a:prstGeom>
          <a:noFill/>
        </p:spPr>
        <p:txBody>
          <a:bodyPr wrap="none" lIns="0" rIns="0" tIns="0" bIns="0">
            <a:spAutoFit/>
          </a:bodyPr>
          <a:lstStyle/>
          <a:p>
            <a:pPr algn="ctr">
              <a:lnSpc>
                <a:spcPts val="2176"/>
              </a:lnSpc>
              <a:spcBef>
                <a:spcPts val="0"/>
              </a:spcBef>
              <a:spcAft>
                <a:spcPts val="0"/>
              </a:spcAft>
            </a:pPr>
            <a:r>
              <a:rPr sz="1700" b="1">
                <a:solidFill>
                  <a:srgbClr val="182C3A"/>
                </a:solidFill>
                <a:latin typeface="Arial"/>
              </a:rPr>
              <a:t>assemblyfeature_0002</a:t>
            </a:r>
          </a:p>
        </p:txBody>
      </p:sp>
      <p:sp>
        <p:nvSpPr>
          <p:cNvPr id="24" name="TextBox 23"/>
          <p:cNvSpPr txBox="1"/>
          <p:nvPr/>
        </p:nvSpPr>
        <p:spPr>
          <a:xfrm>
            <a:off x="6638544" y="5102352"/>
            <a:ext cx="4837176" cy="246888"/>
          </a:xfrm>
          <a:prstGeom prst="rect">
            <a:avLst/>
          </a:prstGeom>
          <a:noFill/>
        </p:spPr>
        <p:txBody>
          <a:bodyPr wrap="none" lIns="0" rIns="0" tIns="0" bIns="0">
            <a:spAutoFit/>
          </a:bodyPr>
          <a:lstStyle/>
          <a:p>
            <a:pPr algn="ctr">
              <a:lnSpc>
                <a:spcPts val="2176"/>
              </a:lnSpc>
              <a:spcBef>
                <a:spcPts val="0"/>
              </a:spcBef>
              <a:spcAft>
                <a:spcPts val="0"/>
              </a:spcAft>
            </a:pPr>
            <a:r>
              <a:rPr sz="1700" b="0">
                <a:solidFill>
                  <a:srgbClr val="52616A"/>
                </a:solidFill>
                <a:latin typeface="Arial"/>
              </a:rPr>
              <a:t>middle gear shaft mounting surface</a:t>
            </a:r>
          </a:p>
        </p:txBody>
      </p:sp>
      <p:cxnSp>
        <p:nvCxnSpPr>
          <p:cNvPr id="25" name="Connector 24"/>
          <p:cNvCxnSpPr/>
          <p:nvPr/>
        </p:nvCxnSpPr>
        <p:spPr>
          <a:xfrm>
            <a:off x="3040380" y="4023360"/>
            <a:ext cx="0" cy="457200"/>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9052560" y="4023360"/>
            <a:ext cx="0" cy="457200"/>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13232" y="4142232"/>
            <a:ext cx="2194560" cy="228600"/>
          </a:xfrm>
          <a:prstGeom prst="rect">
            <a:avLst/>
          </a:prstGeom>
          <a:noFill/>
        </p:spPr>
        <p:txBody>
          <a:bodyPr wrap="none" lIns="0" rIns="0" tIns="0" bIns="0">
            <a:spAutoFit/>
          </a:bodyPr>
          <a:lstStyle/>
          <a:p>
            <a:pPr algn="l">
              <a:lnSpc>
                <a:spcPts val="1536"/>
              </a:lnSpc>
              <a:spcBef>
                <a:spcPts val="0"/>
              </a:spcBef>
              <a:spcAft>
                <a:spcPts val="0"/>
              </a:spcAft>
            </a:pPr>
            <a:r>
              <a:rPr sz="1200" b="0">
                <a:solidFill>
                  <a:srgbClr val="087F82"/>
                </a:solidFill>
                <a:latin typeface="Arial"/>
              </a:rPr>
              <a:t>hasAssemblyFeature</a:t>
            </a:r>
          </a:p>
        </p:txBody>
      </p:sp>
      <p:sp>
        <p:nvSpPr>
          <p:cNvPr id="28" name="TextBox 27"/>
          <p:cNvSpPr txBox="1"/>
          <p:nvPr/>
        </p:nvSpPr>
        <p:spPr>
          <a:xfrm>
            <a:off x="6638544" y="4142232"/>
            <a:ext cx="2194560" cy="228600"/>
          </a:xfrm>
          <a:prstGeom prst="rect">
            <a:avLst/>
          </a:prstGeom>
          <a:noFill/>
        </p:spPr>
        <p:txBody>
          <a:bodyPr wrap="none" lIns="0" rIns="0" tIns="0" bIns="0">
            <a:spAutoFit/>
          </a:bodyPr>
          <a:lstStyle/>
          <a:p>
            <a:pPr algn="l">
              <a:lnSpc>
                <a:spcPts val="1536"/>
              </a:lnSpc>
              <a:spcBef>
                <a:spcPts val="0"/>
              </a:spcBef>
              <a:spcAft>
                <a:spcPts val="0"/>
              </a:spcAft>
            </a:pPr>
            <a:r>
              <a:rPr sz="1200" b="0">
                <a:solidFill>
                  <a:srgbClr val="087F82"/>
                </a:solidFill>
                <a:latin typeface="Arial"/>
              </a:rPr>
              <a:t>hasAssemblyFeature</a:t>
            </a:r>
          </a:p>
        </p:txBody>
      </p:sp>
      <p:sp>
        <p:nvSpPr>
          <p:cNvPr id="29" name="Rectangle 28"/>
          <p:cNvSpPr/>
          <p:nvPr/>
        </p:nvSpPr>
        <p:spPr>
          <a:xfrm>
            <a:off x="3502152" y="5532120"/>
            <a:ext cx="5193792" cy="557784"/>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66744" y="5696712"/>
            <a:ext cx="4864607" cy="411480"/>
          </a:xfrm>
          <a:prstGeom prst="rect">
            <a:avLst/>
          </a:prstGeom>
          <a:noFill/>
        </p:spPr>
        <p:txBody>
          <a:bodyPr wrap="none" lIns="0" rIns="0" tIns="0" bIns="0">
            <a:spAutoFit/>
          </a:bodyPr>
          <a:lstStyle/>
          <a:p>
            <a:pPr algn="ctr">
              <a:lnSpc>
                <a:spcPts val="2048"/>
              </a:lnSpc>
              <a:spcBef>
                <a:spcPts val="0"/>
              </a:spcBef>
              <a:spcAft>
                <a:spcPts val="0"/>
              </a:spcAft>
            </a:pPr>
            <a:r>
              <a:rPr sz="1600" b="1">
                <a:solidFill>
                  <a:srgbClr val="087F82"/>
                </a:solidFill>
                <a:latin typeface="Arial"/>
              </a:rPr>
              <a:t>assemblyfeatureassociation_0001</a:t>
            </a:r>
          </a:p>
        </p:txBody>
      </p:sp>
      <p:cxnSp>
        <p:nvCxnSpPr>
          <p:cNvPr id="31" name="Connector 30"/>
          <p:cNvCxnSpPr/>
          <p:nvPr/>
        </p:nvCxnSpPr>
        <p:spPr>
          <a:xfrm flipH="1" flipV="1">
            <a:off x="3337560" y="5385816"/>
            <a:ext cx="338327" cy="128016"/>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8513064" y="5385816"/>
            <a:ext cx="265176" cy="128016"/>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40080" y="5577840"/>
            <a:ext cx="2779776" cy="237744"/>
          </a:xfrm>
          <a:prstGeom prst="rect">
            <a:avLst/>
          </a:prstGeom>
          <a:noFill/>
        </p:spPr>
        <p:txBody>
          <a:bodyPr wrap="none" lIns="0" rIns="0" tIns="0" bIns="0">
            <a:spAutoFit/>
          </a:bodyPr>
          <a:lstStyle/>
          <a:p>
            <a:pPr algn="l">
              <a:lnSpc>
                <a:spcPts val="1536"/>
              </a:lnSpc>
              <a:spcBef>
                <a:spcPts val="0"/>
              </a:spcBef>
              <a:spcAft>
                <a:spcPts val="0"/>
              </a:spcAft>
            </a:pPr>
            <a:r>
              <a:rPr sz="1200" b="0">
                <a:solidFill>
                  <a:srgbClr val="087F82"/>
                </a:solidFill>
                <a:latin typeface="Arial"/>
              </a:rPr>
              <a:t>relatesAssemblyFeature</a:t>
            </a:r>
          </a:p>
        </p:txBody>
      </p:sp>
      <p:sp>
        <p:nvSpPr>
          <p:cNvPr id="34" name="TextBox 33"/>
          <p:cNvSpPr txBox="1"/>
          <p:nvPr/>
        </p:nvSpPr>
        <p:spPr>
          <a:xfrm>
            <a:off x="8851392" y="5577840"/>
            <a:ext cx="2752344" cy="237744"/>
          </a:xfrm>
          <a:prstGeom prst="rect">
            <a:avLst/>
          </a:prstGeom>
          <a:noFill/>
        </p:spPr>
        <p:txBody>
          <a:bodyPr wrap="none" lIns="0" rIns="0" tIns="0" bIns="0">
            <a:spAutoFit/>
          </a:bodyPr>
          <a:lstStyle/>
          <a:p>
            <a:pPr algn="l">
              <a:lnSpc>
                <a:spcPts val="1536"/>
              </a:lnSpc>
              <a:spcBef>
                <a:spcPts val="0"/>
              </a:spcBef>
              <a:spcAft>
                <a:spcPts val="0"/>
              </a:spcAft>
            </a:pPr>
            <a:r>
              <a:rPr sz="1200" b="0">
                <a:solidFill>
                  <a:srgbClr val="087F82"/>
                </a:solidFill>
                <a:latin typeface="Arial"/>
              </a:rPr>
              <a:t>relatesAssemblyFeature</a:t>
            </a:r>
          </a:p>
        </p:txBody>
      </p:sp>
      <p:cxnSp>
        <p:nvCxnSpPr>
          <p:cNvPr id="35" name="Connector 34"/>
          <p:cNvCxnSpPr/>
          <p:nvPr/>
        </p:nvCxnSpPr>
        <p:spPr>
          <a:xfrm>
            <a:off x="8732520" y="2112264"/>
            <a:ext cx="3191256" cy="0"/>
          </a:xfrm>
          <a:prstGeom prst="line">
            <a:avLst/>
          </a:prstGeom>
          <a:ln w="21590">
            <a:solidFill>
              <a:srgbClr val="087F82"/>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1923776" y="2112264"/>
            <a:ext cx="0" cy="3703320"/>
          </a:xfrm>
          <a:prstGeom prst="line">
            <a:avLst/>
          </a:prstGeom>
          <a:ln w="21590">
            <a:solidFill>
              <a:srgbClr val="087F82"/>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8732520" y="5815584"/>
            <a:ext cx="3191256" cy="0"/>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869680" y="1783080"/>
            <a:ext cx="2980944" cy="228600"/>
          </a:xfrm>
          <a:prstGeom prst="rect">
            <a:avLst/>
          </a:prstGeom>
          <a:noFill/>
        </p:spPr>
        <p:txBody>
          <a:bodyPr wrap="none" lIns="0" rIns="0" tIns="0" bIns="0">
            <a:spAutoFit/>
          </a:bodyPr>
          <a:lstStyle/>
          <a:p>
            <a:pPr algn="l">
              <a:lnSpc>
                <a:spcPts val="1408"/>
              </a:lnSpc>
              <a:spcBef>
                <a:spcPts val="0"/>
              </a:spcBef>
              <a:spcAft>
                <a:spcPts val="0"/>
              </a:spcAft>
            </a:pPr>
            <a:r>
              <a:rPr sz="1100" b="0">
                <a:solidFill>
                  <a:srgbClr val="087F82"/>
                </a:solidFill>
                <a:latin typeface="Arial"/>
              </a:rPr>
              <a:t>hasAssemblyFeatureAssociation</a:t>
            </a:r>
          </a:p>
        </p:txBody>
      </p:sp>
      <p:sp>
        <p:nvSpPr>
          <p:cNvPr id="39" name="TextBox 38"/>
          <p:cNvSpPr txBox="1"/>
          <p:nvPr/>
        </p:nvSpPr>
        <p:spPr>
          <a:xfrm>
            <a:off x="594360" y="6227064"/>
            <a:ext cx="10972800" cy="155448"/>
          </a:xfrm>
          <a:prstGeom prst="rect">
            <a:avLst/>
          </a:prstGeom>
          <a:noFill/>
        </p:spPr>
        <p:txBody>
          <a:bodyPr wrap="none" lIns="0" rIns="0" tIns="0" bIns="0">
            <a:spAutoFit/>
          </a:bodyPr>
          <a:lstStyle/>
          <a:p>
            <a:pPr algn="l">
              <a:lnSpc>
                <a:spcPts val="1280"/>
              </a:lnSpc>
              <a:spcBef>
                <a:spcPts val="0"/>
              </a:spcBef>
              <a:spcAft>
                <a:spcPts val="0"/>
              </a:spcAft>
            </a:pPr>
            <a:r>
              <a:rPr sz="1000" b="0">
                <a:solidFill>
                  <a:srgbClr val="52616A"/>
                </a:solidFill>
                <a:latin typeface="Arial"/>
              </a:rPr>
              <a:t>Names are proposal annotations; identifiers and edges match the saved ABox. Both endpoint nodes are typed AssemblyFeature.</a:t>
            </a:r>
          </a:p>
        </p:txBody>
      </p:sp>
      <p:sp>
        <p:nvSpPr>
          <p:cNvPr id="40" name="TextBox 39"/>
          <p:cNvSpPr txBox="1"/>
          <p:nvPr/>
        </p:nvSpPr>
        <p:spPr>
          <a:xfrm>
            <a:off x="10972800" y="6483096"/>
            <a:ext cx="667512"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ONTOLOGY  /  STATE SEMANTICS</a:t>
            </a:r>
          </a:p>
        </p:txBody>
      </p:sp>
      <p:sp>
        <p:nvSpPr>
          <p:cNvPr id="3" name="TextBox 2"/>
          <p:cNvSpPr txBox="1"/>
          <p:nvPr/>
        </p:nvSpPr>
        <p:spPr>
          <a:xfrm>
            <a:off x="548640" y="832104"/>
            <a:ext cx="11091672" cy="777240"/>
          </a:xfrm>
          <a:prstGeom prst="rect">
            <a:avLst/>
          </a:prstGeom>
          <a:noFill/>
        </p:spPr>
        <p:txBody>
          <a:bodyPr wrap="none" lIns="0" rIns="0" tIns="0" bIns="0">
            <a:spAutoFit/>
          </a:bodyPr>
          <a:lstStyle/>
          <a:p>
            <a:pPr algn="l">
              <a:lnSpc>
                <a:spcPts val="3711"/>
              </a:lnSpc>
              <a:spcBef>
                <a:spcPts val="0"/>
              </a:spcBef>
              <a:spcAft>
                <a:spcPts val="0"/>
              </a:spcAft>
            </a:pPr>
            <a:r>
              <a:rPr sz="2900" b="1">
                <a:solidFill>
                  <a:srgbClr val="182C3A"/>
                </a:solidFill>
                <a:latin typeface="Arial"/>
              </a:rPr>
              <a:t>Relationship state and observation bindings are distinct</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4128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Supplied OWL + current code + saved ABox • 09 Sep 2026 • Sources in notes</a:t>
            </a:r>
          </a:p>
        </p:txBody>
      </p:sp>
      <p:sp>
        <p:nvSpPr>
          <p:cNvPr id="6" name="Rectangle 5"/>
          <p:cNvSpPr/>
          <p:nvPr/>
        </p:nvSpPr>
        <p:spPr>
          <a:xfrm>
            <a:off x="548640" y="1819656"/>
            <a:ext cx="11091672" cy="941832"/>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6" y="1993392"/>
            <a:ext cx="10625328" cy="292608"/>
          </a:xfrm>
          <a:prstGeom prst="rect">
            <a:avLst/>
          </a:prstGeom>
          <a:noFill/>
        </p:spPr>
        <p:txBody>
          <a:bodyPr wrap="none" lIns="0" rIns="0" tIns="0" bIns="0">
            <a:spAutoFit/>
          </a:bodyPr>
          <a:lstStyle/>
          <a:p>
            <a:pPr algn="l">
              <a:lnSpc>
                <a:spcPts val="2688"/>
              </a:lnSpc>
              <a:spcBef>
                <a:spcPts val="0"/>
              </a:spcBef>
              <a:spcAft>
                <a:spcPts val="0"/>
              </a:spcAft>
            </a:pPr>
            <a:r>
              <a:rPr sz="2100" b="1">
                <a:solidFill>
                  <a:srgbClr val="087F82"/>
                </a:solidFill>
                <a:latin typeface="Arial"/>
              </a:rPr>
              <a:t>Relationship membership</a:t>
            </a:r>
          </a:p>
        </p:txBody>
      </p:sp>
      <p:sp>
        <p:nvSpPr>
          <p:cNvPr id="8" name="TextBox 7"/>
          <p:cNvSpPr txBox="1"/>
          <p:nvPr/>
        </p:nvSpPr>
        <p:spPr>
          <a:xfrm>
            <a:off x="768096" y="2395728"/>
            <a:ext cx="10625328" cy="237744"/>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assemblyfeatureassociation_0001  —hasdesiredstate→  desiredstate_0001</a:t>
            </a:r>
          </a:p>
        </p:txBody>
      </p:sp>
      <p:sp>
        <p:nvSpPr>
          <p:cNvPr id="9" name="Rectangle 8"/>
          <p:cNvSpPr/>
          <p:nvPr/>
        </p:nvSpPr>
        <p:spPr>
          <a:xfrm>
            <a:off x="548640" y="3154680"/>
            <a:ext cx="11091672" cy="457200"/>
          </a:xfrm>
          <a:prstGeom prst="rect">
            <a:avLst/>
          </a:prstGeom>
          <a:solidFill>
            <a:srgbClr val="18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3282696"/>
            <a:ext cx="3145536" cy="246888"/>
          </a:xfrm>
          <a:prstGeom prst="rect">
            <a:avLst/>
          </a:prstGeom>
          <a:noFill/>
        </p:spPr>
        <p:txBody>
          <a:bodyPr wrap="none" lIns="0" rIns="0" tIns="0" bIns="0">
            <a:spAutoFit/>
          </a:bodyPr>
          <a:lstStyle/>
          <a:p>
            <a:pPr algn="l">
              <a:lnSpc>
                <a:spcPts val="1920"/>
              </a:lnSpc>
              <a:spcBef>
                <a:spcPts val="0"/>
              </a:spcBef>
              <a:spcAft>
                <a:spcPts val="0"/>
              </a:spcAft>
            </a:pPr>
            <a:r>
              <a:rPr sz="1500" b="1">
                <a:solidFill>
                  <a:srgbClr val="FFFFFF"/>
                </a:solidFill>
                <a:latin typeface="Arial"/>
              </a:rPr>
              <a:t>Endpoint</a:t>
            </a:r>
          </a:p>
        </p:txBody>
      </p:sp>
      <p:sp>
        <p:nvSpPr>
          <p:cNvPr id="11" name="TextBox 10"/>
          <p:cNvSpPr txBox="1"/>
          <p:nvPr/>
        </p:nvSpPr>
        <p:spPr>
          <a:xfrm>
            <a:off x="4050791" y="3282696"/>
            <a:ext cx="2167128" cy="246888"/>
          </a:xfrm>
          <a:prstGeom prst="rect">
            <a:avLst/>
          </a:prstGeom>
          <a:noFill/>
        </p:spPr>
        <p:txBody>
          <a:bodyPr wrap="none" lIns="0" rIns="0" tIns="0" bIns="0">
            <a:spAutoFit/>
          </a:bodyPr>
          <a:lstStyle/>
          <a:p>
            <a:pPr algn="l">
              <a:lnSpc>
                <a:spcPts val="1920"/>
              </a:lnSpc>
              <a:spcBef>
                <a:spcPts val="0"/>
              </a:spcBef>
              <a:spcAft>
                <a:spcPts val="0"/>
              </a:spcAft>
            </a:pPr>
            <a:r>
              <a:rPr sz="1500" b="1">
                <a:solidFill>
                  <a:srgbClr val="FFFFFF"/>
                </a:solidFill>
                <a:latin typeface="Arial"/>
              </a:rPr>
              <a:t>state_name</a:t>
            </a:r>
          </a:p>
        </p:txBody>
      </p:sp>
      <p:sp>
        <p:nvSpPr>
          <p:cNvPr id="12" name="TextBox 11"/>
          <p:cNvSpPr txBox="1"/>
          <p:nvPr/>
        </p:nvSpPr>
        <p:spPr>
          <a:xfrm>
            <a:off x="6455664" y="3282696"/>
            <a:ext cx="5065776" cy="246888"/>
          </a:xfrm>
          <a:prstGeom prst="rect">
            <a:avLst/>
          </a:prstGeom>
          <a:noFill/>
        </p:spPr>
        <p:txBody>
          <a:bodyPr wrap="none" lIns="0" rIns="0" tIns="0" bIns="0">
            <a:spAutoFit/>
          </a:bodyPr>
          <a:lstStyle/>
          <a:p>
            <a:pPr algn="l">
              <a:lnSpc>
                <a:spcPts val="1920"/>
              </a:lnSpc>
              <a:spcBef>
                <a:spcPts val="0"/>
              </a:spcBef>
              <a:spcAft>
                <a:spcPts val="0"/>
              </a:spcAft>
            </a:pPr>
            <a:r>
              <a:rPr sz="1500" b="1">
                <a:solidFill>
                  <a:srgbClr val="FFFFFF"/>
                </a:solidFill>
                <a:latin typeface="Arial"/>
              </a:rPr>
              <a:t>state_value_name</a:t>
            </a:r>
          </a:p>
        </p:txBody>
      </p:sp>
      <p:sp>
        <p:nvSpPr>
          <p:cNvPr id="13" name="Rectangle 12"/>
          <p:cNvSpPr/>
          <p:nvPr/>
        </p:nvSpPr>
        <p:spPr>
          <a:xfrm>
            <a:off x="548640" y="3630168"/>
            <a:ext cx="11091672" cy="76809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3776472"/>
            <a:ext cx="3145536" cy="603503"/>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medium gear central bore</a:t>
            </a:r>
          </a:p>
        </p:txBody>
      </p:sp>
      <p:sp>
        <p:nvSpPr>
          <p:cNvPr id="15" name="TextBox 14"/>
          <p:cNvSpPr txBox="1"/>
          <p:nvPr/>
        </p:nvSpPr>
        <p:spPr>
          <a:xfrm>
            <a:off x="4050791" y="3776472"/>
            <a:ext cx="2167128" cy="603503"/>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current_state</a:t>
            </a:r>
          </a:p>
        </p:txBody>
      </p:sp>
      <p:sp>
        <p:nvSpPr>
          <p:cNvPr id="16" name="TextBox 15"/>
          <p:cNvSpPr txBox="1"/>
          <p:nvPr/>
        </p:nvSpPr>
        <p:spPr>
          <a:xfrm>
            <a:off x="6455664" y="3776472"/>
            <a:ext cx="5065776" cy="603503"/>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medium gear current location</a:t>
            </a:r>
          </a:p>
        </p:txBody>
      </p:sp>
      <p:sp>
        <p:nvSpPr>
          <p:cNvPr id="17" name="Rectangle 16"/>
          <p:cNvSpPr/>
          <p:nvPr/>
        </p:nvSpPr>
        <p:spPr>
          <a:xfrm>
            <a:off x="548640" y="4416552"/>
            <a:ext cx="11091672" cy="7680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4562856"/>
            <a:ext cx="3145536" cy="603503"/>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middle gear shaft</a:t>
            </a:r>
          </a:p>
          <a:p>
            <a:pPr algn="l">
              <a:lnSpc>
                <a:spcPts val="2176"/>
              </a:lnSpc>
              <a:spcBef>
                <a:spcPts val="0"/>
              </a:spcBef>
              <a:spcAft>
                <a:spcPts val="0"/>
              </a:spcAft>
            </a:pPr>
            <a:r>
              <a:rPr sz="1700" b="0">
                <a:solidFill>
                  <a:srgbClr val="182C3A"/>
                </a:solidFill>
                <a:latin typeface="Arial"/>
              </a:rPr>
              <a:t>mounting surface</a:t>
            </a:r>
          </a:p>
        </p:txBody>
      </p:sp>
      <p:sp>
        <p:nvSpPr>
          <p:cNvPr id="19" name="TextBox 18"/>
          <p:cNvSpPr txBox="1"/>
          <p:nvPr/>
        </p:nvSpPr>
        <p:spPr>
          <a:xfrm>
            <a:off x="4050791" y="4562856"/>
            <a:ext cx="2167128" cy="603503"/>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desired_state</a:t>
            </a:r>
          </a:p>
        </p:txBody>
      </p:sp>
      <p:sp>
        <p:nvSpPr>
          <p:cNvPr id="20" name="TextBox 19"/>
          <p:cNvSpPr txBox="1"/>
          <p:nvPr/>
        </p:nvSpPr>
        <p:spPr>
          <a:xfrm>
            <a:off x="6455664" y="4562856"/>
            <a:ext cx="5065776" cy="603503"/>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observed middle gear shaft</a:t>
            </a:r>
          </a:p>
          <a:p>
            <a:pPr algn="l">
              <a:lnSpc>
                <a:spcPts val="2176"/>
              </a:lnSpc>
              <a:spcBef>
                <a:spcPts val="0"/>
              </a:spcBef>
              <a:spcAft>
                <a:spcPts val="0"/>
              </a:spcAft>
            </a:pPr>
            <a:r>
              <a:rPr sz="1700" b="0">
                <a:solidFill>
                  <a:srgbClr val="182C3A"/>
                </a:solidFill>
                <a:latin typeface="Arial"/>
              </a:rPr>
              <a:t>destination reference</a:t>
            </a:r>
          </a:p>
        </p:txBody>
      </p:sp>
      <p:sp>
        <p:nvSpPr>
          <p:cNvPr id="21" name="Rectangle 20"/>
          <p:cNvSpPr/>
          <p:nvPr/>
        </p:nvSpPr>
        <p:spPr>
          <a:xfrm>
            <a:off x="548640" y="5632704"/>
            <a:ext cx="11091672" cy="49377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5760720"/>
            <a:ext cx="10707624" cy="283464"/>
          </a:xfrm>
          <a:prstGeom prst="rect">
            <a:avLst/>
          </a:prstGeom>
          <a:noFill/>
        </p:spPr>
        <p:txBody>
          <a:bodyPr wrap="none" lIns="0" rIns="0" tIns="0" bIns="0">
            <a:spAutoFit/>
          </a:bodyPr>
          <a:lstStyle/>
          <a:p>
            <a:pPr algn="l">
              <a:lnSpc>
                <a:spcPts val="2560"/>
              </a:lnSpc>
              <a:spcBef>
                <a:spcPts val="0"/>
              </a:spcBef>
              <a:spcAft>
                <a:spcPts val="0"/>
              </a:spcAft>
            </a:pPr>
            <a:r>
              <a:rPr sz="2000" b="1">
                <a:solidFill>
                  <a:srgbClr val="087F82"/>
                </a:solidFill>
                <a:latin typeface="Arial"/>
              </a:rPr>
              <a:t>A desired relationship can be anchored by observations of the objects now.</a:t>
            </a:r>
          </a:p>
        </p:txBody>
      </p:sp>
      <p:sp>
        <p:nvSpPr>
          <p:cNvPr id="23" name="TextBox 22"/>
          <p:cNvSpPr txBox="1"/>
          <p:nvPr/>
        </p:nvSpPr>
        <p:spPr>
          <a:xfrm>
            <a:off x="585216" y="6217920"/>
            <a:ext cx="10972800" cy="155448"/>
          </a:xfrm>
          <a:prstGeom prst="rect">
            <a:avLst/>
          </a:prstGeom>
          <a:noFill/>
        </p:spPr>
        <p:txBody>
          <a:bodyPr wrap="none" lIns="0" rIns="0" tIns="0" bIns="0">
            <a:spAutoFit/>
          </a:bodyPr>
          <a:lstStyle/>
          <a:p>
            <a:pPr algn="l">
              <a:lnSpc>
                <a:spcPts val="1280"/>
              </a:lnSpc>
              <a:spcBef>
                <a:spcPts val="0"/>
              </a:spcBef>
              <a:spcAft>
                <a:spcPts val="0"/>
              </a:spcAft>
            </a:pPr>
            <a:r>
              <a:rPr sz="1000" b="0">
                <a:solidFill>
                  <a:srgbClr val="52616A"/>
                </a:solidFill>
                <a:latin typeface="Arial"/>
              </a:rPr>
              <a:t>state_names belongs to the association proposal; state_name / state_value_name bind its endpoints to typed evidence.</a:t>
            </a:r>
          </a:p>
        </p:txBody>
      </p:sp>
      <p:sp>
        <p:nvSpPr>
          <p:cNvPr id="24" name="TextBox 23"/>
          <p:cNvSpPr txBox="1"/>
          <p:nvPr/>
        </p:nvSpPr>
        <p:spPr>
          <a:xfrm>
            <a:off x="10972800" y="6483096"/>
            <a:ext cx="667512"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ONTOLOGY  /  DEFENSIBLE CONTRIBUTION</a:t>
            </a:r>
          </a:p>
        </p:txBody>
      </p:sp>
      <p:sp>
        <p:nvSpPr>
          <p:cNvPr id="3" name="TextBox 2"/>
          <p:cNvSpPr txBox="1"/>
          <p:nvPr/>
        </p:nvSpPr>
        <p:spPr>
          <a:xfrm>
            <a:off x="548640" y="832104"/>
            <a:ext cx="11091672" cy="777240"/>
          </a:xfrm>
          <a:prstGeom prst="rect">
            <a:avLst/>
          </a:prstGeom>
          <a:noFill/>
        </p:spPr>
        <p:txBody>
          <a:bodyPr wrap="none" lIns="0" rIns="0" tIns="0" bIns="0">
            <a:spAutoFit/>
          </a:bodyPr>
          <a:lstStyle/>
          <a:p>
            <a:pPr algn="l">
              <a:lnSpc>
                <a:spcPts val="3711"/>
              </a:lnSpc>
              <a:spcBef>
                <a:spcPts val="0"/>
              </a:spcBef>
              <a:spcAft>
                <a:spcPts val="0"/>
              </a:spcAft>
            </a:pPr>
            <a:r>
              <a:rPr sz="2900" b="1">
                <a:solidFill>
                  <a:srgbClr val="182C3A"/>
                </a:solidFill>
                <a:latin typeface="Arial"/>
              </a:rPr>
              <a:t>Justify ontology through the contracts it supports</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4128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Supplied OWL + current code + saved ABox • 09 Sep 2026 • Sources in notes</a:t>
            </a:r>
          </a:p>
        </p:txBody>
      </p:sp>
      <p:sp>
        <p:nvSpPr>
          <p:cNvPr id="6" name="Rectangle 5"/>
          <p:cNvSpPr/>
          <p:nvPr/>
        </p:nvSpPr>
        <p:spPr>
          <a:xfrm>
            <a:off x="548640" y="1856231"/>
            <a:ext cx="11091672" cy="457200"/>
          </a:xfrm>
          <a:prstGeom prst="rect">
            <a:avLst/>
          </a:prstGeom>
          <a:solidFill>
            <a:srgbClr val="18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984248"/>
            <a:ext cx="2660904" cy="246888"/>
          </a:xfrm>
          <a:prstGeom prst="rect">
            <a:avLst/>
          </a:prstGeom>
          <a:noFill/>
        </p:spPr>
        <p:txBody>
          <a:bodyPr wrap="none" lIns="0" rIns="0" tIns="0" bIns="0">
            <a:spAutoFit/>
          </a:bodyPr>
          <a:lstStyle/>
          <a:p>
            <a:pPr algn="l">
              <a:lnSpc>
                <a:spcPts val="1920"/>
              </a:lnSpc>
              <a:spcBef>
                <a:spcPts val="0"/>
              </a:spcBef>
              <a:spcAft>
                <a:spcPts val="0"/>
              </a:spcAft>
            </a:pPr>
            <a:r>
              <a:rPr sz="1500" b="1">
                <a:solidFill>
                  <a:srgbClr val="FFFFFF"/>
                </a:solidFill>
                <a:latin typeface="Arial"/>
              </a:rPr>
              <a:t>Contract</a:t>
            </a:r>
          </a:p>
        </p:txBody>
      </p:sp>
      <p:sp>
        <p:nvSpPr>
          <p:cNvPr id="8" name="TextBox 7"/>
          <p:cNvSpPr txBox="1"/>
          <p:nvPr/>
        </p:nvSpPr>
        <p:spPr>
          <a:xfrm>
            <a:off x="3566160" y="1984248"/>
            <a:ext cx="4105656" cy="246888"/>
          </a:xfrm>
          <a:prstGeom prst="rect">
            <a:avLst/>
          </a:prstGeom>
          <a:noFill/>
        </p:spPr>
        <p:txBody>
          <a:bodyPr wrap="none" lIns="0" rIns="0" tIns="0" bIns="0">
            <a:spAutoFit/>
          </a:bodyPr>
          <a:lstStyle/>
          <a:p>
            <a:pPr algn="l">
              <a:lnSpc>
                <a:spcPts val="1920"/>
              </a:lnSpc>
              <a:spcBef>
                <a:spcPts val="0"/>
              </a:spcBef>
              <a:spcAft>
                <a:spcPts val="0"/>
              </a:spcAft>
            </a:pPr>
            <a:r>
              <a:rPr sz="1500" b="1">
                <a:solidFill>
                  <a:srgbClr val="FFFFFF"/>
                </a:solidFill>
                <a:latin typeface="Arial"/>
              </a:rPr>
              <a:t>Explicit representation</a:t>
            </a:r>
          </a:p>
        </p:txBody>
      </p:sp>
      <p:sp>
        <p:nvSpPr>
          <p:cNvPr id="9" name="TextBox 8"/>
          <p:cNvSpPr txBox="1"/>
          <p:nvPr/>
        </p:nvSpPr>
        <p:spPr>
          <a:xfrm>
            <a:off x="7909560" y="1984248"/>
            <a:ext cx="3611880" cy="246888"/>
          </a:xfrm>
          <a:prstGeom prst="rect">
            <a:avLst/>
          </a:prstGeom>
          <a:noFill/>
        </p:spPr>
        <p:txBody>
          <a:bodyPr wrap="none" lIns="0" rIns="0" tIns="0" bIns="0">
            <a:spAutoFit/>
          </a:bodyPr>
          <a:lstStyle/>
          <a:p>
            <a:pPr algn="l">
              <a:lnSpc>
                <a:spcPts val="1920"/>
              </a:lnSpc>
              <a:spcBef>
                <a:spcPts val="0"/>
              </a:spcBef>
              <a:spcAft>
                <a:spcPts val="0"/>
              </a:spcAft>
            </a:pPr>
            <a:r>
              <a:rPr sz="1500" b="1">
                <a:solidFill>
                  <a:srgbClr val="FFFFFF"/>
                </a:solidFill>
                <a:latin typeface="Arial"/>
              </a:rPr>
              <a:t>Current consumer</a:t>
            </a:r>
          </a:p>
        </p:txBody>
      </p:sp>
      <p:sp>
        <p:nvSpPr>
          <p:cNvPr id="10" name="Rectangle 9"/>
          <p:cNvSpPr/>
          <p:nvPr/>
        </p:nvSpPr>
        <p:spPr>
          <a:xfrm>
            <a:off x="548640" y="2331720"/>
            <a:ext cx="11091672" cy="67665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78024"/>
            <a:ext cx="2660904" cy="512064"/>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Requirement → task</a:t>
            </a:r>
          </a:p>
        </p:txBody>
      </p:sp>
      <p:sp>
        <p:nvSpPr>
          <p:cNvPr id="12" name="TextBox 11"/>
          <p:cNvSpPr txBox="1"/>
          <p:nvPr/>
        </p:nvSpPr>
        <p:spPr>
          <a:xfrm>
            <a:off x="3566160" y="2478024"/>
            <a:ext cx="4105656" cy="512064"/>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defines + realizes</a:t>
            </a:r>
          </a:p>
        </p:txBody>
      </p:sp>
      <p:sp>
        <p:nvSpPr>
          <p:cNvPr id="13" name="TextBox 12"/>
          <p:cNvSpPr txBox="1"/>
          <p:nvPr/>
        </p:nvSpPr>
        <p:spPr>
          <a:xfrm>
            <a:off x="7909560" y="2478024"/>
            <a:ext cx="3611880" cy="512064"/>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PA validation / RA handoff</a:t>
            </a:r>
          </a:p>
        </p:txBody>
      </p:sp>
      <p:sp>
        <p:nvSpPr>
          <p:cNvPr id="14" name="Rectangle 13"/>
          <p:cNvSpPr/>
          <p:nvPr/>
        </p:nvSpPr>
        <p:spPr>
          <a:xfrm>
            <a:off x="548640" y="3026663"/>
            <a:ext cx="11091672" cy="6766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3172968"/>
            <a:ext cx="2660904" cy="512064"/>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Assembly structure</a:t>
            </a:r>
          </a:p>
        </p:txBody>
      </p:sp>
      <p:sp>
        <p:nvSpPr>
          <p:cNvPr id="16" name="TextBox 15"/>
          <p:cNvSpPr txBox="1"/>
          <p:nvPr/>
        </p:nvSpPr>
        <p:spPr>
          <a:xfrm>
            <a:off x="3566160" y="3172968"/>
            <a:ext cx="4105656" cy="512064"/>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Ownership + pairwise relations</a:t>
            </a:r>
          </a:p>
        </p:txBody>
      </p:sp>
      <p:sp>
        <p:nvSpPr>
          <p:cNvPr id="17" name="TextBox 16"/>
          <p:cNvSpPr txBox="1"/>
          <p:nvPr/>
        </p:nvSpPr>
        <p:spPr>
          <a:xfrm>
            <a:off x="7909560" y="3172968"/>
            <a:ext cx="3611880" cy="512064"/>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PA compiler / product context</a:t>
            </a:r>
          </a:p>
        </p:txBody>
      </p:sp>
      <p:sp>
        <p:nvSpPr>
          <p:cNvPr id="18" name="Rectangle 17"/>
          <p:cNvSpPr/>
          <p:nvPr/>
        </p:nvSpPr>
        <p:spPr>
          <a:xfrm>
            <a:off x="548640" y="3721608"/>
            <a:ext cx="11091672" cy="67665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867912"/>
            <a:ext cx="2660904" cy="512064"/>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Resource assignment</a:t>
            </a:r>
          </a:p>
        </p:txBody>
      </p:sp>
      <p:sp>
        <p:nvSpPr>
          <p:cNvPr id="20" name="TextBox 19"/>
          <p:cNvSpPr txBox="1"/>
          <p:nvPr/>
        </p:nvSpPr>
        <p:spPr>
          <a:xfrm>
            <a:off x="3566160" y="3867912"/>
            <a:ext cx="4105656" cy="512064"/>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capableOf + processExecution</a:t>
            </a:r>
          </a:p>
        </p:txBody>
      </p:sp>
      <p:sp>
        <p:nvSpPr>
          <p:cNvPr id="21" name="TextBox 20"/>
          <p:cNvSpPr txBox="1"/>
          <p:nvPr/>
        </p:nvSpPr>
        <p:spPr>
          <a:xfrm>
            <a:off x="7909560" y="3867912"/>
            <a:ext cx="3611880" cy="512064"/>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Allocation / selected-RA guard</a:t>
            </a:r>
          </a:p>
        </p:txBody>
      </p:sp>
      <p:sp>
        <p:nvSpPr>
          <p:cNvPr id="22" name="Rectangle 21"/>
          <p:cNvSpPr/>
          <p:nvPr/>
        </p:nvSpPr>
        <p:spPr>
          <a:xfrm>
            <a:off x="548640" y="4416552"/>
            <a:ext cx="11091672" cy="6766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4562856"/>
            <a:ext cx="2660904" cy="512064"/>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Evidence accountability</a:t>
            </a:r>
          </a:p>
        </p:txBody>
      </p:sp>
      <p:sp>
        <p:nvSpPr>
          <p:cNvPr id="24" name="TextBox 23"/>
          <p:cNvSpPr txBox="1"/>
          <p:nvPr/>
        </p:nvSpPr>
        <p:spPr>
          <a:xfrm>
            <a:off x="3566160" y="4562856"/>
            <a:ext cx="4105656" cy="512064"/>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Graph + pinned records</a:t>
            </a:r>
          </a:p>
        </p:txBody>
      </p:sp>
      <p:sp>
        <p:nvSpPr>
          <p:cNvPr id="25" name="TextBox 24"/>
          <p:cNvSpPr txBox="1"/>
          <p:nvPr/>
        </p:nvSpPr>
        <p:spPr>
          <a:xfrm>
            <a:off x="7909560" y="4562856"/>
            <a:ext cx="3611880" cy="512064"/>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182C3A"/>
                </a:solidFill>
                <a:latin typeface="Arial"/>
              </a:rPr>
              <a:t>Completion / recovery</a:t>
            </a:r>
          </a:p>
        </p:txBody>
      </p:sp>
      <p:sp>
        <p:nvSpPr>
          <p:cNvPr id="26" name="Rectangle 25"/>
          <p:cNvSpPr/>
          <p:nvPr/>
        </p:nvSpPr>
        <p:spPr>
          <a:xfrm>
            <a:off x="548640" y="5477256"/>
            <a:ext cx="11091672" cy="49377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0664" y="5605272"/>
            <a:ext cx="10707624" cy="283464"/>
          </a:xfrm>
          <a:prstGeom prst="rect">
            <a:avLst/>
          </a:prstGeom>
          <a:noFill/>
        </p:spPr>
        <p:txBody>
          <a:bodyPr wrap="none" lIns="0" rIns="0" tIns="0" bIns="0">
            <a:spAutoFit/>
          </a:bodyPr>
          <a:lstStyle/>
          <a:p>
            <a:pPr algn="l">
              <a:lnSpc>
                <a:spcPts val="2432"/>
              </a:lnSpc>
              <a:spcBef>
                <a:spcPts val="0"/>
              </a:spcBef>
              <a:spcAft>
                <a:spcPts val="0"/>
              </a:spcAft>
            </a:pPr>
            <a:r>
              <a:rPr sz="1900" b="1">
                <a:solidFill>
                  <a:srgbClr val="087F82"/>
                </a:solidFill>
                <a:latin typeface="Arial"/>
              </a:rPr>
              <a:t>Architectural role: implemented. Advantage over equivalent typed JSON: unmeasured.</a:t>
            </a:r>
          </a:p>
        </p:txBody>
      </p:sp>
      <p:sp>
        <p:nvSpPr>
          <p:cNvPr id="28" name="TextBox 27"/>
          <p:cNvSpPr txBox="1"/>
          <p:nvPr/>
        </p:nvSpPr>
        <p:spPr>
          <a:xfrm>
            <a:off x="585216" y="6153912"/>
            <a:ext cx="10972800" cy="201168"/>
          </a:xfrm>
          <a:prstGeom prst="rect">
            <a:avLst/>
          </a:prstGeom>
          <a:noFill/>
        </p:spPr>
        <p:txBody>
          <a:bodyPr wrap="none" lIns="0" rIns="0" tIns="0" bIns="0">
            <a:spAutoFit/>
          </a:bodyPr>
          <a:lstStyle/>
          <a:p>
            <a:pPr algn="l">
              <a:lnSpc>
                <a:spcPts val="1664"/>
              </a:lnSpc>
              <a:spcBef>
                <a:spcPts val="0"/>
              </a:spcBef>
              <a:spcAft>
                <a:spcPts val="0"/>
              </a:spcAft>
            </a:pPr>
            <a:r>
              <a:rPr sz="1300" b="0">
                <a:solidFill>
                  <a:srgbClr val="52616A"/>
                </a:solidFill>
                <a:latin typeface="Arial"/>
              </a:rPr>
              <a:t>The ontology describes task structure. PA interprets evidence; MoveIt checks positions; later stages compose and execute.</a:t>
            </a:r>
          </a:p>
        </p:txBody>
      </p:sp>
      <p:sp>
        <p:nvSpPr>
          <p:cNvPr id="29" name="TextBox 28"/>
          <p:cNvSpPr txBox="1"/>
          <p:nvPr/>
        </p:nvSpPr>
        <p:spPr>
          <a:xfrm>
            <a:off x="10972800" y="6483096"/>
            <a:ext cx="667512"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09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ONTOLOGY  /  BACKUP A / ASSIGNMENT</a:t>
            </a:r>
          </a:p>
        </p:txBody>
      </p:sp>
      <p:sp>
        <p:nvSpPr>
          <p:cNvPr id="3" name="TextBox 2"/>
          <p:cNvSpPr txBox="1"/>
          <p:nvPr/>
        </p:nvSpPr>
        <p:spPr>
          <a:xfrm>
            <a:off x="548640" y="832104"/>
            <a:ext cx="11091672" cy="777240"/>
          </a:xfrm>
          <a:prstGeom prst="rect">
            <a:avLst/>
          </a:prstGeom>
          <a:noFill/>
        </p:spPr>
        <p:txBody>
          <a:bodyPr wrap="none" lIns="0" rIns="0" tIns="0" bIns="0">
            <a:spAutoFit/>
          </a:bodyPr>
          <a:lstStyle/>
          <a:p>
            <a:pPr algn="l">
              <a:lnSpc>
                <a:spcPts val="3711"/>
              </a:lnSpc>
              <a:spcBef>
                <a:spcPts val="0"/>
              </a:spcBef>
              <a:spcAft>
                <a:spcPts val="0"/>
              </a:spcAft>
            </a:pPr>
            <a:r>
              <a:rPr sz="2900" b="1">
                <a:solidFill>
                  <a:srgbClr val="182C3A"/>
                </a:solidFill>
                <a:latin typeface="Arial"/>
              </a:rPr>
              <a:t>processExecution records the selected assignment</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4128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Supplied OWL + current code + saved ABox • 09 Sep 2026 • Sources in notes</a:t>
            </a:r>
          </a:p>
        </p:txBody>
      </p:sp>
      <p:sp>
        <p:nvSpPr>
          <p:cNvPr id="6" name="Rectangle 5"/>
          <p:cNvSpPr/>
          <p:nvPr/>
        </p:nvSpPr>
        <p:spPr>
          <a:xfrm>
            <a:off x="548640" y="1874519"/>
            <a:ext cx="3346704"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039112"/>
            <a:ext cx="3017520" cy="411480"/>
          </a:xfrm>
          <a:prstGeom prst="rect">
            <a:avLst/>
          </a:prstGeom>
          <a:noFill/>
        </p:spPr>
        <p:txBody>
          <a:bodyPr wrap="none" lIns="0" rIns="0" tIns="0" bIns="0">
            <a:spAutoFit/>
          </a:bodyPr>
          <a:lstStyle/>
          <a:p>
            <a:pPr algn="ctr">
              <a:lnSpc>
                <a:spcPts val="2560"/>
              </a:lnSpc>
              <a:spcBef>
                <a:spcPts val="0"/>
              </a:spcBef>
              <a:spcAft>
                <a:spcPts val="0"/>
              </a:spcAft>
            </a:pPr>
            <a:r>
              <a:rPr sz="2000" b="1">
                <a:solidFill>
                  <a:srgbClr val="182C3A"/>
                </a:solidFill>
                <a:latin typeface="Arial"/>
              </a:rPr>
              <a:t>specification_1</a:t>
            </a:r>
          </a:p>
        </p:txBody>
      </p:sp>
      <p:sp>
        <p:nvSpPr>
          <p:cNvPr id="8" name="TextBox 7"/>
          <p:cNvSpPr txBox="1"/>
          <p:nvPr/>
        </p:nvSpPr>
        <p:spPr>
          <a:xfrm>
            <a:off x="713232" y="2459736"/>
            <a:ext cx="3017520" cy="329184"/>
          </a:xfrm>
          <a:prstGeom prst="rect">
            <a:avLst/>
          </a:prstGeom>
          <a:noFill/>
        </p:spPr>
        <p:txBody>
          <a:bodyPr wrap="none" lIns="0" rIns="0" tIns="0" bIns="0">
            <a:spAutoFit/>
          </a:bodyPr>
          <a:lstStyle/>
          <a:p>
            <a:pPr algn="ctr">
              <a:lnSpc>
                <a:spcPts val="2176"/>
              </a:lnSpc>
              <a:spcBef>
                <a:spcPts val="0"/>
              </a:spcBef>
              <a:spcAft>
                <a:spcPts val="0"/>
              </a:spcAft>
            </a:pPr>
            <a:r>
              <a:rPr sz="1700" b="0">
                <a:solidFill>
                  <a:srgbClr val="52616A"/>
                </a:solidFill>
                <a:latin typeface="Arial"/>
              </a:rPr>
              <a:t>specification</a:t>
            </a:r>
          </a:p>
        </p:txBody>
      </p:sp>
      <p:sp>
        <p:nvSpPr>
          <p:cNvPr id="9" name="Rectangle 8"/>
          <p:cNvSpPr/>
          <p:nvPr/>
        </p:nvSpPr>
        <p:spPr>
          <a:xfrm>
            <a:off x="4005072" y="3145536"/>
            <a:ext cx="4178808" cy="1033271"/>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169663" y="3310128"/>
            <a:ext cx="3849624" cy="411480"/>
          </a:xfrm>
          <a:prstGeom prst="rect">
            <a:avLst/>
          </a:prstGeom>
          <a:noFill/>
        </p:spPr>
        <p:txBody>
          <a:bodyPr wrap="none" lIns="0" rIns="0" tIns="0" bIns="0">
            <a:spAutoFit/>
          </a:bodyPr>
          <a:lstStyle/>
          <a:p>
            <a:pPr algn="ctr">
              <a:lnSpc>
                <a:spcPts val="2432"/>
              </a:lnSpc>
              <a:spcBef>
                <a:spcPts val="0"/>
              </a:spcBef>
              <a:spcAft>
                <a:spcPts val="0"/>
              </a:spcAft>
            </a:pPr>
            <a:r>
              <a:rPr sz="1900" b="1">
                <a:solidFill>
                  <a:srgbClr val="087F82"/>
                </a:solidFill>
                <a:latin typeface="Arial"/>
              </a:rPr>
              <a:t>process_execution_0001</a:t>
            </a:r>
          </a:p>
        </p:txBody>
      </p:sp>
      <p:sp>
        <p:nvSpPr>
          <p:cNvPr id="11" name="TextBox 10"/>
          <p:cNvSpPr txBox="1"/>
          <p:nvPr/>
        </p:nvSpPr>
        <p:spPr>
          <a:xfrm>
            <a:off x="4169663" y="3730752"/>
            <a:ext cx="3849624" cy="448055"/>
          </a:xfrm>
          <a:prstGeom prst="rect">
            <a:avLst/>
          </a:prstGeom>
          <a:noFill/>
        </p:spPr>
        <p:txBody>
          <a:bodyPr wrap="none" lIns="0" rIns="0" tIns="0" bIns="0">
            <a:spAutoFit/>
          </a:bodyPr>
          <a:lstStyle/>
          <a:p>
            <a:pPr algn="ctr">
              <a:lnSpc>
                <a:spcPts val="2304"/>
              </a:lnSpc>
              <a:spcBef>
                <a:spcPts val="0"/>
              </a:spcBef>
              <a:spcAft>
                <a:spcPts val="0"/>
              </a:spcAft>
            </a:pPr>
            <a:r>
              <a:rPr sz="1800" b="0">
                <a:solidFill>
                  <a:srgbClr val="52616A"/>
                </a:solidFill>
                <a:latin typeface="Arial"/>
              </a:rPr>
              <a:t>processExecution</a:t>
            </a:r>
          </a:p>
        </p:txBody>
      </p:sp>
      <p:sp>
        <p:nvSpPr>
          <p:cNvPr id="12" name="Rectangle 11"/>
          <p:cNvSpPr/>
          <p:nvPr/>
        </p:nvSpPr>
        <p:spPr>
          <a:xfrm>
            <a:off x="8769096" y="1874519"/>
            <a:ext cx="2871216"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33688" y="2039112"/>
            <a:ext cx="2542032" cy="411480"/>
          </a:xfrm>
          <a:prstGeom prst="rect">
            <a:avLst/>
          </a:prstGeom>
          <a:noFill/>
        </p:spPr>
        <p:txBody>
          <a:bodyPr wrap="none" lIns="0" rIns="0" tIns="0" bIns="0">
            <a:spAutoFit/>
          </a:bodyPr>
          <a:lstStyle/>
          <a:p>
            <a:pPr algn="ctr">
              <a:lnSpc>
                <a:spcPts val="2304"/>
              </a:lnSpc>
              <a:spcBef>
                <a:spcPts val="0"/>
              </a:spcBef>
              <a:spcAft>
                <a:spcPts val="0"/>
              </a:spcAft>
            </a:pPr>
            <a:r>
              <a:rPr sz="1800" b="1">
                <a:solidFill>
                  <a:srgbClr val="182C3A"/>
                </a:solidFill>
                <a:latin typeface="Arial"/>
              </a:rPr>
              <a:t>process:assembly</a:t>
            </a:r>
          </a:p>
        </p:txBody>
      </p:sp>
      <p:sp>
        <p:nvSpPr>
          <p:cNvPr id="14" name="TextBox 13"/>
          <p:cNvSpPr txBox="1"/>
          <p:nvPr/>
        </p:nvSpPr>
        <p:spPr>
          <a:xfrm>
            <a:off x="8933688" y="2459736"/>
            <a:ext cx="2542032" cy="329184"/>
          </a:xfrm>
          <a:prstGeom prst="rect">
            <a:avLst/>
          </a:prstGeom>
          <a:noFill/>
        </p:spPr>
        <p:txBody>
          <a:bodyPr wrap="none" lIns="0" rIns="0" tIns="0" bIns="0">
            <a:spAutoFit/>
          </a:bodyPr>
          <a:lstStyle/>
          <a:p>
            <a:pPr algn="ctr">
              <a:lnSpc>
                <a:spcPts val="2176"/>
              </a:lnSpc>
              <a:spcBef>
                <a:spcPts val="0"/>
              </a:spcBef>
              <a:spcAft>
                <a:spcPts val="0"/>
              </a:spcAft>
            </a:pPr>
            <a:r>
              <a:rPr sz="1700" b="0">
                <a:solidFill>
                  <a:srgbClr val="52616A"/>
                </a:solidFill>
                <a:latin typeface="Arial"/>
              </a:rPr>
              <a:t>process</a:t>
            </a:r>
          </a:p>
        </p:txBody>
      </p:sp>
      <p:sp>
        <p:nvSpPr>
          <p:cNvPr id="15" name="Rectangle 14"/>
          <p:cNvSpPr/>
          <p:nvPr/>
        </p:nvSpPr>
        <p:spPr>
          <a:xfrm>
            <a:off x="8769096" y="4608576"/>
            <a:ext cx="2871216"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33688" y="4773168"/>
            <a:ext cx="2542032" cy="411480"/>
          </a:xfrm>
          <a:prstGeom prst="rect">
            <a:avLst/>
          </a:prstGeom>
          <a:noFill/>
        </p:spPr>
        <p:txBody>
          <a:bodyPr wrap="none" lIns="0" rIns="0" tIns="0" bIns="0">
            <a:spAutoFit/>
          </a:bodyPr>
          <a:lstStyle/>
          <a:p>
            <a:pPr algn="ctr">
              <a:lnSpc>
                <a:spcPts val="2304"/>
              </a:lnSpc>
              <a:spcBef>
                <a:spcPts val="0"/>
              </a:spcBef>
              <a:spcAft>
                <a:spcPts val="0"/>
              </a:spcAft>
            </a:pPr>
            <a:r>
              <a:rPr sz="1800" b="1">
                <a:solidFill>
                  <a:srgbClr val="182C3A"/>
                </a:solidFill>
                <a:latin typeface="Arial"/>
              </a:rPr>
              <a:t>resource:xarm6</a:t>
            </a:r>
          </a:p>
        </p:txBody>
      </p:sp>
      <p:sp>
        <p:nvSpPr>
          <p:cNvPr id="17" name="TextBox 16"/>
          <p:cNvSpPr txBox="1"/>
          <p:nvPr/>
        </p:nvSpPr>
        <p:spPr>
          <a:xfrm>
            <a:off x="8933688" y="5193792"/>
            <a:ext cx="2542032" cy="329184"/>
          </a:xfrm>
          <a:prstGeom prst="rect">
            <a:avLst/>
          </a:prstGeom>
          <a:noFill/>
        </p:spPr>
        <p:txBody>
          <a:bodyPr wrap="none" lIns="0" rIns="0" tIns="0" bIns="0">
            <a:spAutoFit/>
          </a:bodyPr>
          <a:lstStyle/>
          <a:p>
            <a:pPr algn="ctr">
              <a:lnSpc>
                <a:spcPts val="2176"/>
              </a:lnSpc>
              <a:spcBef>
                <a:spcPts val="0"/>
              </a:spcBef>
              <a:spcAft>
                <a:spcPts val="0"/>
              </a:spcAft>
            </a:pPr>
            <a:r>
              <a:rPr sz="1700" b="0">
                <a:solidFill>
                  <a:srgbClr val="52616A"/>
                </a:solidFill>
                <a:latin typeface="Arial"/>
              </a:rPr>
              <a:t>resource</a:t>
            </a:r>
          </a:p>
        </p:txBody>
      </p:sp>
      <p:cxnSp>
        <p:nvCxnSpPr>
          <p:cNvPr id="18" name="Connector 17"/>
          <p:cNvCxnSpPr/>
          <p:nvPr/>
        </p:nvCxnSpPr>
        <p:spPr>
          <a:xfrm>
            <a:off x="3300984" y="2834640"/>
            <a:ext cx="1005840" cy="274320"/>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58368" y="3163824"/>
            <a:ext cx="3438144" cy="274320"/>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087F82"/>
                </a:solidFill>
                <a:latin typeface="Arial"/>
              </a:rPr>
              <a:t>hasProcessExecution</a:t>
            </a:r>
          </a:p>
        </p:txBody>
      </p:sp>
      <p:cxnSp>
        <p:nvCxnSpPr>
          <p:cNvPr id="20" name="Connector 19"/>
          <p:cNvCxnSpPr/>
          <p:nvPr/>
        </p:nvCxnSpPr>
        <p:spPr>
          <a:xfrm flipV="1">
            <a:off x="7909560" y="2487168"/>
            <a:ext cx="832104" cy="612648"/>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784848" y="2450592"/>
            <a:ext cx="2249424" cy="274320"/>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087F82"/>
                </a:solidFill>
                <a:latin typeface="Arial"/>
              </a:rPr>
              <a:t>runsProcess</a:t>
            </a:r>
          </a:p>
        </p:txBody>
      </p:sp>
      <p:cxnSp>
        <p:nvCxnSpPr>
          <p:cNvPr id="22" name="Connector 21"/>
          <p:cNvCxnSpPr/>
          <p:nvPr/>
        </p:nvCxnSpPr>
        <p:spPr>
          <a:xfrm>
            <a:off x="7982712" y="4215384"/>
            <a:ext cx="758952" cy="667512"/>
          </a:xfrm>
          <a:prstGeom prst="line">
            <a:avLst/>
          </a:prstGeom>
          <a:ln w="21590">
            <a:solidFill>
              <a:srgbClr val="087F82"/>
            </a:solidFill>
            <a:tailEnd type="triangle"/>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971032" y="4608576"/>
            <a:ext cx="2651760" cy="274320"/>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087F82"/>
                </a:solidFill>
                <a:latin typeface="Arial"/>
              </a:rPr>
              <a:t>runsOnResource</a:t>
            </a:r>
          </a:p>
        </p:txBody>
      </p:sp>
      <p:sp>
        <p:nvSpPr>
          <p:cNvPr id="24" name="TextBox 23"/>
          <p:cNvSpPr txBox="1"/>
          <p:nvPr/>
        </p:nvSpPr>
        <p:spPr>
          <a:xfrm>
            <a:off x="658368" y="4718304"/>
            <a:ext cx="5193792" cy="694944"/>
          </a:xfrm>
          <a:prstGeom prst="rect">
            <a:avLst/>
          </a:prstGeom>
          <a:noFill/>
        </p:spPr>
        <p:txBody>
          <a:bodyPr wrap="none" lIns="0" rIns="0" tIns="0" bIns="0">
            <a:spAutoFit/>
          </a:bodyPr>
          <a:lstStyle/>
          <a:p>
            <a:pPr algn="l">
              <a:lnSpc>
                <a:spcPts val="2560"/>
              </a:lnSpc>
              <a:spcBef>
                <a:spcPts val="0"/>
              </a:spcBef>
              <a:spcAft>
                <a:spcPts val="0"/>
              </a:spcAft>
            </a:pPr>
            <a:r>
              <a:rPr sz="2000" b="0">
                <a:solidFill>
                  <a:srgbClr val="182C3A"/>
                </a:solidFill>
                <a:latin typeface="Arial"/>
              </a:rPr>
              <a:t>Four assignment assertions are added</a:t>
            </a:r>
          </a:p>
          <a:p>
            <a:pPr algn="l">
              <a:lnSpc>
                <a:spcPts val="2560"/>
              </a:lnSpc>
              <a:spcBef>
                <a:spcPts val="0"/>
              </a:spcBef>
              <a:spcAft>
                <a:spcPts val="0"/>
              </a:spcAft>
            </a:pPr>
            <a:r>
              <a:rPr sz="2000" b="0">
                <a:solidFill>
                  <a:srgbClr val="182C3A"/>
                </a:solidFill>
                <a:latin typeface="Arial"/>
              </a:rPr>
              <a:t>after the selected arm passes its checks.</a:t>
            </a:r>
          </a:p>
        </p:txBody>
      </p:sp>
      <p:sp>
        <p:nvSpPr>
          <p:cNvPr id="25" name="Rectangle 24"/>
          <p:cNvSpPr/>
          <p:nvPr/>
        </p:nvSpPr>
        <p:spPr>
          <a:xfrm>
            <a:off x="548640" y="5724144"/>
            <a:ext cx="11091672" cy="49377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0664" y="5852159"/>
            <a:ext cx="10707624" cy="283464"/>
          </a:xfrm>
          <a:prstGeom prst="rect">
            <a:avLst/>
          </a:prstGeom>
          <a:noFill/>
        </p:spPr>
        <p:txBody>
          <a:bodyPr wrap="none" lIns="0" rIns="0" tIns="0" bIns="0">
            <a:spAutoFit/>
          </a:bodyPr>
          <a:lstStyle/>
          <a:p>
            <a:pPr algn="l">
              <a:lnSpc>
                <a:spcPts val="2432"/>
              </a:lnSpc>
              <a:spcBef>
                <a:spcPts val="0"/>
              </a:spcBef>
              <a:spcAft>
                <a:spcPts val="0"/>
              </a:spcAft>
            </a:pPr>
            <a:r>
              <a:rPr sz="1900" b="1">
                <a:solidFill>
                  <a:srgbClr val="087F82"/>
                </a:solidFill>
                <a:latin typeface="Arial"/>
              </a:rPr>
              <a:t>Saved assignment exists; the same completion records motion_executed: false.</a:t>
            </a:r>
          </a:p>
        </p:txBody>
      </p:sp>
      <p:sp>
        <p:nvSpPr>
          <p:cNvPr id="27" name="TextBox 26"/>
          <p:cNvSpPr txBox="1"/>
          <p:nvPr/>
        </p:nvSpPr>
        <p:spPr>
          <a:xfrm>
            <a:off x="10972800" y="6483096"/>
            <a:ext cx="667512"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ONTOLOGY  /  BACKUP B / LOGIC VS VALIDATION</a:t>
            </a:r>
          </a:p>
        </p:txBody>
      </p:sp>
      <p:sp>
        <p:nvSpPr>
          <p:cNvPr id="3" name="TextBox 2"/>
          <p:cNvSpPr txBox="1"/>
          <p:nvPr/>
        </p:nvSpPr>
        <p:spPr>
          <a:xfrm>
            <a:off x="548640" y="832104"/>
            <a:ext cx="11091672" cy="777240"/>
          </a:xfrm>
          <a:prstGeom prst="rect">
            <a:avLst/>
          </a:prstGeom>
          <a:noFill/>
        </p:spPr>
        <p:txBody>
          <a:bodyPr wrap="none" lIns="0" rIns="0" tIns="0" bIns="0">
            <a:spAutoFit/>
          </a:bodyPr>
          <a:lstStyle/>
          <a:p>
            <a:pPr algn="l">
              <a:lnSpc>
                <a:spcPts val="3711"/>
              </a:lnSpc>
              <a:spcBef>
                <a:spcPts val="0"/>
              </a:spcBef>
              <a:spcAft>
                <a:spcPts val="0"/>
              </a:spcAft>
            </a:pPr>
            <a:r>
              <a:rPr sz="2900" b="1">
                <a:solidFill>
                  <a:srgbClr val="182C3A"/>
                </a:solidFill>
                <a:latin typeface="Arial"/>
              </a:rPr>
              <a:t>OWL semantics and runtime validation are different</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4128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Supplied OWL + current code + saved ABox • 09 Sep 2026 • Sources in notes</a:t>
            </a:r>
          </a:p>
        </p:txBody>
      </p:sp>
      <p:sp>
        <p:nvSpPr>
          <p:cNvPr id="6" name="Rectangle 5"/>
          <p:cNvSpPr/>
          <p:nvPr/>
        </p:nvSpPr>
        <p:spPr>
          <a:xfrm>
            <a:off x="548640" y="1856231"/>
            <a:ext cx="11091672" cy="457200"/>
          </a:xfrm>
          <a:prstGeom prst="rect">
            <a:avLst/>
          </a:prstGeom>
          <a:solidFill>
            <a:srgbClr val="18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984248"/>
            <a:ext cx="4608576" cy="246888"/>
          </a:xfrm>
          <a:prstGeom prst="rect">
            <a:avLst/>
          </a:prstGeom>
          <a:noFill/>
        </p:spPr>
        <p:txBody>
          <a:bodyPr wrap="none" lIns="0" rIns="0" tIns="0" bIns="0">
            <a:spAutoFit/>
          </a:bodyPr>
          <a:lstStyle/>
          <a:p>
            <a:pPr algn="l">
              <a:lnSpc>
                <a:spcPts val="1920"/>
              </a:lnSpc>
              <a:spcBef>
                <a:spcPts val="0"/>
              </a:spcBef>
              <a:spcAft>
                <a:spcPts val="0"/>
              </a:spcAft>
            </a:pPr>
            <a:r>
              <a:rPr sz="1500" b="1">
                <a:solidFill>
                  <a:srgbClr val="FFFFFF"/>
                </a:solidFill>
                <a:latin typeface="Arial"/>
              </a:rPr>
              <a:t>Declaration / meaning</a:t>
            </a:r>
          </a:p>
        </p:txBody>
      </p:sp>
      <p:sp>
        <p:nvSpPr>
          <p:cNvPr id="8" name="TextBox 7"/>
          <p:cNvSpPr txBox="1"/>
          <p:nvPr/>
        </p:nvSpPr>
        <p:spPr>
          <a:xfrm>
            <a:off x="5513831" y="1984248"/>
            <a:ext cx="6007608" cy="246888"/>
          </a:xfrm>
          <a:prstGeom prst="rect">
            <a:avLst/>
          </a:prstGeom>
          <a:noFill/>
        </p:spPr>
        <p:txBody>
          <a:bodyPr wrap="none" lIns="0" rIns="0" tIns="0" bIns="0">
            <a:spAutoFit/>
          </a:bodyPr>
          <a:lstStyle/>
          <a:p>
            <a:pPr algn="l">
              <a:lnSpc>
                <a:spcPts val="1920"/>
              </a:lnSpc>
              <a:spcBef>
                <a:spcPts val="0"/>
              </a:spcBef>
              <a:spcAft>
                <a:spcPts val="0"/>
              </a:spcAft>
            </a:pPr>
            <a:r>
              <a:rPr sz="1500" b="1">
                <a:solidFill>
                  <a:srgbClr val="FFFFFF"/>
                </a:solidFill>
                <a:latin typeface="Arial"/>
              </a:rPr>
              <a:t>What the host explicitly checks</a:t>
            </a:r>
          </a:p>
        </p:txBody>
      </p:sp>
      <p:sp>
        <p:nvSpPr>
          <p:cNvPr id="9" name="Rectangle 8"/>
          <p:cNvSpPr/>
          <p:nvPr/>
        </p:nvSpPr>
        <p:spPr>
          <a:xfrm>
            <a:off x="548640" y="2331720"/>
            <a:ext cx="11091672" cy="67665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78024"/>
            <a:ext cx="4608576" cy="512064"/>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Domain and range</a:t>
            </a:r>
          </a:p>
        </p:txBody>
      </p:sp>
      <p:sp>
        <p:nvSpPr>
          <p:cNvPr id="11" name="TextBox 10"/>
          <p:cNvSpPr txBox="1"/>
          <p:nvPr/>
        </p:nvSpPr>
        <p:spPr>
          <a:xfrm>
            <a:off x="5513831" y="2478024"/>
            <a:ext cx="6007608" cy="512064"/>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Required property profiles and permitted proposal types</a:t>
            </a:r>
          </a:p>
        </p:txBody>
      </p:sp>
      <p:sp>
        <p:nvSpPr>
          <p:cNvPr id="12" name="Rectangle 11"/>
          <p:cNvSpPr/>
          <p:nvPr/>
        </p:nvSpPr>
        <p:spPr>
          <a:xfrm>
            <a:off x="548640" y="3026663"/>
            <a:ext cx="11091672" cy="6766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3172968"/>
            <a:ext cx="4608576" cy="512064"/>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Functional property</a:t>
            </a:r>
          </a:p>
        </p:txBody>
      </p:sp>
      <p:sp>
        <p:nvSpPr>
          <p:cNvPr id="14" name="TextBox 13"/>
          <p:cNvSpPr txBox="1"/>
          <p:nvPr/>
        </p:nvSpPr>
        <p:spPr>
          <a:xfrm>
            <a:off x="5513831" y="3172968"/>
            <a:ext cx="6007608" cy="512064"/>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Expected state links / complete current assignment</a:t>
            </a:r>
          </a:p>
        </p:txBody>
      </p:sp>
      <p:sp>
        <p:nvSpPr>
          <p:cNvPr id="15" name="Rectangle 14"/>
          <p:cNvSpPr/>
          <p:nvPr/>
        </p:nvSpPr>
        <p:spPr>
          <a:xfrm>
            <a:off x="548640" y="3721608"/>
            <a:ext cx="11091672" cy="67665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867912"/>
            <a:ext cx="4608576" cy="512064"/>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Exactly two related features</a:t>
            </a:r>
          </a:p>
        </p:txBody>
      </p:sp>
      <p:sp>
        <p:nvSpPr>
          <p:cNvPr id="17" name="TextBox 16"/>
          <p:cNvSpPr txBox="1"/>
          <p:nvPr/>
        </p:nvSpPr>
        <p:spPr>
          <a:xfrm>
            <a:off x="5513831" y="3867912"/>
            <a:ext cx="6007608" cy="512064"/>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Two distinct endpoint records in each association</a:t>
            </a:r>
          </a:p>
        </p:txBody>
      </p:sp>
      <p:sp>
        <p:nvSpPr>
          <p:cNvPr id="18" name="Rectangle 17"/>
          <p:cNvSpPr/>
          <p:nvPr/>
        </p:nvSpPr>
        <p:spPr>
          <a:xfrm>
            <a:off x="548640" y="4416552"/>
            <a:ext cx="11091672" cy="6766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4562856"/>
            <a:ext cx="4608576" cy="512064"/>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Missing information can be unknown</a:t>
            </a:r>
          </a:p>
        </p:txBody>
      </p:sp>
      <p:sp>
        <p:nvSpPr>
          <p:cNvPr id="20" name="TextBox 19"/>
          <p:cNvSpPr txBox="1"/>
          <p:nvPr/>
        </p:nvSpPr>
        <p:spPr>
          <a:xfrm>
            <a:off x="5513831" y="4562856"/>
            <a:ext cx="6007608" cy="512064"/>
          </a:xfrm>
          <a:prstGeom prst="rect">
            <a:avLst/>
          </a:prstGeom>
          <a:noFill/>
        </p:spPr>
        <p:txBody>
          <a:bodyPr wrap="none" lIns="0" rIns="0" tIns="0" bIns="0">
            <a:spAutoFit/>
          </a:bodyPr>
          <a:lstStyle/>
          <a:p>
            <a:pPr algn="l">
              <a:lnSpc>
                <a:spcPts val="2304"/>
              </a:lnSpc>
              <a:spcBef>
                <a:spcPts val="0"/>
              </a:spcBef>
              <a:spcAft>
                <a:spcPts val="0"/>
              </a:spcAft>
            </a:pPr>
            <a:r>
              <a:rPr sz="1800" b="0">
                <a:solidFill>
                  <a:srgbClr val="182C3A"/>
                </a:solidFill>
                <a:latin typeface="Arial"/>
              </a:rPr>
              <a:t>Missing required planning evidence blocks completion</a:t>
            </a:r>
          </a:p>
        </p:txBody>
      </p:sp>
      <p:sp>
        <p:nvSpPr>
          <p:cNvPr id="21" name="Rectangle 20"/>
          <p:cNvSpPr/>
          <p:nvPr/>
        </p:nvSpPr>
        <p:spPr>
          <a:xfrm>
            <a:off x="548640" y="5477256"/>
            <a:ext cx="11091672" cy="49377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0664" y="5605272"/>
            <a:ext cx="10707624" cy="283464"/>
          </a:xfrm>
          <a:prstGeom prst="rect">
            <a:avLst/>
          </a:prstGeom>
          <a:noFill/>
        </p:spPr>
        <p:txBody>
          <a:bodyPr wrap="none" lIns="0" rIns="0" tIns="0" bIns="0">
            <a:spAutoFit/>
          </a:bodyPr>
          <a:lstStyle/>
          <a:p>
            <a:pPr algn="l">
              <a:lnSpc>
                <a:spcPts val="2304"/>
              </a:lnSpc>
              <a:spcBef>
                <a:spcPts val="0"/>
              </a:spcBef>
              <a:spcAft>
                <a:spcPts val="0"/>
              </a:spcAft>
            </a:pPr>
            <a:r>
              <a:rPr sz="1800" b="1">
                <a:solidFill>
                  <a:srgbClr val="087F82"/>
                </a:solidFill>
                <a:latin typeface="Arial"/>
              </a:rPr>
              <a:t>Schema semantics + explicit validation + measured evidence have separate responsibilities.</a:t>
            </a:r>
          </a:p>
        </p:txBody>
      </p:sp>
      <p:sp>
        <p:nvSpPr>
          <p:cNvPr id="23" name="TextBox 22"/>
          <p:cNvSpPr txBox="1"/>
          <p:nvPr/>
        </p:nvSpPr>
        <p:spPr>
          <a:xfrm>
            <a:off x="585216" y="6172200"/>
            <a:ext cx="10972800" cy="201168"/>
          </a:xfrm>
          <a:prstGeom prst="rect">
            <a:avLst/>
          </a:prstGeom>
          <a:noFill/>
        </p:spPr>
        <p:txBody>
          <a:bodyPr wrap="none" lIns="0" rIns="0" tIns="0" bIns="0">
            <a:spAutoFit/>
          </a:bodyPr>
          <a:lstStyle/>
          <a:p>
            <a:pPr algn="l">
              <a:lnSpc>
                <a:spcPts val="1536"/>
              </a:lnSpc>
              <a:spcBef>
                <a:spcPts val="0"/>
              </a:spcBef>
              <a:spcAft>
                <a:spcPts val="0"/>
              </a:spcAft>
            </a:pPr>
            <a:r>
              <a:rPr sz="1200" b="0">
                <a:solidFill>
                  <a:srgbClr val="52616A"/>
                </a:solidFill>
                <a:latin typeface="Arial"/>
              </a:rPr>
              <a:t>Standards: W3C OWL 2 Primer §2 and W3C SHACL §3.4. Current project checks are implemented in Python.</a:t>
            </a:r>
          </a:p>
        </p:txBody>
      </p:sp>
      <p:sp>
        <p:nvSpPr>
          <p:cNvPr id="24" name="TextBox 23"/>
          <p:cNvSpPr txBox="1"/>
          <p:nvPr/>
        </p:nvSpPr>
        <p:spPr>
          <a:xfrm>
            <a:off x="10972800" y="6483096"/>
            <a:ext cx="667512"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ONTOLOGY  /  BACKUP C / GRAPH AND RECORDS</a:t>
            </a:r>
          </a:p>
        </p:txBody>
      </p:sp>
      <p:sp>
        <p:nvSpPr>
          <p:cNvPr id="3" name="TextBox 2"/>
          <p:cNvSpPr txBox="1"/>
          <p:nvPr/>
        </p:nvSpPr>
        <p:spPr>
          <a:xfrm>
            <a:off x="548640" y="832104"/>
            <a:ext cx="11091672" cy="777240"/>
          </a:xfrm>
          <a:prstGeom prst="rect">
            <a:avLst/>
          </a:prstGeom>
          <a:noFill/>
        </p:spPr>
        <p:txBody>
          <a:bodyPr wrap="none" lIns="0" rIns="0" tIns="0" bIns="0">
            <a:spAutoFit/>
          </a:bodyPr>
          <a:lstStyle/>
          <a:p>
            <a:pPr algn="l">
              <a:lnSpc>
                <a:spcPts val="3711"/>
              </a:lnSpc>
              <a:spcBef>
                <a:spcPts val="0"/>
              </a:spcBef>
              <a:spcAft>
                <a:spcPts val="0"/>
              </a:spcAft>
            </a:pPr>
            <a:r>
              <a:rPr sz="2900" b="1">
                <a:solidFill>
                  <a:srgbClr val="182C3A"/>
                </a:solidFill>
                <a:latin typeface="Arial"/>
              </a:rPr>
              <a:t>The ABox is a compact graph of a richer grounded task</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4128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Supplied OWL + current code + saved ABox • 09 Sep 2026 • Sources in notes</a:t>
            </a:r>
          </a:p>
        </p:txBody>
      </p:sp>
      <p:sp>
        <p:nvSpPr>
          <p:cNvPr id="6" name="Rectangle 5"/>
          <p:cNvSpPr/>
          <p:nvPr/>
        </p:nvSpPr>
        <p:spPr>
          <a:xfrm>
            <a:off x="548640" y="1828800"/>
            <a:ext cx="5385816" cy="3648456"/>
          </a:xfrm>
          <a:prstGeom prst="rect">
            <a:avLst/>
          </a:prstGeom>
          <a:solidFill>
            <a:srgbClr val="18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 y="2084831"/>
            <a:ext cx="4892040" cy="365760"/>
          </a:xfrm>
          <a:prstGeom prst="rect">
            <a:avLst/>
          </a:prstGeom>
          <a:noFill/>
        </p:spPr>
        <p:txBody>
          <a:bodyPr wrap="none" lIns="0" rIns="0" tIns="0" bIns="0">
            <a:spAutoFit/>
          </a:bodyPr>
          <a:lstStyle/>
          <a:p>
            <a:pPr algn="l">
              <a:lnSpc>
                <a:spcPts val="2688"/>
              </a:lnSpc>
              <a:spcBef>
                <a:spcPts val="0"/>
              </a:spcBef>
              <a:spcAft>
                <a:spcPts val="0"/>
              </a:spcAft>
            </a:pPr>
            <a:r>
              <a:rPr sz="2100" b="1">
                <a:solidFill>
                  <a:srgbClr val="FFFFFF"/>
                </a:solidFill>
                <a:latin typeface="Arial"/>
              </a:rPr>
              <a:t>Saved ABox — Turtle excerpt</a:t>
            </a:r>
          </a:p>
        </p:txBody>
      </p:sp>
      <p:sp>
        <p:nvSpPr>
          <p:cNvPr id="8" name="TextBox 7"/>
          <p:cNvSpPr txBox="1"/>
          <p:nvPr/>
        </p:nvSpPr>
        <p:spPr>
          <a:xfrm>
            <a:off x="786384" y="2779776"/>
            <a:ext cx="4892040" cy="2084831"/>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FFFFFF"/>
                </a:solidFill>
                <a:latin typeface="Courier New"/>
              </a:rPr>
              <a:t>ctx:feature_0001</a:t>
            </a:r>
          </a:p>
          <a:p>
            <a:pPr algn="l">
              <a:lnSpc>
                <a:spcPts val="2176"/>
              </a:lnSpc>
              <a:spcBef>
                <a:spcPts val="0"/>
              </a:spcBef>
              <a:spcAft>
                <a:spcPts val="0"/>
              </a:spcAft>
            </a:pPr>
            <a:r>
              <a:rPr sz="1700" b="0">
                <a:solidFill>
                  <a:srgbClr val="FFFFFF"/>
                </a:solidFill>
                <a:latin typeface="Courier New"/>
              </a:rPr>
              <a:t>  a ppr:feature ;</a:t>
            </a:r>
          </a:p>
          <a:p>
            <a:pPr algn="l">
              <a:lnSpc>
                <a:spcPts val="2176"/>
              </a:lnSpc>
              <a:spcBef>
                <a:spcPts val="0"/>
              </a:spcBef>
              <a:spcAft>
                <a:spcPts val="0"/>
              </a:spcAft>
            </a:pPr>
            <a:r>
              <a:rPr sz="1700" b="0">
                <a:solidFill>
                  <a:srgbClr val="FFFFFF"/>
                </a:solidFill>
                <a:latin typeface="Courier New"/>
              </a:rPr>
              <a:t>  ppr:hascurrentstate</a:t>
            </a:r>
          </a:p>
          <a:p>
            <a:pPr algn="l">
              <a:lnSpc>
                <a:spcPts val="2176"/>
              </a:lnSpc>
              <a:spcBef>
                <a:spcPts val="0"/>
              </a:spcBef>
              <a:spcAft>
                <a:spcPts val="0"/>
              </a:spcAft>
            </a:pPr>
            <a:r>
              <a:rPr sz="1700" b="0">
                <a:solidFill>
                  <a:srgbClr val="FFFFFF"/>
                </a:solidFill>
                <a:latin typeface="Courier New"/>
              </a:rPr>
              <a:t>    ctx:currentstate_0001 ;</a:t>
            </a:r>
          </a:p>
          <a:p>
            <a:pPr algn="l">
              <a:lnSpc>
                <a:spcPts val="2176"/>
              </a:lnSpc>
              <a:spcBef>
                <a:spcPts val="0"/>
              </a:spcBef>
              <a:spcAft>
                <a:spcPts val="0"/>
              </a:spcAft>
            </a:pPr>
            <a:r>
              <a:rPr sz="1700" b="0">
                <a:solidFill>
                  <a:srgbClr val="FFFFFF"/>
                </a:solidFill>
                <a:latin typeface="Courier New"/>
              </a:rPr>
              <a:t>  ppr:hasdesiredstate</a:t>
            </a:r>
          </a:p>
          <a:p>
            <a:pPr algn="l">
              <a:lnSpc>
                <a:spcPts val="2176"/>
              </a:lnSpc>
              <a:spcBef>
                <a:spcPts val="0"/>
              </a:spcBef>
              <a:spcAft>
                <a:spcPts val="0"/>
              </a:spcAft>
            </a:pPr>
            <a:r>
              <a:rPr sz="1700" b="0">
                <a:solidFill>
                  <a:srgbClr val="FFFFFF"/>
                </a:solidFill>
                <a:latin typeface="Courier New"/>
              </a:rPr>
              <a:t>    ctx:desiredstate_0001 .</a:t>
            </a:r>
          </a:p>
        </p:txBody>
      </p:sp>
      <p:sp>
        <p:nvSpPr>
          <p:cNvPr id="9" name="Rectangle 8"/>
          <p:cNvSpPr/>
          <p:nvPr/>
        </p:nvSpPr>
        <p:spPr>
          <a:xfrm>
            <a:off x="6153912" y="1828800"/>
            <a:ext cx="5486400" cy="36484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2084831"/>
            <a:ext cx="5020056" cy="365760"/>
          </a:xfrm>
          <a:prstGeom prst="rect">
            <a:avLst/>
          </a:prstGeom>
          <a:noFill/>
        </p:spPr>
        <p:txBody>
          <a:bodyPr wrap="none" lIns="0" rIns="0" tIns="0" bIns="0">
            <a:spAutoFit/>
          </a:bodyPr>
          <a:lstStyle/>
          <a:p>
            <a:pPr algn="l">
              <a:lnSpc>
                <a:spcPts val="2688"/>
              </a:lnSpc>
              <a:spcBef>
                <a:spcPts val="0"/>
              </a:spcBef>
              <a:spcAft>
                <a:spcPts val="0"/>
              </a:spcAft>
            </a:pPr>
            <a:r>
              <a:rPr sz="2100" b="1">
                <a:solidFill>
                  <a:srgbClr val="087F82"/>
                </a:solidFill>
                <a:latin typeface="Arial"/>
              </a:rPr>
              <a:t>Linked PA proposal + typed record</a:t>
            </a:r>
          </a:p>
        </p:txBody>
      </p:sp>
      <p:sp>
        <p:nvSpPr>
          <p:cNvPr id="11" name="TextBox 10"/>
          <p:cNvSpPr txBox="1"/>
          <p:nvPr/>
        </p:nvSpPr>
        <p:spPr>
          <a:xfrm>
            <a:off x="6382512" y="2761488"/>
            <a:ext cx="4983480" cy="265176"/>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52616A"/>
                </a:solidFill>
                <a:latin typeface="Arial"/>
              </a:rPr>
              <a:t>desired_state.state_values name:</a:t>
            </a:r>
          </a:p>
        </p:txBody>
      </p:sp>
      <p:sp>
        <p:nvSpPr>
          <p:cNvPr id="12" name="TextBox 11"/>
          <p:cNvSpPr txBox="1"/>
          <p:nvPr/>
        </p:nvSpPr>
        <p:spPr>
          <a:xfrm>
            <a:off x="6382512" y="3209544"/>
            <a:ext cx="4983480" cy="777240"/>
          </a:xfrm>
          <a:prstGeom prst="rect">
            <a:avLst/>
          </a:prstGeom>
          <a:noFill/>
        </p:spPr>
        <p:txBody>
          <a:bodyPr wrap="none" lIns="0" rIns="0" tIns="0" bIns="0">
            <a:spAutoFit/>
          </a:bodyPr>
          <a:lstStyle/>
          <a:p>
            <a:pPr algn="l">
              <a:lnSpc>
                <a:spcPts val="2944"/>
              </a:lnSpc>
              <a:spcBef>
                <a:spcPts val="0"/>
              </a:spcBef>
              <a:spcAft>
                <a:spcPts val="0"/>
              </a:spcAft>
            </a:pPr>
            <a:r>
              <a:rPr sz="2300" b="1">
                <a:solidFill>
                  <a:srgbClr val="182C3A"/>
                </a:solidFill>
                <a:latin typeface="Arial"/>
              </a:rPr>
              <a:t>observed middle gear shaft</a:t>
            </a:r>
          </a:p>
          <a:p>
            <a:pPr algn="l">
              <a:lnSpc>
                <a:spcPts val="2944"/>
              </a:lnSpc>
              <a:spcBef>
                <a:spcPts val="0"/>
              </a:spcBef>
              <a:spcAft>
                <a:spcPts val="0"/>
              </a:spcAft>
            </a:pPr>
            <a:r>
              <a:rPr sz="2300" b="1">
                <a:solidFill>
                  <a:srgbClr val="182C3A"/>
                </a:solidFill>
                <a:latin typeface="Arial"/>
              </a:rPr>
              <a:t>destination reference</a:t>
            </a:r>
          </a:p>
        </p:txBody>
      </p:sp>
      <p:sp>
        <p:nvSpPr>
          <p:cNvPr id="13" name="TextBox 12"/>
          <p:cNvSpPr txBox="1"/>
          <p:nvPr/>
        </p:nvSpPr>
        <p:spPr>
          <a:xfrm>
            <a:off x="6382512" y="4315968"/>
            <a:ext cx="4983480" cy="237744"/>
          </a:xfrm>
          <a:prstGeom prst="rect">
            <a:avLst/>
          </a:prstGeom>
          <a:noFill/>
        </p:spPr>
        <p:txBody>
          <a:bodyPr wrap="none" lIns="0" rIns="0" tIns="0" bIns="0">
            <a:spAutoFit/>
          </a:bodyPr>
          <a:lstStyle/>
          <a:p>
            <a:pPr algn="l">
              <a:lnSpc>
                <a:spcPts val="2176"/>
              </a:lnSpc>
              <a:spcBef>
                <a:spcPts val="0"/>
              </a:spcBef>
              <a:spcAft>
                <a:spcPts val="0"/>
              </a:spcAft>
            </a:pPr>
            <a:r>
              <a:rPr sz="1700" b="0">
                <a:solidFill>
                  <a:srgbClr val="52616A"/>
                </a:solidFill>
                <a:latin typeface="Arial"/>
              </a:rPr>
              <a:t>value_ref field excerpt:</a:t>
            </a:r>
          </a:p>
        </p:txBody>
      </p:sp>
      <p:sp>
        <p:nvSpPr>
          <p:cNvPr id="14" name="TextBox 13"/>
          <p:cNvSpPr txBox="1"/>
          <p:nvPr/>
        </p:nvSpPr>
        <p:spPr>
          <a:xfrm>
            <a:off x="6382512" y="4727448"/>
            <a:ext cx="4983480" cy="310896"/>
          </a:xfrm>
          <a:prstGeom prst="rect">
            <a:avLst/>
          </a:prstGeom>
          <a:noFill/>
        </p:spPr>
        <p:txBody>
          <a:bodyPr wrap="none" lIns="0" rIns="0" tIns="0" bIns="0">
            <a:spAutoFit/>
          </a:bodyPr>
          <a:lstStyle/>
          <a:p>
            <a:pPr algn="l">
              <a:lnSpc>
                <a:spcPts val="1920"/>
              </a:lnSpc>
              <a:spcBef>
                <a:spcPts val="0"/>
              </a:spcBef>
              <a:spcAft>
                <a:spcPts val="0"/>
              </a:spcAft>
            </a:pPr>
            <a:r>
              <a:rPr sz="1500" b="0">
                <a:solidFill>
                  <a:srgbClr val="182C3A"/>
                </a:solidFill>
                <a:latin typeface="Courier New"/>
              </a:rPr>
              <a:t>"field_path": "/cameras/3/candidates/2"</a:t>
            </a:r>
          </a:p>
        </p:txBody>
      </p:sp>
      <p:sp>
        <p:nvSpPr>
          <p:cNvPr id="15" name="Rectangle 14"/>
          <p:cNvSpPr/>
          <p:nvPr/>
        </p:nvSpPr>
        <p:spPr>
          <a:xfrm>
            <a:off x="548640" y="5715000"/>
            <a:ext cx="11091672" cy="49377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 y="5843016"/>
            <a:ext cx="10707624" cy="283464"/>
          </a:xfrm>
          <a:prstGeom prst="rect">
            <a:avLst/>
          </a:prstGeom>
          <a:noFill/>
        </p:spPr>
        <p:txBody>
          <a:bodyPr wrap="none" lIns="0" rIns="0" tIns="0" bIns="0">
            <a:spAutoFit/>
          </a:bodyPr>
          <a:lstStyle/>
          <a:p>
            <a:pPr algn="l">
              <a:lnSpc>
                <a:spcPts val="2432"/>
              </a:lnSpc>
              <a:spcBef>
                <a:spcPts val="0"/>
              </a:spcBef>
              <a:spcAft>
                <a:spcPts val="0"/>
              </a:spcAft>
            </a:pPr>
            <a:r>
              <a:rPr sz="1900" b="1">
                <a:solidFill>
                  <a:srgbClr val="087F82"/>
                </a:solidFill>
                <a:latin typeface="Arial"/>
              </a:rPr>
              <a:t>Geometry, uncertainty and provenance remain in linked records with exact references.</a:t>
            </a:r>
          </a:p>
        </p:txBody>
      </p:sp>
      <p:sp>
        <p:nvSpPr>
          <p:cNvPr id="17" name="TextBox 16"/>
          <p:cNvSpPr txBox="1"/>
          <p:nvPr/>
        </p:nvSpPr>
        <p:spPr>
          <a:xfrm>
            <a:off x="10972800" y="6483096"/>
            <a:ext cx="667512"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ONTOLOGY  /  BACKUP D / INSPECTION PATTERNS</a:t>
            </a:r>
          </a:p>
        </p:txBody>
      </p:sp>
      <p:sp>
        <p:nvSpPr>
          <p:cNvPr id="3" name="TextBox 2"/>
          <p:cNvSpPr txBox="1"/>
          <p:nvPr/>
        </p:nvSpPr>
        <p:spPr>
          <a:xfrm>
            <a:off x="548640" y="832104"/>
            <a:ext cx="11091672" cy="777240"/>
          </a:xfrm>
          <a:prstGeom prst="rect">
            <a:avLst/>
          </a:prstGeom>
          <a:noFill/>
        </p:spPr>
        <p:txBody>
          <a:bodyPr wrap="none" lIns="0" rIns="0" tIns="0" bIns="0">
            <a:spAutoFit/>
          </a:bodyPr>
          <a:lstStyle/>
          <a:p>
            <a:pPr algn="l">
              <a:lnSpc>
                <a:spcPts val="3711"/>
              </a:lnSpc>
              <a:spcBef>
                <a:spcPts val="0"/>
              </a:spcBef>
              <a:spcAft>
                <a:spcPts val="0"/>
              </a:spcAft>
            </a:pPr>
            <a:r>
              <a:rPr sz="2900" b="1">
                <a:solidFill>
                  <a:srgbClr val="182C3A"/>
                </a:solidFill>
                <a:latin typeface="Arial"/>
              </a:rPr>
              <a:t>The explicit relations support concrete questions</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4128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Supplied OWL + current code + saved ABox • 09 Sep 2026 • Sources in notes</a:t>
            </a:r>
          </a:p>
        </p:txBody>
      </p:sp>
      <p:sp>
        <p:nvSpPr>
          <p:cNvPr id="6" name="Rectangle 5"/>
          <p:cNvSpPr/>
          <p:nvPr/>
        </p:nvSpPr>
        <p:spPr>
          <a:xfrm>
            <a:off x="548640" y="1856231"/>
            <a:ext cx="11091672" cy="457200"/>
          </a:xfrm>
          <a:prstGeom prst="rect">
            <a:avLst/>
          </a:prstGeom>
          <a:solidFill>
            <a:srgbClr val="18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984248"/>
            <a:ext cx="3273552" cy="246888"/>
          </a:xfrm>
          <a:prstGeom prst="rect">
            <a:avLst/>
          </a:prstGeom>
          <a:noFill/>
        </p:spPr>
        <p:txBody>
          <a:bodyPr wrap="none" lIns="0" rIns="0" tIns="0" bIns="0">
            <a:spAutoFit/>
          </a:bodyPr>
          <a:lstStyle/>
          <a:p>
            <a:pPr algn="l">
              <a:lnSpc>
                <a:spcPts val="1920"/>
              </a:lnSpc>
              <a:spcBef>
                <a:spcPts val="0"/>
              </a:spcBef>
              <a:spcAft>
                <a:spcPts val="0"/>
              </a:spcAft>
            </a:pPr>
            <a:r>
              <a:rPr sz="1500" b="1">
                <a:solidFill>
                  <a:srgbClr val="FFFFFF"/>
                </a:solidFill>
                <a:latin typeface="Arial"/>
              </a:rPr>
              <a:t>Question</a:t>
            </a:r>
          </a:p>
        </p:txBody>
      </p:sp>
      <p:sp>
        <p:nvSpPr>
          <p:cNvPr id="8" name="TextBox 7"/>
          <p:cNvSpPr txBox="1"/>
          <p:nvPr/>
        </p:nvSpPr>
        <p:spPr>
          <a:xfrm>
            <a:off x="4178807" y="1984248"/>
            <a:ext cx="3730752" cy="246888"/>
          </a:xfrm>
          <a:prstGeom prst="rect">
            <a:avLst/>
          </a:prstGeom>
          <a:noFill/>
        </p:spPr>
        <p:txBody>
          <a:bodyPr wrap="none" lIns="0" rIns="0" tIns="0" bIns="0">
            <a:spAutoFit/>
          </a:bodyPr>
          <a:lstStyle/>
          <a:p>
            <a:pPr algn="l">
              <a:lnSpc>
                <a:spcPts val="1920"/>
              </a:lnSpc>
              <a:spcBef>
                <a:spcPts val="0"/>
              </a:spcBef>
              <a:spcAft>
                <a:spcPts val="0"/>
              </a:spcAft>
            </a:pPr>
            <a:r>
              <a:rPr sz="1500" b="1">
                <a:solidFill>
                  <a:srgbClr val="FFFFFF"/>
                </a:solidFill>
                <a:latin typeface="Arial"/>
              </a:rPr>
              <a:t>Relation to inspect</a:t>
            </a:r>
          </a:p>
        </p:txBody>
      </p:sp>
      <p:sp>
        <p:nvSpPr>
          <p:cNvPr id="9" name="TextBox 8"/>
          <p:cNvSpPr txBox="1"/>
          <p:nvPr/>
        </p:nvSpPr>
        <p:spPr>
          <a:xfrm>
            <a:off x="8147304" y="1984248"/>
            <a:ext cx="3374136" cy="246888"/>
          </a:xfrm>
          <a:prstGeom prst="rect">
            <a:avLst/>
          </a:prstGeom>
          <a:noFill/>
        </p:spPr>
        <p:txBody>
          <a:bodyPr wrap="none" lIns="0" rIns="0" tIns="0" bIns="0">
            <a:spAutoFit/>
          </a:bodyPr>
          <a:lstStyle/>
          <a:p>
            <a:pPr algn="l">
              <a:lnSpc>
                <a:spcPts val="1920"/>
              </a:lnSpc>
              <a:spcBef>
                <a:spcPts val="0"/>
              </a:spcBef>
              <a:spcAft>
                <a:spcPts val="0"/>
              </a:spcAft>
            </a:pPr>
            <a:r>
              <a:rPr sz="1500" b="1">
                <a:solidFill>
                  <a:srgbClr val="FFFFFF"/>
                </a:solidFill>
                <a:latin typeface="Arial"/>
              </a:rPr>
              <a:t>Saved / configured answer</a:t>
            </a:r>
          </a:p>
        </p:txBody>
      </p:sp>
      <p:sp>
        <p:nvSpPr>
          <p:cNvPr id="10" name="Rectangle 9"/>
          <p:cNvSpPr/>
          <p:nvPr/>
        </p:nvSpPr>
        <p:spPr>
          <a:xfrm>
            <a:off x="548640" y="2331720"/>
            <a:ext cx="11091672" cy="68580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478024"/>
            <a:ext cx="3273552"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What feature is requested?</a:t>
            </a:r>
          </a:p>
        </p:txBody>
      </p:sp>
      <p:sp>
        <p:nvSpPr>
          <p:cNvPr id="12" name="TextBox 11"/>
          <p:cNvSpPr txBox="1"/>
          <p:nvPr/>
        </p:nvSpPr>
        <p:spPr>
          <a:xfrm>
            <a:off x="4178807" y="2478024"/>
            <a:ext cx="3730752"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specification → defines</a:t>
            </a:r>
          </a:p>
        </p:txBody>
      </p:sp>
      <p:sp>
        <p:nvSpPr>
          <p:cNvPr id="13" name="TextBox 12"/>
          <p:cNvSpPr txBox="1"/>
          <p:nvPr/>
        </p:nvSpPr>
        <p:spPr>
          <a:xfrm>
            <a:off x="8147304" y="2478024"/>
            <a:ext cx="3374136"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feature_0001</a:t>
            </a:r>
          </a:p>
        </p:txBody>
      </p:sp>
      <p:sp>
        <p:nvSpPr>
          <p:cNvPr id="14" name="Rectangle 13"/>
          <p:cNvSpPr/>
          <p:nvPr/>
        </p:nvSpPr>
        <p:spPr>
          <a:xfrm>
            <a:off x="548640" y="3035808"/>
            <a:ext cx="11091672"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3182112"/>
            <a:ext cx="3273552"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What process realizes it?</a:t>
            </a:r>
          </a:p>
        </p:txBody>
      </p:sp>
      <p:sp>
        <p:nvSpPr>
          <p:cNvPr id="16" name="TextBox 15"/>
          <p:cNvSpPr txBox="1"/>
          <p:nvPr/>
        </p:nvSpPr>
        <p:spPr>
          <a:xfrm>
            <a:off x="4178807" y="3182112"/>
            <a:ext cx="3730752"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process → realizes → feature</a:t>
            </a:r>
          </a:p>
        </p:txBody>
      </p:sp>
      <p:sp>
        <p:nvSpPr>
          <p:cNvPr id="17" name="TextBox 16"/>
          <p:cNvSpPr txBox="1"/>
          <p:nvPr/>
        </p:nvSpPr>
        <p:spPr>
          <a:xfrm>
            <a:off x="8147304" y="3182112"/>
            <a:ext cx="3374136"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process:assembly</a:t>
            </a:r>
          </a:p>
        </p:txBody>
      </p:sp>
      <p:sp>
        <p:nvSpPr>
          <p:cNvPr id="18" name="Rectangle 17"/>
          <p:cNvSpPr/>
          <p:nvPr/>
        </p:nvSpPr>
        <p:spPr>
          <a:xfrm>
            <a:off x="548640" y="3739896"/>
            <a:ext cx="11091672" cy="68580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886200"/>
            <a:ext cx="3273552"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Which resources are candidates?</a:t>
            </a:r>
          </a:p>
        </p:txBody>
      </p:sp>
      <p:sp>
        <p:nvSpPr>
          <p:cNvPr id="20" name="TextBox 19"/>
          <p:cNvSpPr txBox="1"/>
          <p:nvPr/>
        </p:nvSpPr>
        <p:spPr>
          <a:xfrm>
            <a:off x="4178807" y="3886200"/>
            <a:ext cx="3730752"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resource → capableOf → process</a:t>
            </a:r>
          </a:p>
        </p:txBody>
      </p:sp>
      <p:sp>
        <p:nvSpPr>
          <p:cNvPr id="21" name="TextBox 20"/>
          <p:cNvSpPr txBox="1"/>
          <p:nvPr/>
        </p:nvSpPr>
        <p:spPr>
          <a:xfrm>
            <a:off x="8147304" y="3886200"/>
            <a:ext cx="3374136"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xarm6 and ur5e</a:t>
            </a:r>
          </a:p>
        </p:txBody>
      </p:sp>
      <p:sp>
        <p:nvSpPr>
          <p:cNvPr id="22" name="Rectangle 21"/>
          <p:cNvSpPr/>
          <p:nvPr/>
        </p:nvSpPr>
        <p:spPr>
          <a:xfrm>
            <a:off x="548640" y="4443983"/>
            <a:ext cx="11091672"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4590288"/>
            <a:ext cx="3273552"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Which arm is assigned?</a:t>
            </a:r>
          </a:p>
        </p:txBody>
      </p:sp>
      <p:sp>
        <p:nvSpPr>
          <p:cNvPr id="24" name="TextBox 23"/>
          <p:cNvSpPr txBox="1"/>
          <p:nvPr/>
        </p:nvSpPr>
        <p:spPr>
          <a:xfrm>
            <a:off x="4178807" y="4590288"/>
            <a:ext cx="3730752"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hasProcessExecution →</a:t>
            </a:r>
          </a:p>
          <a:p>
            <a:pPr algn="l">
              <a:lnSpc>
                <a:spcPts val="2048"/>
              </a:lnSpc>
              <a:spcBef>
                <a:spcPts val="0"/>
              </a:spcBef>
              <a:spcAft>
                <a:spcPts val="0"/>
              </a:spcAft>
            </a:pPr>
            <a:r>
              <a:rPr sz="1600" b="0">
                <a:solidFill>
                  <a:srgbClr val="182C3A"/>
                </a:solidFill>
                <a:latin typeface="Arial"/>
              </a:rPr>
              <a:t>runsOnResource</a:t>
            </a:r>
          </a:p>
        </p:txBody>
      </p:sp>
      <p:sp>
        <p:nvSpPr>
          <p:cNvPr id="25" name="TextBox 24"/>
          <p:cNvSpPr txBox="1"/>
          <p:nvPr/>
        </p:nvSpPr>
        <p:spPr>
          <a:xfrm>
            <a:off x="8147304" y="4590288"/>
            <a:ext cx="3374136"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resource:xarm6</a:t>
            </a:r>
          </a:p>
        </p:txBody>
      </p:sp>
      <p:sp>
        <p:nvSpPr>
          <p:cNvPr id="26" name="Rectangle 25"/>
          <p:cNvSpPr/>
          <p:nvPr/>
        </p:nvSpPr>
        <p:spPr>
          <a:xfrm>
            <a:off x="548640" y="5148072"/>
            <a:ext cx="11091672" cy="685800"/>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5294376"/>
            <a:ext cx="3273552"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Which interfaces are related?</a:t>
            </a:r>
          </a:p>
        </p:txBody>
      </p:sp>
      <p:sp>
        <p:nvSpPr>
          <p:cNvPr id="28" name="TextBox 27"/>
          <p:cNvSpPr txBox="1"/>
          <p:nvPr/>
        </p:nvSpPr>
        <p:spPr>
          <a:xfrm>
            <a:off x="4178807" y="5294376"/>
            <a:ext cx="3730752"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relatesAssemblyFeature</a:t>
            </a:r>
          </a:p>
        </p:txBody>
      </p:sp>
      <p:sp>
        <p:nvSpPr>
          <p:cNvPr id="29" name="TextBox 28"/>
          <p:cNvSpPr txBox="1"/>
          <p:nvPr/>
        </p:nvSpPr>
        <p:spPr>
          <a:xfrm>
            <a:off x="8147304" y="5294376"/>
            <a:ext cx="3374136" cy="521208"/>
          </a:xfrm>
          <a:prstGeom prst="rect">
            <a:avLst/>
          </a:prstGeom>
          <a:noFill/>
        </p:spPr>
        <p:txBody>
          <a:bodyPr wrap="none" lIns="0" rIns="0" tIns="0" bIns="0">
            <a:spAutoFit/>
          </a:bodyPr>
          <a:lstStyle/>
          <a:p>
            <a:pPr algn="l">
              <a:lnSpc>
                <a:spcPts val="2048"/>
              </a:lnSpc>
              <a:spcBef>
                <a:spcPts val="0"/>
              </a:spcBef>
              <a:spcAft>
                <a:spcPts val="0"/>
              </a:spcAft>
            </a:pPr>
            <a:r>
              <a:rPr sz="1600" b="0">
                <a:solidFill>
                  <a:srgbClr val="182C3A"/>
                </a:solidFill>
                <a:latin typeface="Arial"/>
              </a:rPr>
              <a:t>assemblyfeature_0001</a:t>
            </a:r>
          </a:p>
          <a:p>
            <a:pPr algn="l">
              <a:lnSpc>
                <a:spcPts val="2048"/>
              </a:lnSpc>
              <a:spcBef>
                <a:spcPts val="0"/>
              </a:spcBef>
              <a:spcAft>
                <a:spcPts val="0"/>
              </a:spcAft>
            </a:pPr>
            <a:r>
              <a:rPr sz="1600" b="0">
                <a:solidFill>
                  <a:srgbClr val="182C3A"/>
                </a:solidFill>
                <a:latin typeface="Arial"/>
              </a:rPr>
              <a:t>assemblyfeature_0002</a:t>
            </a:r>
          </a:p>
        </p:txBody>
      </p:sp>
      <p:sp>
        <p:nvSpPr>
          <p:cNvPr id="30" name="TextBox 29"/>
          <p:cNvSpPr txBox="1"/>
          <p:nvPr/>
        </p:nvSpPr>
        <p:spPr>
          <a:xfrm>
            <a:off x="585216" y="6126480"/>
            <a:ext cx="10972800" cy="219456"/>
          </a:xfrm>
          <a:prstGeom prst="rect">
            <a:avLst/>
          </a:prstGeom>
          <a:noFill/>
        </p:spPr>
        <p:txBody>
          <a:bodyPr wrap="none" lIns="0" rIns="0" tIns="0" bIns="0">
            <a:spAutoFit/>
          </a:bodyPr>
          <a:lstStyle/>
          <a:p>
            <a:pPr algn="l">
              <a:lnSpc>
                <a:spcPts val="1664"/>
              </a:lnSpc>
              <a:spcBef>
                <a:spcPts val="0"/>
              </a:spcBef>
              <a:spcAft>
                <a:spcPts val="0"/>
              </a:spcAft>
            </a:pPr>
            <a:r>
              <a:rPr sz="1300" b="0">
                <a:solidFill>
                  <a:srgbClr val="52616A"/>
                </a:solidFill>
                <a:latin typeface="Arial"/>
              </a:rPr>
              <a:t>Inspection patterns over the representation; current execution of arbitrary OWL reasoning or SPARQL is not claimed.</a:t>
            </a:r>
          </a:p>
        </p:txBody>
      </p:sp>
      <p:sp>
        <p:nvSpPr>
          <p:cNvPr id="31" name="TextBox 30"/>
          <p:cNvSpPr txBox="1"/>
          <p:nvPr/>
        </p:nvSpPr>
        <p:spPr>
          <a:xfrm>
            <a:off x="10972800" y="6483096"/>
            <a:ext cx="667512"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ONTOLOGY  /  BACKUP E / RESEARCH TEST</a:t>
            </a:r>
          </a:p>
        </p:txBody>
      </p:sp>
      <p:sp>
        <p:nvSpPr>
          <p:cNvPr id="3" name="TextBox 2"/>
          <p:cNvSpPr txBox="1"/>
          <p:nvPr/>
        </p:nvSpPr>
        <p:spPr>
          <a:xfrm>
            <a:off x="548640" y="832104"/>
            <a:ext cx="11091672" cy="777240"/>
          </a:xfrm>
          <a:prstGeom prst="rect">
            <a:avLst/>
          </a:prstGeom>
          <a:noFill/>
        </p:spPr>
        <p:txBody>
          <a:bodyPr wrap="none" lIns="0" rIns="0" tIns="0" bIns="0">
            <a:spAutoFit/>
          </a:bodyPr>
          <a:lstStyle/>
          <a:p>
            <a:pPr algn="l">
              <a:lnSpc>
                <a:spcPts val="3711"/>
              </a:lnSpc>
              <a:spcBef>
                <a:spcPts val="0"/>
              </a:spcBef>
              <a:spcAft>
                <a:spcPts val="0"/>
              </a:spcAft>
            </a:pPr>
            <a:r>
              <a:rPr sz="2900" b="1">
                <a:solidFill>
                  <a:srgbClr val="182C3A"/>
                </a:solidFill>
                <a:latin typeface="Arial"/>
              </a:rPr>
              <a:t>Compare semantic structure and representation separately</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4128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Supplied OWL + current code + saved ABox • 09 Sep 2026 • Sources in notes</a:t>
            </a:r>
          </a:p>
        </p:txBody>
      </p:sp>
      <p:sp>
        <p:nvSpPr>
          <p:cNvPr id="6" name="Rectangle 5"/>
          <p:cNvSpPr/>
          <p:nvPr/>
        </p:nvSpPr>
        <p:spPr>
          <a:xfrm>
            <a:off x="548640" y="1856231"/>
            <a:ext cx="11091672" cy="457200"/>
          </a:xfrm>
          <a:prstGeom prst="rect">
            <a:avLst/>
          </a:prstGeom>
          <a:solidFill>
            <a:srgbClr val="18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 y="1984248"/>
            <a:ext cx="4526280" cy="246888"/>
          </a:xfrm>
          <a:prstGeom prst="rect">
            <a:avLst/>
          </a:prstGeom>
          <a:noFill/>
        </p:spPr>
        <p:txBody>
          <a:bodyPr wrap="none" lIns="0" rIns="0" tIns="0" bIns="0">
            <a:spAutoFit/>
          </a:bodyPr>
          <a:lstStyle/>
          <a:p>
            <a:pPr algn="l">
              <a:lnSpc>
                <a:spcPts val="1920"/>
              </a:lnSpc>
              <a:spcBef>
                <a:spcPts val="0"/>
              </a:spcBef>
              <a:spcAft>
                <a:spcPts val="0"/>
              </a:spcAft>
            </a:pPr>
            <a:r>
              <a:rPr sz="1500" b="1">
                <a:solidFill>
                  <a:srgbClr val="FFFFFF"/>
                </a:solidFill>
                <a:latin typeface="Arial"/>
              </a:rPr>
              <a:t>Representation</a:t>
            </a:r>
          </a:p>
        </p:txBody>
      </p:sp>
      <p:sp>
        <p:nvSpPr>
          <p:cNvPr id="8" name="TextBox 7"/>
          <p:cNvSpPr txBox="1"/>
          <p:nvPr/>
        </p:nvSpPr>
        <p:spPr>
          <a:xfrm>
            <a:off x="5431536" y="1984248"/>
            <a:ext cx="6089904" cy="246888"/>
          </a:xfrm>
          <a:prstGeom prst="rect">
            <a:avLst/>
          </a:prstGeom>
          <a:noFill/>
        </p:spPr>
        <p:txBody>
          <a:bodyPr wrap="none" lIns="0" rIns="0" tIns="0" bIns="0">
            <a:spAutoFit/>
          </a:bodyPr>
          <a:lstStyle/>
          <a:p>
            <a:pPr algn="l">
              <a:lnSpc>
                <a:spcPts val="1920"/>
              </a:lnSpc>
              <a:spcBef>
                <a:spcPts val="0"/>
              </a:spcBef>
              <a:spcAft>
                <a:spcPts val="0"/>
              </a:spcAft>
            </a:pPr>
            <a:r>
              <a:rPr sz="1500" b="1">
                <a:solidFill>
                  <a:srgbClr val="FFFFFF"/>
                </a:solidFill>
                <a:latin typeface="Arial"/>
              </a:rPr>
              <a:t>Question it helps test</a:t>
            </a:r>
          </a:p>
        </p:txBody>
      </p:sp>
      <p:sp>
        <p:nvSpPr>
          <p:cNvPr id="9" name="Rectangle 8"/>
          <p:cNvSpPr/>
          <p:nvPr/>
        </p:nvSpPr>
        <p:spPr>
          <a:xfrm>
            <a:off x="548640" y="2331720"/>
            <a:ext cx="11091672" cy="731519"/>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78024"/>
            <a:ext cx="4526280" cy="566927"/>
          </a:xfrm>
          <a:prstGeom prst="rect">
            <a:avLst/>
          </a:prstGeom>
          <a:noFill/>
        </p:spPr>
        <p:txBody>
          <a:bodyPr wrap="none" lIns="0" rIns="0" tIns="0" bIns="0">
            <a:spAutoFit/>
          </a:bodyPr>
          <a:lstStyle/>
          <a:p>
            <a:pPr algn="l">
              <a:lnSpc>
                <a:spcPts val="2432"/>
              </a:lnSpc>
              <a:spcBef>
                <a:spcPts val="0"/>
              </a:spcBef>
              <a:spcAft>
                <a:spcPts val="0"/>
              </a:spcAft>
            </a:pPr>
            <a:r>
              <a:rPr sz="1900" b="0">
                <a:solidFill>
                  <a:srgbClr val="182C3A"/>
                </a:solidFill>
                <a:latin typeface="Arial"/>
              </a:rPr>
              <a:t>Prompt-only narrative</a:t>
            </a:r>
          </a:p>
        </p:txBody>
      </p:sp>
      <p:sp>
        <p:nvSpPr>
          <p:cNvPr id="11" name="TextBox 10"/>
          <p:cNvSpPr txBox="1"/>
          <p:nvPr/>
        </p:nvSpPr>
        <p:spPr>
          <a:xfrm>
            <a:off x="5431536" y="2478024"/>
            <a:ext cx="6089904" cy="566927"/>
          </a:xfrm>
          <a:prstGeom prst="rect">
            <a:avLst/>
          </a:prstGeom>
          <a:noFill/>
        </p:spPr>
        <p:txBody>
          <a:bodyPr wrap="none" lIns="0" rIns="0" tIns="0" bIns="0">
            <a:spAutoFit/>
          </a:bodyPr>
          <a:lstStyle/>
          <a:p>
            <a:pPr algn="l">
              <a:lnSpc>
                <a:spcPts val="2432"/>
              </a:lnSpc>
              <a:spcBef>
                <a:spcPts val="0"/>
              </a:spcBef>
              <a:spcAft>
                <a:spcPts val="0"/>
              </a:spcAft>
            </a:pPr>
            <a:r>
              <a:rPr sz="1900" b="0">
                <a:solidFill>
                  <a:srgbClr val="182C3A"/>
                </a:solidFill>
                <a:latin typeface="Arial"/>
              </a:rPr>
              <a:t>How much does explicit structure contribute?</a:t>
            </a:r>
          </a:p>
        </p:txBody>
      </p:sp>
      <p:sp>
        <p:nvSpPr>
          <p:cNvPr id="12" name="Rectangle 11"/>
          <p:cNvSpPr/>
          <p:nvPr/>
        </p:nvSpPr>
        <p:spPr>
          <a:xfrm>
            <a:off x="548640" y="3081527"/>
            <a:ext cx="11091672" cy="73151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3227832"/>
            <a:ext cx="4526280" cy="566927"/>
          </a:xfrm>
          <a:prstGeom prst="rect">
            <a:avLst/>
          </a:prstGeom>
          <a:noFill/>
        </p:spPr>
        <p:txBody>
          <a:bodyPr wrap="none" lIns="0" rIns="0" tIns="0" bIns="0">
            <a:spAutoFit/>
          </a:bodyPr>
          <a:lstStyle/>
          <a:p>
            <a:pPr algn="l">
              <a:lnSpc>
                <a:spcPts val="2432"/>
              </a:lnSpc>
              <a:spcBef>
                <a:spcPts val="0"/>
              </a:spcBef>
              <a:spcAft>
                <a:spcPts val="0"/>
              </a:spcAft>
            </a:pPr>
            <a:r>
              <a:rPr sz="1900" b="0">
                <a:solidFill>
                  <a:srgbClr val="182C3A"/>
                </a:solidFill>
                <a:latin typeface="Arial"/>
              </a:rPr>
              <a:t>Typed JSON + the same PPR model</a:t>
            </a:r>
          </a:p>
        </p:txBody>
      </p:sp>
      <p:sp>
        <p:nvSpPr>
          <p:cNvPr id="14" name="TextBox 13"/>
          <p:cNvSpPr txBox="1"/>
          <p:nvPr/>
        </p:nvSpPr>
        <p:spPr>
          <a:xfrm>
            <a:off x="5431536" y="3227832"/>
            <a:ext cx="6089904" cy="566927"/>
          </a:xfrm>
          <a:prstGeom prst="rect">
            <a:avLst/>
          </a:prstGeom>
          <a:noFill/>
        </p:spPr>
        <p:txBody>
          <a:bodyPr wrap="none" lIns="0" rIns="0" tIns="0" bIns="0">
            <a:spAutoFit/>
          </a:bodyPr>
          <a:lstStyle/>
          <a:p>
            <a:pPr algn="l">
              <a:lnSpc>
                <a:spcPts val="2432"/>
              </a:lnSpc>
              <a:spcBef>
                <a:spcPts val="0"/>
              </a:spcBef>
              <a:spcAft>
                <a:spcPts val="0"/>
              </a:spcAft>
            </a:pPr>
            <a:r>
              <a:rPr sz="1900" b="0">
                <a:solidFill>
                  <a:srgbClr val="182C3A"/>
                </a:solidFill>
                <a:latin typeface="Arial"/>
              </a:rPr>
              <a:t>What does OWL/RDF add beyond the same contracts?</a:t>
            </a:r>
          </a:p>
        </p:txBody>
      </p:sp>
      <p:sp>
        <p:nvSpPr>
          <p:cNvPr id="15" name="Rectangle 14"/>
          <p:cNvSpPr/>
          <p:nvPr/>
        </p:nvSpPr>
        <p:spPr>
          <a:xfrm>
            <a:off x="548640" y="3831335"/>
            <a:ext cx="11091672" cy="731519"/>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7512" y="3977639"/>
            <a:ext cx="4526280" cy="566927"/>
          </a:xfrm>
          <a:prstGeom prst="rect">
            <a:avLst/>
          </a:prstGeom>
          <a:noFill/>
        </p:spPr>
        <p:txBody>
          <a:bodyPr wrap="none" lIns="0" rIns="0" tIns="0" bIns="0">
            <a:spAutoFit/>
          </a:bodyPr>
          <a:lstStyle/>
          <a:p>
            <a:pPr algn="l">
              <a:lnSpc>
                <a:spcPts val="2432"/>
              </a:lnSpc>
              <a:spcBef>
                <a:spcPts val="0"/>
              </a:spcBef>
              <a:spcAft>
                <a:spcPts val="0"/>
              </a:spcAft>
            </a:pPr>
            <a:r>
              <a:rPr sz="1900" b="0">
                <a:solidFill>
                  <a:srgbClr val="182C3A"/>
                </a:solidFill>
                <a:latin typeface="Arial"/>
              </a:rPr>
              <a:t>PPR graph + linked records</a:t>
            </a:r>
          </a:p>
        </p:txBody>
      </p:sp>
      <p:sp>
        <p:nvSpPr>
          <p:cNvPr id="17" name="TextBox 16"/>
          <p:cNvSpPr txBox="1"/>
          <p:nvPr/>
        </p:nvSpPr>
        <p:spPr>
          <a:xfrm>
            <a:off x="5431536" y="3977639"/>
            <a:ext cx="6089904" cy="566927"/>
          </a:xfrm>
          <a:prstGeom prst="rect">
            <a:avLst/>
          </a:prstGeom>
          <a:noFill/>
        </p:spPr>
        <p:txBody>
          <a:bodyPr wrap="none" lIns="0" rIns="0" tIns="0" bIns="0">
            <a:spAutoFit/>
          </a:bodyPr>
          <a:lstStyle/>
          <a:p>
            <a:pPr algn="l">
              <a:lnSpc>
                <a:spcPts val="2432"/>
              </a:lnSpc>
              <a:spcBef>
                <a:spcPts val="0"/>
              </a:spcBef>
              <a:spcAft>
                <a:spcPts val="0"/>
              </a:spcAft>
            </a:pPr>
            <a:r>
              <a:rPr sz="1900" b="0">
                <a:solidFill>
                  <a:srgbClr val="182C3A"/>
                </a:solidFill>
                <a:latin typeface="Arial"/>
              </a:rPr>
              <a:t>How does the current representation compare?</a:t>
            </a:r>
          </a:p>
        </p:txBody>
      </p:sp>
      <p:sp>
        <p:nvSpPr>
          <p:cNvPr id="18" name="TextBox 17"/>
          <p:cNvSpPr txBox="1"/>
          <p:nvPr/>
        </p:nvSpPr>
        <p:spPr>
          <a:xfrm>
            <a:off x="603504" y="4864608"/>
            <a:ext cx="10972800" cy="374904"/>
          </a:xfrm>
          <a:prstGeom prst="rect">
            <a:avLst/>
          </a:prstGeom>
          <a:noFill/>
        </p:spPr>
        <p:txBody>
          <a:bodyPr wrap="none" lIns="0" rIns="0" tIns="0" bIns="0">
            <a:spAutoFit/>
          </a:bodyPr>
          <a:lstStyle/>
          <a:p>
            <a:pPr algn="l">
              <a:lnSpc>
                <a:spcPts val="2560"/>
              </a:lnSpc>
              <a:spcBef>
                <a:spcPts val="0"/>
              </a:spcBef>
              <a:spcAft>
                <a:spcPts val="0"/>
              </a:spcAft>
            </a:pPr>
            <a:r>
              <a:rPr sz="2000" b="1">
                <a:solidFill>
                  <a:srgbClr val="182C3A"/>
                </a:solidFill>
                <a:latin typeface="Arial"/>
              </a:rPr>
              <a:t>Hold evidence, identities, relationships, model budget and planning conditions fixed.</a:t>
            </a:r>
          </a:p>
        </p:txBody>
      </p:sp>
      <p:sp>
        <p:nvSpPr>
          <p:cNvPr id="19" name="Rectangle 18"/>
          <p:cNvSpPr/>
          <p:nvPr/>
        </p:nvSpPr>
        <p:spPr>
          <a:xfrm>
            <a:off x="548640" y="5687568"/>
            <a:ext cx="11091672" cy="493776"/>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0664" y="5815583"/>
            <a:ext cx="10707624" cy="283464"/>
          </a:xfrm>
          <a:prstGeom prst="rect">
            <a:avLst/>
          </a:prstGeom>
          <a:noFill/>
        </p:spPr>
        <p:txBody>
          <a:bodyPr wrap="none" lIns="0" rIns="0" tIns="0" bIns="0">
            <a:spAutoFit/>
          </a:bodyPr>
          <a:lstStyle/>
          <a:p>
            <a:pPr algn="l">
              <a:lnSpc>
                <a:spcPts val="2304"/>
              </a:lnSpc>
              <a:spcBef>
                <a:spcPts val="0"/>
              </a:spcBef>
              <a:spcAft>
                <a:spcPts val="0"/>
              </a:spcAft>
            </a:pPr>
            <a:r>
              <a:rPr sz="1800" b="1">
                <a:solidFill>
                  <a:srgbClr val="087F82"/>
                </a:solidFill>
                <a:latin typeface="Arial"/>
              </a:rPr>
              <a:t>Measure accuracy, contract failures, repair effort and cost. No comparison has been run here.</a:t>
            </a:r>
          </a:p>
        </p:txBody>
      </p:sp>
      <p:sp>
        <p:nvSpPr>
          <p:cNvPr id="21" name="TextBox 20"/>
          <p:cNvSpPr txBox="1"/>
          <p:nvPr/>
        </p:nvSpPr>
        <p:spPr>
          <a:xfrm>
            <a:off x="10972800" y="6483096"/>
            <a:ext cx="667512"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F7F6F1"/>
        </a:solidFill>
        <a:effectLst/>
      </p:bgPr>
    </p:bg>
    <p:spTree>
      <p:nvGrpSpPr>
        <p:cNvPr id="1" name=""/>
        <p:cNvGrpSpPr/>
        <p:nvPr/>
      </p:nvGrpSpPr>
      <p:grpSpPr/>
      <p:sp>
        <p:nvSpPr>
          <p:cNvPr id="2" name="TextBox 1"/>
          <p:cNvSpPr txBox="1"/>
          <p:nvPr/>
        </p:nvSpPr>
        <p:spPr>
          <a:xfrm>
            <a:off x="548640" y="320040"/>
            <a:ext cx="10881360" cy="274320"/>
          </a:xfrm>
          <a:prstGeom prst="rect">
            <a:avLst/>
          </a:prstGeom>
          <a:noFill/>
        </p:spPr>
        <p:txBody>
          <a:bodyPr wrap="none" lIns="0" rIns="0" tIns="0" bIns="0">
            <a:spAutoFit/>
          </a:bodyPr>
          <a:lstStyle/>
          <a:p>
            <a:pPr algn="l">
              <a:lnSpc>
                <a:spcPts val="1408"/>
              </a:lnSpc>
              <a:spcBef>
                <a:spcPts val="0"/>
              </a:spcBef>
              <a:spcAft>
                <a:spcPts val="0"/>
              </a:spcAft>
            </a:pPr>
            <a:r>
              <a:rPr sz="1100" b="1">
                <a:solidFill>
                  <a:srgbClr val="087F82"/>
                </a:solidFill>
                <a:latin typeface="Arial"/>
              </a:rPr>
              <a:t>SPEC2PRIMITIVES  /  ONTOLOGY  /  BACKUP F / COMPLETE PROPERTY TABLE</a:t>
            </a:r>
          </a:p>
        </p:txBody>
      </p:sp>
      <p:sp>
        <p:nvSpPr>
          <p:cNvPr id="3" name="TextBox 2"/>
          <p:cNvSpPr txBox="1"/>
          <p:nvPr/>
        </p:nvSpPr>
        <p:spPr>
          <a:xfrm>
            <a:off x="548640" y="832104"/>
            <a:ext cx="11091672" cy="777240"/>
          </a:xfrm>
          <a:prstGeom prst="rect">
            <a:avLst/>
          </a:prstGeom>
          <a:noFill/>
        </p:spPr>
        <p:txBody>
          <a:bodyPr wrap="none" lIns="0" rIns="0" tIns="0" bIns="0">
            <a:spAutoFit/>
          </a:bodyPr>
          <a:lstStyle/>
          <a:p>
            <a:pPr algn="l">
              <a:lnSpc>
                <a:spcPts val="3711"/>
              </a:lnSpc>
              <a:spcBef>
                <a:spcPts val="0"/>
              </a:spcBef>
              <a:spcAft>
                <a:spcPts val="0"/>
              </a:spcAft>
            </a:pPr>
            <a:r>
              <a:rPr sz="2900" b="1">
                <a:solidFill>
                  <a:srgbClr val="182C3A"/>
                </a:solidFill>
                <a:latin typeface="Arial"/>
              </a:rPr>
              <a:t>Reference: exact PPR property profiles</a:t>
            </a:r>
          </a:p>
        </p:txBody>
      </p:sp>
      <p:cxnSp>
        <p:nvCxnSpPr>
          <p:cNvPr id="4" name="Connector 3"/>
          <p:cNvCxnSpPr/>
          <p:nvPr/>
        </p:nvCxnSpPr>
        <p:spPr>
          <a:xfrm>
            <a:off x="548640" y="6419088"/>
            <a:ext cx="11091672" cy="0"/>
          </a:xfrm>
          <a:prstGeom prst="line">
            <a:avLst/>
          </a:prstGeom>
          <a:ln w="10160">
            <a:solidFill>
              <a:srgbClr val="D8DE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48640" y="6510528"/>
            <a:ext cx="10241280" cy="182880"/>
          </a:xfrm>
          <a:prstGeom prst="rect">
            <a:avLst/>
          </a:prstGeom>
          <a:noFill/>
        </p:spPr>
        <p:txBody>
          <a:bodyPr wrap="none" lIns="0" rIns="0" tIns="0" bIns="0">
            <a:spAutoFit/>
          </a:bodyPr>
          <a:lstStyle/>
          <a:p>
            <a:pPr algn="l">
              <a:lnSpc>
                <a:spcPts val="1152"/>
              </a:lnSpc>
              <a:spcBef>
                <a:spcPts val="0"/>
              </a:spcBef>
              <a:spcAft>
                <a:spcPts val="0"/>
              </a:spcAft>
            </a:pPr>
            <a:r>
              <a:rPr sz="900" b="0">
                <a:solidFill>
                  <a:srgbClr val="52616A"/>
                </a:solidFill>
                <a:latin typeface="Arial"/>
              </a:rPr>
              <a:t>Supplied OWL + current code + saved ABox • 09 Sep 2026 • Sources in notes</a:t>
            </a:r>
          </a:p>
        </p:txBody>
      </p:sp>
      <p:sp>
        <p:nvSpPr>
          <p:cNvPr id="6" name="Rectangle 5"/>
          <p:cNvSpPr/>
          <p:nvPr/>
        </p:nvSpPr>
        <p:spPr>
          <a:xfrm>
            <a:off x="548640" y="1783080"/>
            <a:ext cx="11091672" cy="420624"/>
          </a:xfrm>
          <a:prstGeom prst="rect">
            <a:avLst/>
          </a:prstGeom>
          <a:solidFill>
            <a:srgbClr val="182C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1901952"/>
            <a:ext cx="3776472" cy="219456"/>
          </a:xfrm>
          <a:prstGeom prst="rect">
            <a:avLst/>
          </a:prstGeom>
          <a:noFill/>
        </p:spPr>
        <p:txBody>
          <a:bodyPr wrap="none" lIns="0" rIns="0" tIns="0" bIns="0">
            <a:spAutoFit/>
          </a:bodyPr>
          <a:lstStyle/>
          <a:p>
            <a:pPr algn="l">
              <a:lnSpc>
                <a:spcPts val="1792"/>
              </a:lnSpc>
              <a:spcBef>
                <a:spcPts val="0"/>
              </a:spcBef>
              <a:spcAft>
                <a:spcPts val="0"/>
              </a:spcAft>
            </a:pPr>
            <a:r>
              <a:rPr sz="1400" b="1">
                <a:solidFill>
                  <a:srgbClr val="FFFFFF"/>
                </a:solidFill>
                <a:latin typeface="Arial"/>
              </a:rPr>
              <a:t>Property</a:t>
            </a:r>
          </a:p>
        </p:txBody>
      </p:sp>
      <p:sp>
        <p:nvSpPr>
          <p:cNvPr id="8" name="TextBox 7"/>
          <p:cNvSpPr txBox="1"/>
          <p:nvPr/>
        </p:nvSpPr>
        <p:spPr>
          <a:xfrm>
            <a:off x="4654296" y="1901952"/>
            <a:ext cx="2624328" cy="219456"/>
          </a:xfrm>
          <a:prstGeom prst="rect">
            <a:avLst/>
          </a:prstGeom>
          <a:noFill/>
        </p:spPr>
        <p:txBody>
          <a:bodyPr wrap="none" lIns="0" rIns="0" tIns="0" bIns="0">
            <a:spAutoFit/>
          </a:bodyPr>
          <a:lstStyle/>
          <a:p>
            <a:pPr algn="l">
              <a:lnSpc>
                <a:spcPts val="1792"/>
              </a:lnSpc>
              <a:spcBef>
                <a:spcPts val="0"/>
              </a:spcBef>
              <a:spcAft>
                <a:spcPts val="0"/>
              </a:spcAft>
            </a:pPr>
            <a:r>
              <a:rPr sz="1400" b="1">
                <a:solidFill>
                  <a:srgbClr val="FFFFFF"/>
                </a:solidFill>
                <a:latin typeface="Arial"/>
              </a:rPr>
              <a:t>Domain</a:t>
            </a:r>
          </a:p>
        </p:txBody>
      </p:sp>
      <p:sp>
        <p:nvSpPr>
          <p:cNvPr id="9" name="TextBox 8"/>
          <p:cNvSpPr txBox="1"/>
          <p:nvPr/>
        </p:nvSpPr>
        <p:spPr>
          <a:xfrm>
            <a:off x="7498079" y="1901952"/>
            <a:ext cx="2724912" cy="219456"/>
          </a:xfrm>
          <a:prstGeom prst="rect">
            <a:avLst/>
          </a:prstGeom>
          <a:noFill/>
        </p:spPr>
        <p:txBody>
          <a:bodyPr wrap="none" lIns="0" rIns="0" tIns="0" bIns="0">
            <a:spAutoFit/>
          </a:bodyPr>
          <a:lstStyle/>
          <a:p>
            <a:pPr algn="l">
              <a:lnSpc>
                <a:spcPts val="1792"/>
              </a:lnSpc>
              <a:spcBef>
                <a:spcPts val="0"/>
              </a:spcBef>
              <a:spcAft>
                <a:spcPts val="0"/>
              </a:spcAft>
            </a:pPr>
            <a:r>
              <a:rPr sz="1400" b="1">
                <a:solidFill>
                  <a:srgbClr val="FFFFFF"/>
                </a:solidFill>
                <a:latin typeface="Arial"/>
              </a:rPr>
              <a:t>Range</a:t>
            </a:r>
          </a:p>
        </p:txBody>
      </p:sp>
      <p:sp>
        <p:nvSpPr>
          <p:cNvPr id="10" name="TextBox 9"/>
          <p:cNvSpPr txBox="1"/>
          <p:nvPr/>
        </p:nvSpPr>
        <p:spPr>
          <a:xfrm>
            <a:off x="10442448" y="1901952"/>
            <a:ext cx="1088136" cy="219456"/>
          </a:xfrm>
          <a:prstGeom prst="rect">
            <a:avLst/>
          </a:prstGeom>
          <a:noFill/>
        </p:spPr>
        <p:txBody>
          <a:bodyPr wrap="none" lIns="0" rIns="0" tIns="0" bIns="0">
            <a:spAutoFit/>
          </a:bodyPr>
          <a:lstStyle/>
          <a:p>
            <a:pPr algn="l">
              <a:lnSpc>
                <a:spcPts val="1792"/>
              </a:lnSpc>
              <a:spcBef>
                <a:spcPts val="0"/>
              </a:spcBef>
              <a:spcAft>
                <a:spcPts val="0"/>
              </a:spcAft>
            </a:pPr>
            <a:r>
              <a:rPr sz="1400" b="1">
                <a:solidFill>
                  <a:srgbClr val="FFFFFF"/>
                </a:solidFill>
                <a:latin typeface="Arial"/>
              </a:rPr>
              <a:t>Functional</a:t>
            </a:r>
          </a:p>
        </p:txBody>
      </p:sp>
      <p:sp>
        <p:nvSpPr>
          <p:cNvPr id="11" name="Rectangle 10"/>
          <p:cNvSpPr/>
          <p:nvPr/>
        </p:nvSpPr>
        <p:spPr>
          <a:xfrm>
            <a:off x="548640" y="2231136"/>
            <a:ext cx="11091672" cy="2852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299716"/>
            <a:ext cx="377647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defines</a:t>
            </a:r>
          </a:p>
        </p:txBody>
      </p:sp>
      <p:sp>
        <p:nvSpPr>
          <p:cNvPr id="13" name="TextBox 12"/>
          <p:cNvSpPr txBox="1"/>
          <p:nvPr/>
        </p:nvSpPr>
        <p:spPr>
          <a:xfrm>
            <a:off x="4654296" y="2299716"/>
            <a:ext cx="2624328"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specification</a:t>
            </a:r>
          </a:p>
        </p:txBody>
      </p:sp>
      <p:sp>
        <p:nvSpPr>
          <p:cNvPr id="14" name="TextBox 13"/>
          <p:cNvSpPr txBox="1"/>
          <p:nvPr/>
        </p:nvSpPr>
        <p:spPr>
          <a:xfrm>
            <a:off x="7498079" y="2299716"/>
            <a:ext cx="272491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feature</a:t>
            </a:r>
          </a:p>
        </p:txBody>
      </p:sp>
      <p:sp>
        <p:nvSpPr>
          <p:cNvPr id="15" name="TextBox 14"/>
          <p:cNvSpPr txBox="1"/>
          <p:nvPr/>
        </p:nvSpPr>
        <p:spPr>
          <a:xfrm>
            <a:off x="10442448" y="2299716"/>
            <a:ext cx="1088136"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No</a:t>
            </a:r>
          </a:p>
        </p:txBody>
      </p:sp>
      <p:sp>
        <p:nvSpPr>
          <p:cNvPr id="16" name="Rectangle 15"/>
          <p:cNvSpPr/>
          <p:nvPr/>
        </p:nvSpPr>
        <p:spPr>
          <a:xfrm>
            <a:off x="548640" y="2527401"/>
            <a:ext cx="11091672" cy="2852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2595981"/>
            <a:ext cx="377647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realizes</a:t>
            </a:r>
          </a:p>
        </p:txBody>
      </p:sp>
      <p:sp>
        <p:nvSpPr>
          <p:cNvPr id="18" name="TextBox 17"/>
          <p:cNvSpPr txBox="1"/>
          <p:nvPr/>
        </p:nvSpPr>
        <p:spPr>
          <a:xfrm>
            <a:off x="4654296" y="2595981"/>
            <a:ext cx="2624328"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process</a:t>
            </a:r>
          </a:p>
        </p:txBody>
      </p:sp>
      <p:sp>
        <p:nvSpPr>
          <p:cNvPr id="19" name="TextBox 18"/>
          <p:cNvSpPr txBox="1"/>
          <p:nvPr/>
        </p:nvSpPr>
        <p:spPr>
          <a:xfrm>
            <a:off x="7498079" y="2595981"/>
            <a:ext cx="272491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feature</a:t>
            </a:r>
          </a:p>
        </p:txBody>
      </p:sp>
      <p:sp>
        <p:nvSpPr>
          <p:cNvPr id="20" name="TextBox 19"/>
          <p:cNvSpPr txBox="1"/>
          <p:nvPr/>
        </p:nvSpPr>
        <p:spPr>
          <a:xfrm>
            <a:off x="10442448" y="2595981"/>
            <a:ext cx="1088136"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No</a:t>
            </a:r>
          </a:p>
        </p:txBody>
      </p:sp>
      <p:sp>
        <p:nvSpPr>
          <p:cNvPr id="21" name="Rectangle 20"/>
          <p:cNvSpPr/>
          <p:nvPr/>
        </p:nvSpPr>
        <p:spPr>
          <a:xfrm>
            <a:off x="548640" y="2823667"/>
            <a:ext cx="11091672" cy="2852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8368" y="2892247"/>
            <a:ext cx="377647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hascurrentstate</a:t>
            </a:r>
          </a:p>
        </p:txBody>
      </p:sp>
      <p:sp>
        <p:nvSpPr>
          <p:cNvPr id="23" name="TextBox 22"/>
          <p:cNvSpPr txBox="1"/>
          <p:nvPr/>
        </p:nvSpPr>
        <p:spPr>
          <a:xfrm>
            <a:off x="4654296" y="2892247"/>
            <a:ext cx="2624328"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feature</a:t>
            </a:r>
          </a:p>
        </p:txBody>
      </p:sp>
      <p:sp>
        <p:nvSpPr>
          <p:cNvPr id="24" name="TextBox 23"/>
          <p:cNvSpPr txBox="1"/>
          <p:nvPr/>
        </p:nvSpPr>
        <p:spPr>
          <a:xfrm>
            <a:off x="7498079" y="2892247"/>
            <a:ext cx="272491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state</a:t>
            </a:r>
          </a:p>
        </p:txBody>
      </p:sp>
      <p:sp>
        <p:nvSpPr>
          <p:cNvPr id="25" name="TextBox 24"/>
          <p:cNvSpPr txBox="1"/>
          <p:nvPr/>
        </p:nvSpPr>
        <p:spPr>
          <a:xfrm>
            <a:off x="10442448" y="2892247"/>
            <a:ext cx="1088136"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Yes</a:t>
            </a:r>
          </a:p>
        </p:txBody>
      </p:sp>
      <p:sp>
        <p:nvSpPr>
          <p:cNvPr id="26" name="Rectangle 25"/>
          <p:cNvSpPr/>
          <p:nvPr/>
        </p:nvSpPr>
        <p:spPr>
          <a:xfrm>
            <a:off x="548640" y="3119932"/>
            <a:ext cx="11091672" cy="2852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8368" y="3188512"/>
            <a:ext cx="377647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hasdesiredstate</a:t>
            </a:r>
          </a:p>
        </p:txBody>
      </p:sp>
      <p:sp>
        <p:nvSpPr>
          <p:cNvPr id="28" name="TextBox 27"/>
          <p:cNvSpPr txBox="1"/>
          <p:nvPr/>
        </p:nvSpPr>
        <p:spPr>
          <a:xfrm>
            <a:off x="4654296" y="3188512"/>
            <a:ext cx="2624328"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feature</a:t>
            </a:r>
          </a:p>
        </p:txBody>
      </p:sp>
      <p:sp>
        <p:nvSpPr>
          <p:cNvPr id="29" name="TextBox 28"/>
          <p:cNvSpPr txBox="1"/>
          <p:nvPr/>
        </p:nvSpPr>
        <p:spPr>
          <a:xfrm>
            <a:off x="7498079" y="3188512"/>
            <a:ext cx="272491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state</a:t>
            </a:r>
          </a:p>
        </p:txBody>
      </p:sp>
      <p:sp>
        <p:nvSpPr>
          <p:cNvPr id="30" name="TextBox 29"/>
          <p:cNvSpPr txBox="1"/>
          <p:nvPr/>
        </p:nvSpPr>
        <p:spPr>
          <a:xfrm>
            <a:off x="10442448" y="3188512"/>
            <a:ext cx="1088136"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Yes</a:t>
            </a:r>
          </a:p>
        </p:txBody>
      </p:sp>
      <p:sp>
        <p:nvSpPr>
          <p:cNvPr id="31" name="Rectangle 30"/>
          <p:cNvSpPr/>
          <p:nvPr/>
        </p:nvSpPr>
        <p:spPr>
          <a:xfrm>
            <a:off x="548640" y="3416198"/>
            <a:ext cx="11091672" cy="2852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3484778"/>
            <a:ext cx="377647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capableOf</a:t>
            </a:r>
          </a:p>
        </p:txBody>
      </p:sp>
      <p:sp>
        <p:nvSpPr>
          <p:cNvPr id="33" name="TextBox 32"/>
          <p:cNvSpPr txBox="1"/>
          <p:nvPr/>
        </p:nvSpPr>
        <p:spPr>
          <a:xfrm>
            <a:off x="4654296" y="3484778"/>
            <a:ext cx="2624328"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resource</a:t>
            </a:r>
          </a:p>
        </p:txBody>
      </p:sp>
      <p:sp>
        <p:nvSpPr>
          <p:cNvPr id="34" name="TextBox 33"/>
          <p:cNvSpPr txBox="1"/>
          <p:nvPr/>
        </p:nvSpPr>
        <p:spPr>
          <a:xfrm>
            <a:off x="7498079" y="3484778"/>
            <a:ext cx="272491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process</a:t>
            </a:r>
          </a:p>
        </p:txBody>
      </p:sp>
      <p:sp>
        <p:nvSpPr>
          <p:cNvPr id="35" name="TextBox 34"/>
          <p:cNvSpPr txBox="1"/>
          <p:nvPr/>
        </p:nvSpPr>
        <p:spPr>
          <a:xfrm>
            <a:off x="10442448" y="3484778"/>
            <a:ext cx="1088136"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No</a:t>
            </a:r>
          </a:p>
        </p:txBody>
      </p:sp>
      <p:sp>
        <p:nvSpPr>
          <p:cNvPr id="36" name="Rectangle 35"/>
          <p:cNvSpPr/>
          <p:nvPr/>
        </p:nvSpPr>
        <p:spPr>
          <a:xfrm>
            <a:off x="548640" y="3712464"/>
            <a:ext cx="11091672" cy="2852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3781044"/>
            <a:ext cx="377647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hasProcessExecution</a:t>
            </a:r>
          </a:p>
        </p:txBody>
      </p:sp>
      <p:sp>
        <p:nvSpPr>
          <p:cNvPr id="38" name="TextBox 37"/>
          <p:cNvSpPr txBox="1"/>
          <p:nvPr/>
        </p:nvSpPr>
        <p:spPr>
          <a:xfrm>
            <a:off x="4654296" y="3781044"/>
            <a:ext cx="2624328"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specification</a:t>
            </a:r>
          </a:p>
        </p:txBody>
      </p:sp>
      <p:sp>
        <p:nvSpPr>
          <p:cNvPr id="39" name="TextBox 38"/>
          <p:cNvSpPr txBox="1"/>
          <p:nvPr/>
        </p:nvSpPr>
        <p:spPr>
          <a:xfrm>
            <a:off x="7498079" y="3781044"/>
            <a:ext cx="272491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processExecution</a:t>
            </a:r>
          </a:p>
        </p:txBody>
      </p:sp>
      <p:sp>
        <p:nvSpPr>
          <p:cNvPr id="40" name="TextBox 39"/>
          <p:cNvSpPr txBox="1"/>
          <p:nvPr/>
        </p:nvSpPr>
        <p:spPr>
          <a:xfrm>
            <a:off x="10442448" y="3781044"/>
            <a:ext cx="1088136"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No</a:t>
            </a:r>
          </a:p>
        </p:txBody>
      </p:sp>
      <p:sp>
        <p:nvSpPr>
          <p:cNvPr id="41" name="Rectangle 40"/>
          <p:cNvSpPr/>
          <p:nvPr/>
        </p:nvSpPr>
        <p:spPr>
          <a:xfrm>
            <a:off x="548640" y="4008729"/>
            <a:ext cx="11091672" cy="2852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 y="4077309"/>
            <a:ext cx="377647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runsProcess</a:t>
            </a:r>
          </a:p>
        </p:txBody>
      </p:sp>
      <p:sp>
        <p:nvSpPr>
          <p:cNvPr id="43" name="TextBox 42"/>
          <p:cNvSpPr txBox="1"/>
          <p:nvPr/>
        </p:nvSpPr>
        <p:spPr>
          <a:xfrm>
            <a:off x="4654296" y="4077309"/>
            <a:ext cx="2624328"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processExecution</a:t>
            </a:r>
          </a:p>
        </p:txBody>
      </p:sp>
      <p:sp>
        <p:nvSpPr>
          <p:cNvPr id="44" name="TextBox 43"/>
          <p:cNvSpPr txBox="1"/>
          <p:nvPr/>
        </p:nvSpPr>
        <p:spPr>
          <a:xfrm>
            <a:off x="7498079" y="4077309"/>
            <a:ext cx="272491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process</a:t>
            </a:r>
          </a:p>
        </p:txBody>
      </p:sp>
      <p:sp>
        <p:nvSpPr>
          <p:cNvPr id="45" name="TextBox 44"/>
          <p:cNvSpPr txBox="1"/>
          <p:nvPr/>
        </p:nvSpPr>
        <p:spPr>
          <a:xfrm>
            <a:off x="10442448" y="4077309"/>
            <a:ext cx="1088136"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Yes</a:t>
            </a:r>
          </a:p>
        </p:txBody>
      </p:sp>
      <p:sp>
        <p:nvSpPr>
          <p:cNvPr id="46" name="Rectangle 45"/>
          <p:cNvSpPr/>
          <p:nvPr/>
        </p:nvSpPr>
        <p:spPr>
          <a:xfrm>
            <a:off x="548640" y="4304995"/>
            <a:ext cx="11091672" cy="2852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58368" y="4373575"/>
            <a:ext cx="377647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runsOnResource</a:t>
            </a:r>
          </a:p>
        </p:txBody>
      </p:sp>
      <p:sp>
        <p:nvSpPr>
          <p:cNvPr id="48" name="TextBox 47"/>
          <p:cNvSpPr txBox="1"/>
          <p:nvPr/>
        </p:nvSpPr>
        <p:spPr>
          <a:xfrm>
            <a:off x="4654296" y="4373575"/>
            <a:ext cx="2624328"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processExecution</a:t>
            </a:r>
          </a:p>
        </p:txBody>
      </p:sp>
      <p:sp>
        <p:nvSpPr>
          <p:cNvPr id="49" name="TextBox 48"/>
          <p:cNvSpPr txBox="1"/>
          <p:nvPr/>
        </p:nvSpPr>
        <p:spPr>
          <a:xfrm>
            <a:off x="7498079" y="4373575"/>
            <a:ext cx="272491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resource</a:t>
            </a:r>
          </a:p>
        </p:txBody>
      </p:sp>
      <p:sp>
        <p:nvSpPr>
          <p:cNvPr id="50" name="TextBox 49"/>
          <p:cNvSpPr txBox="1"/>
          <p:nvPr/>
        </p:nvSpPr>
        <p:spPr>
          <a:xfrm>
            <a:off x="10442448" y="4373575"/>
            <a:ext cx="1088136"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Yes</a:t>
            </a:r>
          </a:p>
        </p:txBody>
      </p:sp>
      <p:sp>
        <p:nvSpPr>
          <p:cNvPr id="51" name="Rectangle 50"/>
          <p:cNvSpPr/>
          <p:nvPr/>
        </p:nvSpPr>
        <p:spPr>
          <a:xfrm>
            <a:off x="548640" y="4601260"/>
            <a:ext cx="11091672" cy="285292"/>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58368" y="4669840"/>
            <a:ext cx="377647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hasPart</a:t>
            </a:r>
          </a:p>
        </p:txBody>
      </p:sp>
      <p:sp>
        <p:nvSpPr>
          <p:cNvPr id="53" name="TextBox 52"/>
          <p:cNvSpPr txBox="1"/>
          <p:nvPr/>
        </p:nvSpPr>
        <p:spPr>
          <a:xfrm>
            <a:off x="4654296" y="4669840"/>
            <a:ext cx="2624328"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Assembly</a:t>
            </a:r>
          </a:p>
        </p:txBody>
      </p:sp>
      <p:sp>
        <p:nvSpPr>
          <p:cNvPr id="54" name="TextBox 53"/>
          <p:cNvSpPr txBox="1"/>
          <p:nvPr/>
        </p:nvSpPr>
        <p:spPr>
          <a:xfrm>
            <a:off x="7498079" y="4669840"/>
            <a:ext cx="272491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product</a:t>
            </a:r>
          </a:p>
        </p:txBody>
      </p:sp>
      <p:sp>
        <p:nvSpPr>
          <p:cNvPr id="55" name="TextBox 54"/>
          <p:cNvSpPr txBox="1"/>
          <p:nvPr/>
        </p:nvSpPr>
        <p:spPr>
          <a:xfrm>
            <a:off x="10442448" y="4669840"/>
            <a:ext cx="1088136"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No</a:t>
            </a:r>
          </a:p>
        </p:txBody>
      </p:sp>
      <p:sp>
        <p:nvSpPr>
          <p:cNvPr id="56" name="Rectangle 55"/>
          <p:cNvSpPr/>
          <p:nvPr/>
        </p:nvSpPr>
        <p:spPr>
          <a:xfrm>
            <a:off x="548640" y="4897526"/>
            <a:ext cx="11091672" cy="285292"/>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58368" y="4966106"/>
            <a:ext cx="377647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hasAssemblyFeature</a:t>
            </a:r>
          </a:p>
        </p:txBody>
      </p:sp>
      <p:sp>
        <p:nvSpPr>
          <p:cNvPr id="58" name="TextBox 57"/>
          <p:cNvSpPr txBox="1"/>
          <p:nvPr/>
        </p:nvSpPr>
        <p:spPr>
          <a:xfrm>
            <a:off x="4654296" y="4966106"/>
            <a:ext cx="2624328"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product</a:t>
            </a:r>
          </a:p>
        </p:txBody>
      </p:sp>
      <p:sp>
        <p:nvSpPr>
          <p:cNvPr id="59" name="TextBox 58"/>
          <p:cNvSpPr txBox="1"/>
          <p:nvPr/>
        </p:nvSpPr>
        <p:spPr>
          <a:xfrm>
            <a:off x="7498079" y="4966106"/>
            <a:ext cx="272491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AssemblyFeature</a:t>
            </a:r>
          </a:p>
        </p:txBody>
      </p:sp>
      <p:sp>
        <p:nvSpPr>
          <p:cNvPr id="60" name="TextBox 59"/>
          <p:cNvSpPr txBox="1"/>
          <p:nvPr/>
        </p:nvSpPr>
        <p:spPr>
          <a:xfrm>
            <a:off x="10442448" y="4966106"/>
            <a:ext cx="1088136"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No</a:t>
            </a:r>
          </a:p>
        </p:txBody>
      </p:sp>
      <p:sp>
        <p:nvSpPr>
          <p:cNvPr id="61" name="Rectangle 60"/>
          <p:cNvSpPr/>
          <p:nvPr/>
        </p:nvSpPr>
        <p:spPr>
          <a:xfrm>
            <a:off x="548640" y="5193792"/>
            <a:ext cx="11091672" cy="285292"/>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58368" y="5262372"/>
            <a:ext cx="377647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hasAssemblyFeatureAssociation</a:t>
            </a:r>
          </a:p>
        </p:txBody>
      </p:sp>
      <p:sp>
        <p:nvSpPr>
          <p:cNvPr id="63" name="TextBox 62"/>
          <p:cNvSpPr txBox="1"/>
          <p:nvPr/>
        </p:nvSpPr>
        <p:spPr>
          <a:xfrm>
            <a:off x="4654296" y="5262372"/>
            <a:ext cx="2624328"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Assembly</a:t>
            </a:r>
          </a:p>
        </p:txBody>
      </p:sp>
      <p:sp>
        <p:nvSpPr>
          <p:cNvPr id="64" name="TextBox 63"/>
          <p:cNvSpPr txBox="1"/>
          <p:nvPr/>
        </p:nvSpPr>
        <p:spPr>
          <a:xfrm>
            <a:off x="7498079" y="5262372"/>
            <a:ext cx="272491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AssemblyFeatureAssociation</a:t>
            </a:r>
          </a:p>
        </p:txBody>
      </p:sp>
      <p:sp>
        <p:nvSpPr>
          <p:cNvPr id="65" name="TextBox 64"/>
          <p:cNvSpPr txBox="1"/>
          <p:nvPr/>
        </p:nvSpPr>
        <p:spPr>
          <a:xfrm>
            <a:off x="10442448" y="5262372"/>
            <a:ext cx="1088136"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No</a:t>
            </a:r>
          </a:p>
        </p:txBody>
      </p:sp>
      <p:sp>
        <p:nvSpPr>
          <p:cNvPr id="66" name="Rectangle 65"/>
          <p:cNvSpPr/>
          <p:nvPr/>
        </p:nvSpPr>
        <p:spPr>
          <a:xfrm>
            <a:off x="548640" y="5490057"/>
            <a:ext cx="11091672" cy="285292"/>
          </a:xfrm>
          <a:prstGeom prst="rect">
            <a:avLst/>
          </a:prstGeom>
          <a:solidFill>
            <a:srgbClr val="E1F0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58368" y="5558637"/>
            <a:ext cx="377647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relatesAssemblyFeature</a:t>
            </a:r>
          </a:p>
        </p:txBody>
      </p:sp>
      <p:sp>
        <p:nvSpPr>
          <p:cNvPr id="68" name="TextBox 67"/>
          <p:cNvSpPr txBox="1"/>
          <p:nvPr/>
        </p:nvSpPr>
        <p:spPr>
          <a:xfrm>
            <a:off x="4654296" y="5558637"/>
            <a:ext cx="2624328"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AssemblyFeatureAssociation</a:t>
            </a:r>
          </a:p>
        </p:txBody>
      </p:sp>
      <p:sp>
        <p:nvSpPr>
          <p:cNvPr id="69" name="TextBox 68"/>
          <p:cNvSpPr txBox="1"/>
          <p:nvPr/>
        </p:nvSpPr>
        <p:spPr>
          <a:xfrm>
            <a:off x="7498079" y="5558637"/>
            <a:ext cx="2724912"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AssemblyFeature</a:t>
            </a:r>
          </a:p>
        </p:txBody>
      </p:sp>
      <p:sp>
        <p:nvSpPr>
          <p:cNvPr id="70" name="TextBox 69"/>
          <p:cNvSpPr txBox="1"/>
          <p:nvPr/>
        </p:nvSpPr>
        <p:spPr>
          <a:xfrm>
            <a:off x="10442448" y="5558637"/>
            <a:ext cx="1088136" cy="219456"/>
          </a:xfrm>
          <a:prstGeom prst="rect">
            <a:avLst/>
          </a:prstGeom>
          <a:noFill/>
        </p:spPr>
        <p:txBody>
          <a:bodyPr wrap="none" lIns="0" rIns="0" tIns="0" bIns="0">
            <a:spAutoFit/>
          </a:bodyPr>
          <a:lstStyle/>
          <a:p>
            <a:pPr algn="l">
              <a:lnSpc>
                <a:spcPts val="1792"/>
              </a:lnSpc>
              <a:spcBef>
                <a:spcPts val="0"/>
              </a:spcBef>
              <a:spcAft>
                <a:spcPts val="0"/>
              </a:spcAft>
            </a:pPr>
            <a:r>
              <a:rPr sz="1400" b="0">
                <a:solidFill>
                  <a:srgbClr val="182C3A"/>
                </a:solidFill>
                <a:latin typeface="Arial"/>
              </a:rPr>
              <a:t>No</a:t>
            </a:r>
          </a:p>
        </p:txBody>
      </p:sp>
      <p:sp>
        <p:nvSpPr>
          <p:cNvPr id="71" name="TextBox 70"/>
          <p:cNvSpPr txBox="1"/>
          <p:nvPr/>
        </p:nvSpPr>
        <p:spPr>
          <a:xfrm>
            <a:off x="585216" y="6007608"/>
            <a:ext cx="10972800" cy="265176"/>
          </a:xfrm>
          <a:prstGeom prst="rect">
            <a:avLst/>
          </a:prstGeom>
          <a:noFill/>
        </p:spPr>
        <p:txBody>
          <a:bodyPr wrap="none" lIns="0" rIns="0" tIns="0" bIns="0">
            <a:spAutoFit/>
          </a:bodyPr>
          <a:lstStyle/>
          <a:p>
            <a:pPr algn="l">
              <a:lnSpc>
                <a:spcPts val="2048"/>
              </a:lnSpc>
              <a:spcBef>
                <a:spcPts val="0"/>
              </a:spcBef>
              <a:spcAft>
                <a:spcPts val="0"/>
              </a:spcAft>
            </a:pPr>
            <a:r>
              <a:rPr sz="1600" b="1">
                <a:solidFill>
                  <a:srgbClr val="087F82"/>
                </a:solidFill>
                <a:latin typeface="Arial"/>
              </a:rPr>
              <a:t>AssemblyFeatureAssociation has qualified cardinality 2 on relatesAssemblyFeature → AssemblyFeature.</a:t>
            </a:r>
          </a:p>
        </p:txBody>
      </p:sp>
      <p:sp>
        <p:nvSpPr>
          <p:cNvPr id="72" name="TextBox 71"/>
          <p:cNvSpPr txBox="1"/>
          <p:nvPr/>
        </p:nvSpPr>
        <p:spPr>
          <a:xfrm>
            <a:off x="10972800" y="6483096"/>
            <a:ext cx="667512" cy="219456"/>
          </a:xfrm>
          <a:prstGeom prst="rect">
            <a:avLst/>
          </a:prstGeom>
          <a:noFill/>
        </p:spPr>
        <p:txBody>
          <a:bodyPr wrap="none" lIns="0" rIns="0" tIns="0" bIns="0">
            <a:spAutoFit/>
          </a:bodyPr>
          <a:lstStyle/>
          <a:p>
            <a:pPr algn="r">
              <a:lnSpc>
                <a:spcPts val="1280"/>
              </a:lnSpc>
              <a:spcBef>
                <a:spcPts val="0"/>
              </a:spcBef>
              <a:spcAft>
                <a:spcPts val="0"/>
              </a:spcAft>
            </a:pPr>
            <a:r>
              <a:rPr sz="1000" b="0">
                <a:solidFill>
                  <a:srgbClr val="52616A"/>
                </a:solidFill>
                <a:latin typeface="Arial"/>
              </a:rPr>
              <a:t>15 / 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Spec2Primitives — PPR and the assembly ontology</dc:title>
  <dc:subject>10-minute technical research presentation</dc:subject>
  <dc:creator>CAIS-SPADE-LLM</dc:creator>
  <cp:keywords>Spec2Primitives, Phase 4, ProductAgent, grounding, MoveIt</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